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75" r:id="rId4"/>
    <p:sldId id="280" r:id="rId5"/>
    <p:sldId id="313" r:id="rId6"/>
    <p:sldId id="300" r:id="rId7"/>
    <p:sldId id="298" r:id="rId8"/>
    <p:sldId id="312" r:id="rId9"/>
    <p:sldId id="302" r:id="rId10"/>
    <p:sldId id="274" r:id="rId11"/>
    <p:sldId id="281" r:id="rId12"/>
    <p:sldId id="279" r:id="rId13"/>
    <p:sldId id="287" r:id="rId14"/>
    <p:sldId id="307" r:id="rId15"/>
    <p:sldId id="316" r:id="rId16"/>
    <p:sldId id="271" r:id="rId17"/>
    <p:sldId id="284" r:id="rId18"/>
    <p:sldId id="270" r:id="rId19"/>
    <p:sldId id="314" r:id="rId20"/>
    <p:sldId id="317" r:id="rId21"/>
    <p:sldId id="303" r:id="rId22"/>
    <p:sldId id="263" r:id="rId23"/>
    <p:sldId id="289" r:id="rId24"/>
    <p:sldId id="291" r:id="rId25"/>
    <p:sldId id="293" r:id="rId26"/>
    <p:sldId id="295" r:id="rId27"/>
    <p:sldId id="288" r:id="rId28"/>
    <p:sldId id="318" r:id="rId29"/>
    <p:sldId id="304" r:id="rId30"/>
    <p:sldId id="305" r:id="rId31"/>
    <p:sldId id="268" r:id="rId32"/>
    <p:sldId id="310" r:id="rId33"/>
    <p:sldId id="308" r:id="rId34"/>
    <p:sldId id="311" r:id="rId35"/>
    <p:sldId id="309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1C3"/>
    <a:srgbClr val="FF6565"/>
    <a:srgbClr val="156082"/>
    <a:srgbClr val="FA8A8A"/>
    <a:srgbClr val="B491C5"/>
    <a:srgbClr val="A3D971"/>
    <a:srgbClr val="B1DF89"/>
    <a:srgbClr val="C9B0D5"/>
    <a:srgbClr val="FB9998"/>
    <a:srgbClr val="2479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DDCED-2AB4-4C6B-A36F-4D868C2E1EFE}" type="datetimeFigureOut">
              <a:rPr lang="fr-FR" smtClean="0"/>
              <a:t>07/03/2025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AB9A20-D30B-425E-BEF8-7F223E1D48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240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AB9A20-D30B-425E-BEF8-7F223E1D48C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0843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D24D8-9D3D-13BC-4388-8FE627715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25565DB-B8C6-4E18-7C02-88C77A631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C4E8227-41F5-F84F-1BB6-76CD56A99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D5F242-42A1-C7F4-47C0-457B18F5A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AB9A20-D30B-425E-BEF8-7F223E1D48C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0900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58BBD6-204F-4D96-1847-1009721C9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AAE7385-9C52-556B-E8AC-676DD06AC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696B82-CB51-5AAD-A68E-ED4A30FA8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07/03/2025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C87D81-E4CF-6AD5-29E5-A80073B9C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303858-EEE7-9AC5-657F-354CDD4DB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5975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F6AF51-20E6-4AF9-5D07-C018F0906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F9230E-154C-9210-DC2E-90595CD3E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9BB303-F9D9-2255-2212-480A48A4D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07/03/2025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6C26BF-0393-B8FE-385D-A5DB39741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F8FAE9-054B-8164-CF8F-74CBC777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364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993BD-2828-99CA-6C18-17B57600C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EB4FE1-F8EC-AAD6-5E5E-3EF42D86D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2B6502-CE99-AE87-783E-4D1A5DE3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07/03/2025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0AA4B9-B0E7-ECC4-C23B-A0C8B83E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199DC9-C96A-E638-D0F2-6F7BBF83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6454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E234C1-5F5F-9142-6F72-CCA423B85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F1D5F8-67AD-8860-EC09-32310BFDF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B0A1FCF-EFC4-EEFB-9518-4AB4928B3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7318933-74C4-9E0F-0CB0-5EE6F97CA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07/03/2025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266D67-4D8C-FE5B-63C1-0DAE7E4BF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CB3347-ED1E-266C-561F-3B4B99E27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0257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12A816-E571-7588-B8A4-562D7D6AA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244516-0A76-1211-47E6-F0348CB38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A5D8872-F887-9C54-56B0-4EA9B247A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41A9378-C80F-86C6-4DE9-F9065279D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BB5F498-34EA-B5DC-AB8D-16D78FCAFE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B7C31A8-975E-86BB-6CAB-9CFE75634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07/03/2025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7348D8C-B3BE-1272-F7D2-6C55417B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5DFA37-E772-A967-AAF3-B70F5738A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683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AC8BB1-6E48-96E1-CA56-B276FCA65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3AD145-4328-4CEE-5DD7-9FD4C49F5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07/03/2025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A789A72-6C22-D2CC-D5DC-5C77F248A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76CCCE5-2F7A-0FDE-E97F-82AD00802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6134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E89DE27-D622-1ADE-853A-5DD9C4F68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07/03/2025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6532452-7721-EF4B-F0E0-0D86D1CD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3AD80A-F71E-7C1B-B9D7-72C30255C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339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8A6699-7E37-8C4F-01C2-F8CB03103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478760-C8EA-4AFD-4A2A-F1DA10869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895B982-4EE7-3A4D-C061-7A722D49E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1295876-89BD-61E8-7775-E92D2DAE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07/03/2025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D0A65AD-CE31-3238-9DE2-5727B84F9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F5A45A-2B16-4F11-BE86-F13E7855E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5121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304917-7587-BE3C-3A3C-B3032F066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9FAD061-00C2-C842-9BEA-15A87D05B8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6A10F09-832D-7EF2-B296-BA1794A34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CBDFB6-E26A-12CE-1E7A-A29440BC7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07/03/2025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AB8467-55E7-6F5A-9DA0-058639067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ADCCD2-4982-172B-B745-351A03A57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665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090C9F-4E54-C9FE-C81F-090A110D6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420BC42-F5EF-E91A-FBF8-A39E24883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C6FB9F-23D9-D886-B0E3-C94F83F56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07/03/2025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53F324-EB02-A0BF-70ED-54CE53B95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79B9E1-3D9B-300E-FCCE-7A00D06EF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1970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225DA12-DBF2-8D9D-9197-C02FCB7306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5EAAF2-A1DF-58F0-1B2B-6FF6904A0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9812CF-9F89-5DDE-CE90-01211F60F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07/03/2025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7BA7B9-738A-9211-AC45-1B09699AB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97956F-72B1-9441-CE55-7199F3ACB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4730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1FC58B-4780-7F51-5DE6-93B0C4692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2847C3-B07D-2F7A-97F3-916215C5E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4A70FE-F51B-7E16-F13C-A9BD1B5C1E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83883-7D35-4165-90D1-08F5B397DD95}" type="datetimeFigureOut">
              <a:rPr lang="fr-FR" smtClean="0"/>
              <a:t>07/03/2025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E454F0-27A9-6668-2678-E4A3EE8C73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4CBC7F-61EB-39D5-9189-ED0195522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96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B3D578-2BDE-CA5B-4393-5A7CF6D9B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7058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fr-FR" dirty="0"/>
              <a:t>Obscuration de chiffres dans des images par translation de vecteurs latents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72F4B9F-CFA1-7FF3-619F-FB929CAB3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50256"/>
            <a:ext cx="9144000" cy="2716247"/>
          </a:xfrm>
        </p:spPr>
        <p:txBody>
          <a:bodyPr>
            <a:normAutofit/>
          </a:bodyPr>
          <a:lstStyle/>
          <a:p>
            <a:r>
              <a:rPr lang="fr-FR" dirty="0"/>
              <a:t>Valentin NOYÉ</a:t>
            </a:r>
            <a:r>
              <a:rPr lang="fr-FR" baseline="30000" dirty="0">
                <a:solidFill>
                  <a:schemeClr val="accent2"/>
                </a:solidFill>
              </a:rPr>
              <a:t>1</a:t>
            </a:r>
            <a:r>
              <a:rPr lang="fr-FR" dirty="0"/>
              <a:t>, William PUECH</a:t>
            </a:r>
            <a:r>
              <a:rPr lang="fr-FR" baseline="30000" dirty="0">
                <a:solidFill>
                  <a:schemeClr val="accent2"/>
                </a:solidFill>
              </a:rPr>
              <a:t>1</a:t>
            </a:r>
            <a:r>
              <a:rPr lang="fr-FR" dirty="0"/>
              <a:t>, Pauline PUTEAUX</a:t>
            </a:r>
            <a:r>
              <a:rPr lang="fr-FR" baseline="30000" dirty="0">
                <a:solidFill>
                  <a:schemeClr val="accent2"/>
                </a:solidFill>
              </a:rPr>
              <a:t>2</a:t>
            </a:r>
            <a:endParaRPr lang="fr-FR" dirty="0">
              <a:solidFill>
                <a:schemeClr val="accent2"/>
              </a:solidFill>
            </a:endParaRPr>
          </a:p>
          <a:p>
            <a:endParaRPr lang="fr-FR" dirty="0"/>
          </a:p>
          <a:p>
            <a:r>
              <a:rPr lang="fr-FR" sz="2000" baseline="30000" dirty="0">
                <a:solidFill>
                  <a:schemeClr val="accent2"/>
                </a:solidFill>
              </a:rPr>
              <a:t>1</a:t>
            </a:r>
            <a:r>
              <a:rPr lang="fr-FR" sz="2000" dirty="0"/>
              <a:t>LIRMM, Univ Montpellier, CNRS</a:t>
            </a:r>
          </a:p>
          <a:p>
            <a:r>
              <a:rPr lang="fr-FR" sz="2000" baseline="30000" dirty="0">
                <a:solidFill>
                  <a:schemeClr val="accent2"/>
                </a:solidFill>
              </a:rPr>
              <a:t>2</a:t>
            </a:r>
            <a:r>
              <a:rPr lang="fr-FR" sz="2000" dirty="0"/>
              <a:t>CRIStAL, Univ Lille, CNRS</a:t>
            </a:r>
          </a:p>
          <a:p>
            <a:endParaRPr lang="fr-FR" dirty="0"/>
          </a:p>
          <a:p>
            <a:r>
              <a:rPr lang="fr-FR" sz="2800" b="1" dirty="0">
                <a:solidFill>
                  <a:schemeClr val="accent1"/>
                </a:solidFill>
              </a:rPr>
              <a:t>24 mars 2025</a:t>
            </a:r>
          </a:p>
        </p:txBody>
      </p:sp>
    </p:spTree>
    <p:extLst>
      <p:ext uri="{BB962C8B-B14F-4D97-AF65-F5344CB8AC3E}">
        <p14:creationId xmlns:p14="http://schemas.microsoft.com/office/powerpoint/2010/main" val="3692854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854AB-8FB3-16D0-B202-4E370425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F26C3A-62AD-9897-387A-317871456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8F79BCE3-B738-6926-9A88-9720A3271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Protection des données</a:t>
            </a:r>
            <a:r>
              <a:rPr lang="fr-FR" dirty="0"/>
              <a:t>, de la vie privée</a:t>
            </a:r>
          </a:p>
          <a:p>
            <a:r>
              <a:rPr lang="fr-FR" dirty="0"/>
              <a:t>Importance de l’information dans les médias visuels </a:t>
            </a:r>
          </a:p>
          <a:p>
            <a:r>
              <a:rPr lang="fr-FR" dirty="0"/>
              <a:t>Obscuration </a:t>
            </a:r>
            <a:r>
              <a:rPr lang="fr-FR" b="1" dirty="0"/>
              <a:t>réversible</a:t>
            </a:r>
            <a:r>
              <a:rPr lang="fr-FR" dirty="0"/>
              <a:t> à partir d’une clé</a:t>
            </a:r>
          </a:p>
          <a:p>
            <a:r>
              <a:rPr lang="fr-FR" dirty="0"/>
              <a:t>Bonne</a:t>
            </a:r>
            <a:r>
              <a:rPr lang="fr-FR" b="1" dirty="0"/>
              <a:t> fidélité visuelle</a:t>
            </a:r>
            <a:r>
              <a:rPr lang="fr-FR" dirty="0"/>
              <a:t> et </a:t>
            </a:r>
            <a:r>
              <a:rPr lang="fr-FR" b="1" dirty="0"/>
              <a:t>invisible</a:t>
            </a:r>
          </a:p>
        </p:txBody>
      </p:sp>
      <p:pic>
        <p:nvPicPr>
          <p:cNvPr id="3" name="Image 2" descr="Une image contenant texte, Plaque d’immatriculation de véhicule, voiture, Extérieur d’automobile&#10;&#10;Le contenu généré par l’IA peut être incorrect.">
            <a:extLst>
              <a:ext uri="{FF2B5EF4-FFF2-40B4-BE49-F238E27FC236}">
                <a16:creationId xmlns:a16="http://schemas.microsoft.com/office/drawing/2014/main" id="{F015CF88-5F76-5AEB-709F-82172846B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821" y="4316958"/>
            <a:ext cx="2741955" cy="1746952"/>
          </a:xfrm>
          <a:prstGeom prst="rect">
            <a:avLst/>
          </a:prstGeom>
        </p:spPr>
      </p:pic>
      <p:pic>
        <p:nvPicPr>
          <p:cNvPr id="7" name="Image 6" descr="Une image contenant voiture, Extérieur d’automobile, pare-choc, texte&#10;&#10;Le contenu généré par l’IA peut être incorrect.">
            <a:extLst>
              <a:ext uri="{FF2B5EF4-FFF2-40B4-BE49-F238E27FC236}">
                <a16:creationId xmlns:a16="http://schemas.microsoft.com/office/drawing/2014/main" id="{C6CA7A3B-E167-D4DD-1944-2009657AA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022" y="4316958"/>
            <a:ext cx="2741955" cy="1746952"/>
          </a:xfrm>
          <a:prstGeom prst="rect">
            <a:avLst/>
          </a:prstGeom>
        </p:spPr>
      </p:pic>
      <p:pic>
        <p:nvPicPr>
          <p:cNvPr id="12" name="Image 11" descr="Une image contenant texte, Plaque d’immatriculation de véhicule, voiture, Extérieur d’automobile&#10;&#10;Le contenu généré par l’IA peut être incorrect.">
            <a:extLst>
              <a:ext uri="{FF2B5EF4-FFF2-40B4-BE49-F238E27FC236}">
                <a16:creationId xmlns:a16="http://schemas.microsoft.com/office/drawing/2014/main" id="{BBC4CA20-BD42-BF90-46EB-555A6D5559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223" y="4316958"/>
            <a:ext cx="2741955" cy="174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085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9738F-08F1-4627-856B-76F322F4E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D94E6EAB-B6B8-17B8-EC9C-E8F544E9C18A}"/>
              </a:ext>
            </a:extLst>
          </p:cNvPr>
          <p:cNvCxnSpPr>
            <a:cxnSpLocks/>
          </p:cNvCxnSpPr>
          <p:nvPr/>
        </p:nvCxnSpPr>
        <p:spPr>
          <a:xfrm flipV="1">
            <a:off x="6096000" y="1500682"/>
            <a:ext cx="0" cy="489712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re 3">
            <a:extLst>
              <a:ext uri="{FF2B5EF4-FFF2-40B4-BE49-F238E27FC236}">
                <a16:creationId xmlns:a16="http://schemas.microsoft.com/office/drawing/2014/main" id="{7BCB90DE-1C27-2546-963A-20A41C831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Solution</a:t>
            </a:r>
          </a:p>
        </p:txBody>
      </p:sp>
      <p:pic>
        <p:nvPicPr>
          <p:cNvPr id="2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800F019-0540-9596-637D-FBE58B859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65" y="3126140"/>
            <a:ext cx="3111201" cy="1817779"/>
          </a:xfrm>
        </p:spPr>
      </p:pic>
      <p:pic>
        <p:nvPicPr>
          <p:cNvPr id="5" name="Image 4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55F43A82-C663-42E8-3834-02DB6AC39E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399" y="3126138"/>
            <a:ext cx="3111201" cy="1817780"/>
          </a:xfrm>
          <a:prstGeom prst="rect">
            <a:avLst/>
          </a:prstGeom>
        </p:spPr>
      </p:pic>
      <p:pic>
        <p:nvPicPr>
          <p:cNvPr id="6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5A1E8B95-9AE8-F457-8E70-FA48E11A4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834" y="3126139"/>
            <a:ext cx="3111201" cy="1817779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BCB88524-6E3A-D7AE-5227-80D7AB2E6AA3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3448166" y="4035028"/>
            <a:ext cx="1092233" cy="2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81C3C877-D99B-0767-F315-AA8C4140771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651600" y="4035028"/>
            <a:ext cx="1092234" cy="1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 2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504DAEFD-FB55-FFA5-1950-1FE7588E16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831" y="3233790"/>
            <a:ext cx="585940" cy="585940"/>
          </a:xfrm>
          <a:prstGeom prst="rect">
            <a:avLst/>
          </a:prstGeom>
        </p:spPr>
      </p:pic>
      <p:pic>
        <p:nvPicPr>
          <p:cNvPr id="8" name="Image 7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A1273A7F-38DD-CFC7-79BA-C991DB2378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275" y="3233790"/>
            <a:ext cx="585940" cy="58594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A6251F5-F834-9F95-6CEC-F3EA3D0D71C2}"/>
              </a:ext>
            </a:extLst>
          </p:cNvPr>
          <p:cNvSpPr txBox="1"/>
          <p:nvPr/>
        </p:nvSpPr>
        <p:spPr>
          <a:xfrm>
            <a:off x="-3" y="2238197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Obscuration</a:t>
            </a:r>
            <a:endParaRPr lang="fr-FR" sz="3200" b="1" baseline="-250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B01AE18-024D-2FED-DCC0-8D1780C64C2D}"/>
              </a:ext>
            </a:extLst>
          </p:cNvPr>
          <p:cNvSpPr txBox="1"/>
          <p:nvPr/>
        </p:nvSpPr>
        <p:spPr>
          <a:xfrm>
            <a:off x="6095997" y="2237405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Désobscuration</a:t>
            </a:r>
            <a:endParaRPr lang="fr-FR" sz="3200" b="1" baseline="-25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107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59C39-9BC5-BE51-A987-864709510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455AE13-BA44-7E91-AAA0-EEB8193AE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dirty="0"/>
              <a:t>Méthode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CE98A7F-01DE-2A4D-66CB-0D04F63E1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210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7CE2E-E59E-77FB-6F7C-AC62B5680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8FCB6A9-34A3-2B48-6BEC-598F91A96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Calcul des vecteurs de translation</a:t>
            </a:r>
            <a:endParaRPr lang="fr-F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9C1A5777-B119-32A0-119F-F115C7D31969}"/>
              </a:ext>
            </a:extLst>
          </p:cNvPr>
          <p:cNvCxnSpPr/>
          <p:nvPr/>
        </p:nvCxnSpPr>
        <p:spPr>
          <a:xfrm flipV="1">
            <a:off x="8051800" y="1521002"/>
            <a:ext cx="0" cy="489712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59CD741E-4E35-381A-A923-E22B80968DC8}"/>
              </a:ext>
            </a:extLst>
          </p:cNvPr>
          <p:cNvSpPr txBox="1"/>
          <p:nvPr/>
        </p:nvSpPr>
        <p:spPr>
          <a:xfrm>
            <a:off x="1" y="1597459"/>
            <a:ext cx="805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Calcul du centroïde de la classe </a:t>
            </a:r>
            <a:r>
              <a:rPr lang="fr-FR" b="1" dirty="0"/>
              <a:t>c</a:t>
            </a:r>
            <a:r>
              <a:rPr lang="fr-FR" b="1" baseline="-25000" dirty="0"/>
              <a:t>i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001F1C34-6CD1-DD46-35A8-28B6ED033684}"/>
              </a:ext>
            </a:extLst>
          </p:cNvPr>
          <p:cNvSpPr txBox="1"/>
          <p:nvPr/>
        </p:nvSpPr>
        <p:spPr>
          <a:xfrm>
            <a:off x="8051800" y="1561004"/>
            <a:ext cx="414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Calcul de la translation de la classe source </a:t>
            </a:r>
            <a:r>
              <a:rPr lang="fr-FR" b="1" dirty="0"/>
              <a:t>c</a:t>
            </a:r>
            <a:r>
              <a:rPr lang="fr-FR" b="1" baseline="-25000" dirty="0"/>
              <a:t>i</a:t>
            </a:r>
            <a:r>
              <a:rPr lang="fr-FR" dirty="0"/>
              <a:t> vers la classe cible </a:t>
            </a:r>
            <a:r>
              <a:rPr lang="fr-FR" b="1" dirty="0" err="1"/>
              <a:t>c</a:t>
            </a:r>
            <a:r>
              <a:rPr lang="fr-FR" b="1" baseline="-25000" dirty="0" err="1"/>
              <a:t>j</a:t>
            </a:r>
            <a:endParaRPr lang="fr-FR" b="1" baseline="-25000" dirty="0"/>
          </a:p>
        </p:txBody>
      </p: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AD43A612-B0AF-3435-2B98-AF25EEE9399F}"/>
              </a:ext>
            </a:extLst>
          </p:cNvPr>
          <p:cNvGrpSpPr/>
          <p:nvPr/>
        </p:nvGrpSpPr>
        <p:grpSpPr>
          <a:xfrm>
            <a:off x="8437395" y="2654514"/>
            <a:ext cx="3369011" cy="1693252"/>
            <a:chOff x="8231881" y="3018209"/>
            <a:chExt cx="3369011" cy="169325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F8DECD-FC81-F4AE-2E8C-4865438BB9EC}"/>
                </a:ext>
              </a:extLst>
            </p:cNvPr>
            <p:cNvSpPr/>
            <p:nvPr/>
          </p:nvSpPr>
          <p:spPr>
            <a:xfrm>
              <a:off x="9796036" y="3018209"/>
              <a:ext cx="186731" cy="53848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558F9FCF-61BC-8F59-5786-D91C1C486334}"/>
                </a:ext>
              </a:extLst>
            </p:cNvPr>
            <p:cNvSpPr txBox="1"/>
            <p:nvPr/>
          </p:nvSpPr>
          <p:spPr>
            <a:xfrm>
              <a:off x="9489758" y="3552419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V</a:t>
              </a:r>
              <a:r>
                <a:rPr lang="fr-FR" baseline="-25000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cj</a:t>
              </a:r>
              <a:endParaRPr lang="fr-FR" baseline="30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2E7DF17-2DE1-DE91-7F35-E7F32429B2D9}"/>
                </a:ext>
              </a:extLst>
            </p:cNvPr>
            <p:cNvSpPr/>
            <p:nvPr/>
          </p:nvSpPr>
          <p:spPr>
            <a:xfrm>
              <a:off x="10958890" y="3018209"/>
              <a:ext cx="186731" cy="53848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A22E4A88-9FF1-0C5A-83F2-312F339A7D85}"/>
                </a:ext>
              </a:extLst>
            </p:cNvPr>
            <p:cNvSpPr txBox="1"/>
            <p:nvPr/>
          </p:nvSpPr>
          <p:spPr>
            <a:xfrm>
              <a:off x="10652612" y="3552419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V</a:t>
              </a:r>
              <a:r>
                <a:rPr lang="fr-FR" baseline="-25000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ci</a:t>
              </a:r>
              <a:endParaRPr lang="fr-FR" baseline="30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5ABCA0B-EB9B-7C1E-AB93-08FCAD386478}"/>
                </a:ext>
              </a:extLst>
            </p:cNvPr>
            <p:cNvSpPr/>
            <p:nvPr/>
          </p:nvSpPr>
          <p:spPr>
            <a:xfrm>
              <a:off x="8632959" y="3018209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447C0E0B-DE42-A79B-79CE-171D6C9DE0B7}"/>
                </a:ext>
              </a:extLst>
            </p:cNvPr>
            <p:cNvSpPr txBox="1"/>
            <p:nvPr/>
          </p:nvSpPr>
          <p:spPr>
            <a:xfrm>
              <a:off x="8284374" y="3552419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V</a:t>
              </a:r>
              <a:r>
                <a:rPr lang="fr-FR" baseline="-25000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ci→cj</a:t>
              </a:r>
              <a:endParaRPr lang="fr-FR" baseline="30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7" name="Est égal à 46">
              <a:extLst>
                <a:ext uri="{FF2B5EF4-FFF2-40B4-BE49-F238E27FC236}">
                  <a16:creationId xmlns:a16="http://schemas.microsoft.com/office/drawing/2014/main" id="{92D9B401-9C88-5D7F-81F7-09DEB3D63D70}"/>
                </a:ext>
              </a:extLst>
            </p:cNvPr>
            <p:cNvSpPr/>
            <p:nvPr/>
          </p:nvSpPr>
          <p:spPr>
            <a:xfrm>
              <a:off x="9086667" y="3053541"/>
              <a:ext cx="445400" cy="463546"/>
            </a:xfrm>
            <a:prstGeom prst="mathEqual">
              <a:avLst>
                <a:gd name="adj1" fmla="val 12561"/>
                <a:gd name="adj2" fmla="val 1176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9" name="Signe Moins 48">
              <a:extLst>
                <a:ext uri="{FF2B5EF4-FFF2-40B4-BE49-F238E27FC236}">
                  <a16:creationId xmlns:a16="http://schemas.microsoft.com/office/drawing/2014/main" id="{F678F89C-4E76-4ACF-CF7D-6566A319F2DF}"/>
                </a:ext>
              </a:extLst>
            </p:cNvPr>
            <p:cNvSpPr/>
            <p:nvPr/>
          </p:nvSpPr>
          <p:spPr>
            <a:xfrm>
              <a:off x="10265048" y="3181287"/>
              <a:ext cx="411560" cy="235644"/>
            </a:xfrm>
            <a:prstGeom prst="mathMinus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9" name="Accolade fermante 68">
              <a:extLst>
                <a:ext uri="{FF2B5EF4-FFF2-40B4-BE49-F238E27FC236}">
                  <a16:creationId xmlns:a16="http://schemas.microsoft.com/office/drawing/2014/main" id="{BCC35E12-06CC-4E56-17E3-098905D1BDC5}"/>
                </a:ext>
              </a:extLst>
            </p:cNvPr>
            <p:cNvSpPr/>
            <p:nvPr/>
          </p:nvSpPr>
          <p:spPr>
            <a:xfrm rot="5400000">
              <a:off x="9719790" y="2457192"/>
              <a:ext cx="338346" cy="3314164"/>
            </a:xfrm>
            <a:prstGeom prst="rightBrace">
              <a:avLst>
                <a:gd name="adj1" fmla="val 74920"/>
                <a:gd name="adj2" fmla="val 50000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C6D0148E-14DB-49C1-2236-EFBF11289F2D}"/>
                </a:ext>
              </a:extLst>
            </p:cNvPr>
            <p:cNvSpPr txBox="1"/>
            <p:nvPr/>
          </p:nvSpPr>
          <p:spPr>
            <a:xfrm>
              <a:off x="8232352" y="4342129"/>
              <a:ext cx="3368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Pour</a:t>
              </a:r>
              <a:r>
                <a:rPr lang="fr-FR" dirty="0"/>
                <a:t> tout </a:t>
              </a:r>
              <a:r>
                <a:rPr lang="fr-FR" b="1" dirty="0"/>
                <a:t>i</a:t>
              </a:r>
              <a:r>
                <a:rPr lang="fr-FR" dirty="0"/>
                <a:t> ≠ </a:t>
              </a:r>
              <a:r>
                <a:rPr lang="fr-FR" b="1" dirty="0"/>
                <a:t>j</a:t>
              </a:r>
              <a:endParaRPr lang="fr-FR" b="1" baseline="-25000" dirty="0"/>
            </a:p>
          </p:txBody>
        </p: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5D31BD35-5BB1-62F1-5432-1CB1DD0DF1AF}"/>
              </a:ext>
            </a:extLst>
          </p:cNvPr>
          <p:cNvSpPr txBox="1"/>
          <p:nvPr/>
        </p:nvSpPr>
        <p:spPr>
          <a:xfrm>
            <a:off x="395990" y="5688914"/>
            <a:ext cx="1730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d’entraînement de la classe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4A5DE702-5648-CA53-2069-5CF2B95F7856}"/>
              </a:ext>
            </a:extLst>
          </p:cNvPr>
          <p:cNvSpPr txBox="1"/>
          <p:nvPr/>
        </p:nvSpPr>
        <p:spPr>
          <a:xfrm>
            <a:off x="6040685" y="4642750"/>
            <a:ext cx="150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Prototype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lang="fr-F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0BC55-53DD-D815-707D-373ABB0A356E}"/>
              </a:ext>
            </a:extLst>
          </p:cNvPr>
          <p:cNvSpPr/>
          <p:nvPr/>
        </p:nvSpPr>
        <p:spPr>
          <a:xfrm>
            <a:off x="595894" y="2254308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r>
              <a:rPr lang="fr-FR" sz="3600" baseline="30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1</a:t>
            </a:r>
            <a:endParaRPr lang="fr-FR" sz="3600" baseline="-25000" dirty="0">
              <a:solidFill>
                <a:schemeClr val="tx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rapèze 9">
            <a:extLst>
              <a:ext uri="{FF2B5EF4-FFF2-40B4-BE49-F238E27FC236}">
                <a16:creationId xmlns:a16="http://schemas.microsoft.com/office/drawing/2014/main" id="{5AA10E97-F009-256C-7ECC-94F80E64C242}"/>
              </a:ext>
            </a:extLst>
          </p:cNvPr>
          <p:cNvSpPr/>
          <p:nvPr/>
        </p:nvSpPr>
        <p:spPr>
          <a:xfrm rot="5400000">
            <a:off x="1878056" y="2669442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74AE91-71BF-C539-1B49-A54201BE3A65}"/>
              </a:ext>
            </a:extLst>
          </p:cNvPr>
          <p:cNvSpPr/>
          <p:nvPr/>
        </p:nvSpPr>
        <p:spPr>
          <a:xfrm>
            <a:off x="3155968" y="2647851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2708F49-F89B-AEED-6030-6FD8D9DC86B6}"/>
              </a:ext>
            </a:extLst>
          </p:cNvPr>
          <p:cNvSpPr txBox="1"/>
          <p:nvPr/>
        </p:nvSpPr>
        <p:spPr>
          <a:xfrm>
            <a:off x="2849690" y="3212331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r>
              <a:rPr lang="fr-FR" baseline="30000" dirty="0">
                <a:latin typeface="Consolas" panose="020B0609020204030204" pitchFamily="49" charset="0"/>
                <a:cs typeface="Cascadia Code" panose="020B0609020000020004" pitchFamily="49" charset="0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2A5A59-6119-2C13-942C-592DFD172EC1}"/>
              </a:ext>
            </a:extLst>
          </p:cNvPr>
          <p:cNvSpPr/>
          <p:nvPr/>
        </p:nvSpPr>
        <p:spPr>
          <a:xfrm>
            <a:off x="595893" y="4363351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 err="1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 err="1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r>
              <a:rPr lang="fr-FR" sz="3600" baseline="30000" dirty="0" err="1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n</a:t>
            </a:r>
            <a:endParaRPr lang="fr-FR" sz="3600" dirty="0">
              <a:solidFill>
                <a:schemeClr val="tx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rapèze 4">
            <a:extLst>
              <a:ext uri="{FF2B5EF4-FFF2-40B4-BE49-F238E27FC236}">
                <a16:creationId xmlns:a16="http://schemas.microsoft.com/office/drawing/2014/main" id="{B25576A1-8B3A-98FA-DAB4-804D9C3396D1}"/>
              </a:ext>
            </a:extLst>
          </p:cNvPr>
          <p:cNvSpPr/>
          <p:nvPr/>
        </p:nvSpPr>
        <p:spPr>
          <a:xfrm rot="5400000">
            <a:off x="1878056" y="4778483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59A51F-34E5-6F9D-3D68-A9F7F8DEE853}"/>
              </a:ext>
            </a:extLst>
          </p:cNvPr>
          <p:cNvSpPr/>
          <p:nvPr/>
        </p:nvSpPr>
        <p:spPr>
          <a:xfrm>
            <a:off x="3155968" y="4756892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D95BDFD-F50A-025E-5886-0B6DCFD731F8}"/>
              </a:ext>
            </a:extLst>
          </p:cNvPr>
          <p:cNvSpPr txBox="1"/>
          <p:nvPr/>
        </p:nvSpPr>
        <p:spPr>
          <a:xfrm>
            <a:off x="2849690" y="5295372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r>
              <a:rPr lang="fr-FR" baseline="30000" dirty="0" err="1">
                <a:latin typeface="Consolas" panose="020B0609020204030204" pitchFamily="49" charset="0"/>
                <a:cs typeface="Cascadia Code" panose="020B0609020000020004" pitchFamily="49" charset="0"/>
              </a:rPr>
              <a:t>n</a:t>
            </a:r>
            <a:endParaRPr lang="fr-FR" baseline="30000" dirty="0"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6D9A30-A3CF-93C3-16B9-02849E9BD2FD}"/>
              </a:ext>
            </a:extLst>
          </p:cNvPr>
          <p:cNvSpPr/>
          <p:nvPr/>
        </p:nvSpPr>
        <p:spPr>
          <a:xfrm>
            <a:off x="4743230" y="3700570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1AA9A70-DDF4-A005-DD57-C9DC48C2AFBE}"/>
              </a:ext>
            </a:extLst>
          </p:cNvPr>
          <p:cNvSpPr txBox="1"/>
          <p:nvPr/>
        </p:nvSpPr>
        <p:spPr>
          <a:xfrm>
            <a:off x="4435139" y="4228927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endParaRPr lang="fr-FR" baseline="30000" dirty="0"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Trapèze 18">
            <a:extLst>
              <a:ext uri="{FF2B5EF4-FFF2-40B4-BE49-F238E27FC236}">
                <a16:creationId xmlns:a16="http://schemas.microsoft.com/office/drawing/2014/main" id="{4490E226-206E-413C-631B-621CF54E46F0}"/>
              </a:ext>
            </a:extLst>
          </p:cNvPr>
          <p:cNvSpPr/>
          <p:nvPr/>
        </p:nvSpPr>
        <p:spPr>
          <a:xfrm rot="16200000">
            <a:off x="4849753" y="3722160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CE2AD7-C484-63F5-1798-C8C1FD8A0C38}"/>
              </a:ext>
            </a:extLst>
          </p:cNvPr>
          <p:cNvSpPr/>
          <p:nvPr/>
        </p:nvSpPr>
        <p:spPr>
          <a:xfrm>
            <a:off x="6133694" y="3315238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785E8F0-C92A-F4FF-EE94-0B9E4040C084}"/>
              </a:ext>
            </a:extLst>
          </p:cNvPr>
          <p:cNvSpPr txBox="1"/>
          <p:nvPr/>
        </p:nvSpPr>
        <p:spPr>
          <a:xfrm>
            <a:off x="714491" y="3579873"/>
            <a:ext cx="861774" cy="79808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>
                    <a:lumMod val="75000"/>
                  </a:schemeClr>
                </a:solidFill>
              </a:rPr>
              <a:t>…</a:t>
            </a:r>
            <a:endParaRPr lang="fr-FR" sz="4400" b="1" baseline="-250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438E8DB7-B019-83B7-063E-954DFBCECE46}"/>
              </a:ext>
            </a:extLst>
          </p:cNvPr>
          <p:cNvCxnSpPr>
            <a:stCxn id="2" idx="3"/>
            <a:endCxn id="10" idx="2"/>
          </p:cNvCxnSpPr>
          <p:nvPr/>
        </p:nvCxnSpPr>
        <p:spPr>
          <a:xfrm flipV="1">
            <a:off x="1923249" y="2917092"/>
            <a:ext cx="369939" cy="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DB9C00CD-5F15-C896-A30F-4F4571BE4847}"/>
              </a:ext>
            </a:extLst>
          </p:cNvPr>
          <p:cNvCxnSpPr>
            <a:stCxn id="3" idx="3"/>
            <a:endCxn id="5" idx="2"/>
          </p:cNvCxnSpPr>
          <p:nvPr/>
        </p:nvCxnSpPr>
        <p:spPr>
          <a:xfrm flipV="1">
            <a:off x="1923248" y="5026133"/>
            <a:ext cx="369940" cy="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260AC7D-8D9F-E979-6683-93D6707C4B31}"/>
              </a:ext>
            </a:extLst>
          </p:cNvPr>
          <p:cNvCxnSpPr>
            <a:stCxn id="10" idx="0"/>
            <a:endCxn id="15" idx="1"/>
          </p:cNvCxnSpPr>
          <p:nvPr/>
        </p:nvCxnSpPr>
        <p:spPr>
          <a:xfrm flipV="1">
            <a:off x="2788487" y="2917091"/>
            <a:ext cx="3674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FEFE747D-81A5-D3CE-B8C7-244C903D8085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342699" y="2917091"/>
            <a:ext cx="493860" cy="0"/>
          </a:xfrm>
          <a:prstGeom prst="straightConnector1">
            <a:avLst/>
          </a:prstGeom>
          <a:ln cap="rnd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F04CF3E6-7900-6E56-B9FA-D77E5F31EB5D}"/>
              </a:ext>
            </a:extLst>
          </p:cNvPr>
          <p:cNvCxnSpPr>
            <a:stCxn id="9" idx="3"/>
            <a:endCxn id="19" idx="0"/>
          </p:cNvCxnSpPr>
          <p:nvPr/>
        </p:nvCxnSpPr>
        <p:spPr>
          <a:xfrm flipV="1">
            <a:off x="4929961" y="3969809"/>
            <a:ext cx="33492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5A166AFD-1EC1-60DE-F8D0-0B4886E61EDB}"/>
              </a:ext>
            </a:extLst>
          </p:cNvPr>
          <p:cNvCxnSpPr>
            <a:cxnSpLocks/>
            <a:stCxn id="19" idx="2"/>
            <a:endCxn id="25" idx="1"/>
          </p:cNvCxnSpPr>
          <p:nvPr/>
        </p:nvCxnSpPr>
        <p:spPr>
          <a:xfrm>
            <a:off x="5760184" y="3969809"/>
            <a:ext cx="373510" cy="9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F304747B-501C-BA4D-1B9E-CA19ADF8824F}"/>
              </a:ext>
            </a:extLst>
          </p:cNvPr>
          <p:cNvCxnSpPr>
            <a:stCxn id="5" idx="0"/>
            <a:endCxn id="6" idx="1"/>
          </p:cNvCxnSpPr>
          <p:nvPr/>
        </p:nvCxnSpPr>
        <p:spPr>
          <a:xfrm flipV="1">
            <a:off x="2788487" y="5026132"/>
            <a:ext cx="3674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8C56EBE9-3C44-3C39-8AD2-3FB08CF9F725}"/>
              </a:ext>
            </a:extLst>
          </p:cNvPr>
          <p:cNvCxnSpPr>
            <a:stCxn id="6" idx="3"/>
          </p:cNvCxnSpPr>
          <p:nvPr/>
        </p:nvCxnSpPr>
        <p:spPr>
          <a:xfrm>
            <a:off x="3342699" y="5026132"/>
            <a:ext cx="493860" cy="0"/>
          </a:xfrm>
          <a:prstGeom prst="line">
            <a:avLst/>
          </a:prstGeom>
          <a:ln cap="rnd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FDF0A62-46FA-EE16-FE76-6C1DB74F22B6}"/>
              </a:ext>
            </a:extLst>
          </p:cNvPr>
          <p:cNvSpPr/>
          <p:nvPr/>
        </p:nvSpPr>
        <p:spPr>
          <a:xfrm>
            <a:off x="3268441" y="3704173"/>
            <a:ext cx="1136236" cy="534877"/>
          </a:xfrm>
          <a:prstGeom prst="rect">
            <a:avLst/>
          </a:prstGeom>
          <a:solidFill>
            <a:srgbClr val="ECF1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Moyenne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90251E0C-D8B9-9F38-8B28-AC0123480488}"/>
              </a:ext>
            </a:extLst>
          </p:cNvPr>
          <p:cNvCxnSpPr>
            <a:cxnSpLocks/>
            <a:stCxn id="14" idx="3"/>
            <a:endCxn id="9" idx="1"/>
          </p:cNvCxnSpPr>
          <p:nvPr/>
        </p:nvCxnSpPr>
        <p:spPr>
          <a:xfrm flipV="1">
            <a:off x="4404677" y="3969810"/>
            <a:ext cx="338553" cy="1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88E3D4CB-7ECE-B6CB-6E50-F6A9748854D1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3836559" y="2917091"/>
            <a:ext cx="0" cy="787082"/>
          </a:xfrm>
          <a:prstGeom prst="straightConnector1">
            <a:avLst/>
          </a:prstGeom>
          <a:ln cap="rnd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743AEFAB-7DB3-0C8D-E7C8-457A68277AC5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3836559" y="4239050"/>
            <a:ext cx="0" cy="787082"/>
          </a:xfrm>
          <a:prstGeom prst="straightConnector1">
            <a:avLst/>
          </a:prstGeom>
          <a:ln cap="rnd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ZoneTexte 58">
            <a:extLst>
              <a:ext uri="{FF2B5EF4-FFF2-40B4-BE49-F238E27FC236}">
                <a16:creationId xmlns:a16="http://schemas.microsoft.com/office/drawing/2014/main" id="{106923FB-13E2-2801-B882-5F29C0A86CC2}"/>
              </a:ext>
            </a:extLst>
          </p:cNvPr>
          <p:cNvSpPr txBox="1"/>
          <p:nvPr/>
        </p:nvSpPr>
        <p:spPr>
          <a:xfrm>
            <a:off x="9358856" y="5903880"/>
            <a:ext cx="148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Vecteurs de translation</a:t>
            </a:r>
            <a:endParaRPr lang="fr-FR" b="1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C4432FA-DB79-B96E-E762-DCC3ECFD0767}"/>
              </a:ext>
            </a:extLst>
          </p:cNvPr>
          <p:cNvGrpSpPr/>
          <p:nvPr/>
        </p:nvGrpSpPr>
        <p:grpSpPr>
          <a:xfrm>
            <a:off x="9488925" y="5245154"/>
            <a:ext cx="1211103" cy="589246"/>
            <a:chOff x="10142697" y="5135087"/>
            <a:chExt cx="1211103" cy="589246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037E7F3-37F5-DA11-E465-16811DADD032}"/>
                </a:ext>
              </a:extLst>
            </p:cNvPr>
            <p:cNvSpPr/>
            <p:nvPr/>
          </p:nvSpPr>
          <p:spPr>
            <a:xfrm>
              <a:off x="10516159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6551AD5-4D93-96B2-74D2-98CF7A281487}"/>
                </a:ext>
              </a:extLst>
            </p:cNvPr>
            <p:cNvSpPr/>
            <p:nvPr/>
          </p:nvSpPr>
          <p:spPr>
            <a:xfrm>
              <a:off x="11145686" y="5185853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744ADEE6-4BED-2160-D6BF-C9B33AF1B41C}"/>
                </a:ext>
              </a:extLst>
            </p:cNvPr>
            <p:cNvSpPr txBox="1"/>
            <p:nvPr/>
          </p:nvSpPr>
          <p:spPr>
            <a:xfrm>
              <a:off x="10492026" y="5135087"/>
              <a:ext cx="861774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  <a:endParaRPr lang="fr-FR" sz="2400" b="1" baseline="-25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7F78192-AF2D-4D37-C2BC-72329619DA04}"/>
                </a:ext>
              </a:extLst>
            </p:cNvPr>
            <p:cNvSpPr/>
            <p:nvPr/>
          </p:nvSpPr>
          <p:spPr>
            <a:xfrm>
              <a:off x="10329428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E29944F-2444-4D51-8078-1DB7D7F18F77}"/>
                </a:ext>
              </a:extLst>
            </p:cNvPr>
            <p:cNvSpPr/>
            <p:nvPr/>
          </p:nvSpPr>
          <p:spPr>
            <a:xfrm>
              <a:off x="10142697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D0E25788-1C68-C675-584D-34882E9E5C6A}"/>
              </a:ext>
            </a:extLst>
          </p:cNvPr>
          <p:cNvCxnSpPr>
            <a:cxnSpLocks/>
          </p:cNvCxnSpPr>
          <p:nvPr/>
        </p:nvCxnSpPr>
        <p:spPr>
          <a:xfrm>
            <a:off x="10094477" y="4347766"/>
            <a:ext cx="0" cy="787082"/>
          </a:xfrm>
          <a:prstGeom prst="straightConnector1">
            <a:avLst/>
          </a:prstGeom>
          <a:ln cap="rnd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292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BF989-4206-90BF-42C3-72869CF52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>
            <a:extLst>
              <a:ext uri="{FF2B5EF4-FFF2-40B4-BE49-F238E27FC236}">
                <a16:creationId xmlns:a16="http://schemas.microsoft.com/office/drawing/2014/main" id="{EA6BC3AC-DBAD-BD50-75E6-60BC3975B9D9}"/>
              </a:ext>
            </a:extLst>
          </p:cNvPr>
          <p:cNvSpPr/>
          <p:nvPr/>
        </p:nvSpPr>
        <p:spPr>
          <a:xfrm rot="851835">
            <a:off x="1223788" y="1961008"/>
            <a:ext cx="2880852" cy="177963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6FAB013B-8A66-3BB4-9565-E8A77C5BC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Obscuration</a:t>
            </a:r>
            <a:endParaRPr lang="fr-F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FD3863B-7078-99DE-C3A1-6E894654686A}"/>
              </a:ext>
            </a:extLst>
          </p:cNvPr>
          <p:cNvSpPr/>
          <p:nvPr/>
        </p:nvSpPr>
        <p:spPr>
          <a:xfrm rot="20017351">
            <a:off x="2366539" y="3918203"/>
            <a:ext cx="2317936" cy="220859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713FB6E-D216-DE82-BDBF-D88043322479}"/>
              </a:ext>
            </a:extLst>
          </p:cNvPr>
          <p:cNvSpPr/>
          <p:nvPr/>
        </p:nvSpPr>
        <p:spPr>
          <a:xfrm rot="3925294">
            <a:off x="3707203" y="2934261"/>
            <a:ext cx="3811777" cy="167663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27DB15EF-0CB8-6A5C-CB80-42D631F60696}"/>
              </a:ext>
            </a:extLst>
          </p:cNvPr>
          <p:cNvSpPr/>
          <p:nvPr/>
        </p:nvSpPr>
        <p:spPr>
          <a:xfrm>
            <a:off x="2582402" y="2776161"/>
            <a:ext cx="163624" cy="1636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D76CDD7E-C003-3222-7DF4-890E5A4A31DE}"/>
              </a:ext>
            </a:extLst>
          </p:cNvPr>
          <p:cNvSpPr/>
          <p:nvPr/>
        </p:nvSpPr>
        <p:spPr>
          <a:xfrm>
            <a:off x="5531279" y="3726426"/>
            <a:ext cx="163624" cy="1636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9AA5D1C-A857-D4F3-69CB-DBBFDCDD30AC}"/>
              </a:ext>
            </a:extLst>
          </p:cNvPr>
          <p:cNvSpPr/>
          <p:nvPr/>
        </p:nvSpPr>
        <p:spPr>
          <a:xfrm>
            <a:off x="3443695" y="4966584"/>
            <a:ext cx="163624" cy="16362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8ECD9570-14F4-328A-E1A2-6E02DA632C89}"/>
              </a:ext>
            </a:extLst>
          </p:cNvPr>
          <p:cNvCxnSpPr>
            <a:cxnSpLocks/>
          </p:cNvCxnSpPr>
          <p:nvPr/>
        </p:nvCxnSpPr>
        <p:spPr>
          <a:xfrm>
            <a:off x="2664214" y="2863129"/>
            <a:ext cx="2952873" cy="953921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igne de multiplication 23">
            <a:extLst>
              <a:ext uri="{FF2B5EF4-FFF2-40B4-BE49-F238E27FC236}">
                <a16:creationId xmlns:a16="http://schemas.microsoft.com/office/drawing/2014/main" id="{08ADFBBF-BA48-953D-8C12-77DCD71352F2}"/>
              </a:ext>
            </a:extLst>
          </p:cNvPr>
          <p:cNvSpPr/>
          <p:nvPr/>
        </p:nvSpPr>
        <p:spPr>
          <a:xfrm>
            <a:off x="5477471" y="4163422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Signe de multiplication 22">
            <a:extLst>
              <a:ext uri="{FF2B5EF4-FFF2-40B4-BE49-F238E27FC236}">
                <a16:creationId xmlns:a16="http://schemas.microsoft.com/office/drawing/2014/main" id="{C7395C17-55B3-89BF-E5D8-EEE8FD36C5AB}"/>
              </a:ext>
            </a:extLst>
          </p:cNvPr>
          <p:cNvSpPr/>
          <p:nvPr/>
        </p:nvSpPr>
        <p:spPr>
          <a:xfrm>
            <a:off x="2528903" y="3215118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8EB061C9-3475-227A-B77F-34BAE34A74AD}"/>
              </a:ext>
            </a:extLst>
          </p:cNvPr>
          <p:cNvCxnSpPr>
            <a:cxnSpLocks/>
          </p:cNvCxnSpPr>
          <p:nvPr/>
        </p:nvCxnSpPr>
        <p:spPr>
          <a:xfrm>
            <a:off x="2647871" y="3332125"/>
            <a:ext cx="2948877" cy="950265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25EDEDF2-E505-DD1E-B05B-C1A5CEE3C3D7}"/>
              </a:ext>
            </a:extLst>
          </p:cNvPr>
          <p:cNvSpPr txBox="1"/>
          <p:nvPr/>
        </p:nvSpPr>
        <p:spPr>
          <a:xfrm>
            <a:off x="3846555" y="3373872"/>
            <a:ext cx="7992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i→j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B809F22-EF81-C273-38AE-74BF7D0A926A}"/>
              </a:ext>
            </a:extLst>
          </p:cNvPr>
          <p:cNvSpPr txBox="1"/>
          <p:nvPr/>
        </p:nvSpPr>
        <p:spPr>
          <a:xfrm>
            <a:off x="2083335" y="2420797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D0514675-19A3-D791-EB91-A21C762778BF}"/>
              </a:ext>
            </a:extLst>
          </p:cNvPr>
          <p:cNvSpPr txBox="1"/>
          <p:nvPr/>
        </p:nvSpPr>
        <p:spPr>
          <a:xfrm>
            <a:off x="5403014" y="3415078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1C425E6-ACD0-BBD6-6F8F-D17433472BF0}"/>
              </a:ext>
            </a:extLst>
          </p:cNvPr>
          <p:cNvSpPr txBox="1"/>
          <p:nvPr/>
        </p:nvSpPr>
        <p:spPr>
          <a:xfrm>
            <a:off x="3214881" y="5116060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k</a:t>
            </a:r>
            <a:endParaRPr lang="fr-FR" baseline="300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86B0CC6-7553-8A0F-C9E6-F232617A7686}"/>
              </a:ext>
            </a:extLst>
          </p:cNvPr>
          <p:cNvSpPr txBox="1"/>
          <p:nvPr/>
        </p:nvSpPr>
        <p:spPr>
          <a:xfrm>
            <a:off x="1967554" y="2997935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14BD343C-8FEA-E4BB-C7A4-26317A061951}"/>
              </a:ext>
            </a:extLst>
          </p:cNvPr>
          <p:cNvSpPr txBox="1"/>
          <p:nvPr/>
        </p:nvSpPr>
        <p:spPr>
          <a:xfrm>
            <a:off x="5403170" y="4295806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F4835114-5DC4-4E9B-046D-E25F23425E59}"/>
              </a:ext>
            </a:extLst>
          </p:cNvPr>
          <p:cNvSpPr txBox="1"/>
          <p:nvPr/>
        </p:nvSpPr>
        <p:spPr>
          <a:xfrm>
            <a:off x="759612" y="3531698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04BC534F-7724-B71E-0CB3-860A3CB07C26}"/>
              </a:ext>
            </a:extLst>
          </p:cNvPr>
          <p:cNvSpPr txBox="1"/>
          <p:nvPr/>
        </p:nvSpPr>
        <p:spPr>
          <a:xfrm>
            <a:off x="5559771" y="5556166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j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4E1C1BB-DC3B-8639-1650-2CCC649A0A1D}"/>
              </a:ext>
            </a:extLst>
          </p:cNvPr>
          <p:cNvSpPr txBox="1"/>
          <p:nvPr/>
        </p:nvSpPr>
        <p:spPr>
          <a:xfrm>
            <a:off x="2702191" y="6099001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k</a:t>
            </a:r>
            <a:endParaRPr lang="fr-FR" baseline="300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4215F5E4-74C3-EC66-0128-1821F363B1A2}"/>
              </a:ext>
            </a:extLst>
          </p:cNvPr>
          <p:cNvSpPr txBox="1"/>
          <p:nvPr/>
        </p:nvSpPr>
        <p:spPr>
          <a:xfrm>
            <a:off x="7654297" y="2514129"/>
            <a:ext cx="3473259" cy="260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Formule de la translation de la classe </a:t>
            </a:r>
            <a:r>
              <a:rPr lang="fr-FR" sz="2000" b="1" dirty="0">
                <a:solidFill>
                  <a:schemeClr val="accent2"/>
                </a:solidFill>
              </a:rPr>
              <a:t>i</a:t>
            </a:r>
            <a:r>
              <a:rPr lang="fr-FR" sz="2000" dirty="0"/>
              <a:t> vers la classe </a:t>
            </a:r>
            <a:r>
              <a:rPr lang="fr-FR" sz="2000" b="1" dirty="0">
                <a:solidFill>
                  <a:schemeClr val="accent6"/>
                </a:solidFill>
              </a:rPr>
              <a:t>j</a:t>
            </a:r>
            <a:r>
              <a:rPr lang="fr-FR" sz="2000" dirty="0"/>
              <a:t> :</a:t>
            </a:r>
            <a:endParaRPr lang="fr-FR" sz="2000" b="1" dirty="0"/>
          </a:p>
          <a:p>
            <a:pPr algn="ctr"/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>
                <a:solidFill>
                  <a:schemeClr val="accent6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 = V</a:t>
            </a:r>
            <a:r>
              <a:rPr lang="fr-FR" sz="3200" baseline="-25000" dirty="0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 + </a:t>
            </a:r>
            <a:r>
              <a:rPr lang="fr-FR" sz="3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 err="1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200" baseline="-25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→</a:t>
            </a:r>
            <a:r>
              <a:rPr lang="fr-FR" sz="3200" baseline="-25000" dirty="0" err="1">
                <a:solidFill>
                  <a:schemeClr val="accent6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</a:t>
            </a:r>
            <a:endParaRPr lang="fr-FR" sz="3200" baseline="-25000" dirty="0">
              <a:solidFill>
                <a:schemeClr val="accent6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endParaRPr lang="fr-FR" sz="2000" baseline="-25000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Les classes source et cible sont connues</a:t>
            </a:r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189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FD70E-5F5B-D5C5-CC3A-7AF667849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3D09D66-783D-E507-9E62-092FB43A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Étape d’obscuration</a:t>
            </a:r>
            <a:endParaRPr lang="fr-F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F2CAD4-D4E3-080D-5230-9B395A0D85E7}"/>
              </a:ext>
            </a:extLst>
          </p:cNvPr>
          <p:cNvSpPr/>
          <p:nvPr/>
        </p:nvSpPr>
        <p:spPr>
          <a:xfrm>
            <a:off x="741400" y="1863416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</a:p>
        </p:txBody>
      </p:sp>
      <p:sp>
        <p:nvSpPr>
          <p:cNvPr id="10" name="Trapèze 9">
            <a:extLst>
              <a:ext uri="{FF2B5EF4-FFF2-40B4-BE49-F238E27FC236}">
                <a16:creationId xmlns:a16="http://schemas.microsoft.com/office/drawing/2014/main" id="{7661B166-E7EF-27D2-0A79-78BC8A5BB988}"/>
              </a:ext>
            </a:extLst>
          </p:cNvPr>
          <p:cNvSpPr/>
          <p:nvPr/>
        </p:nvSpPr>
        <p:spPr>
          <a:xfrm rot="5400000">
            <a:off x="2023562" y="2278550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13" name="Trapèze 12">
            <a:extLst>
              <a:ext uri="{FF2B5EF4-FFF2-40B4-BE49-F238E27FC236}">
                <a16:creationId xmlns:a16="http://schemas.microsoft.com/office/drawing/2014/main" id="{506C1B58-DD0B-C755-580E-7808089214DD}"/>
              </a:ext>
            </a:extLst>
          </p:cNvPr>
          <p:cNvSpPr/>
          <p:nvPr/>
        </p:nvSpPr>
        <p:spPr>
          <a:xfrm rot="16200000">
            <a:off x="3445470" y="2280340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C14A4F-4B99-9CEC-7DCD-E00C72EE1C08}"/>
              </a:ext>
            </a:extLst>
          </p:cNvPr>
          <p:cNvSpPr/>
          <p:nvPr/>
        </p:nvSpPr>
        <p:spPr>
          <a:xfrm>
            <a:off x="3301474" y="2256959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541BBE-0527-D19A-8E16-52F0376764ED}"/>
              </a:ext>
            </a:extLst>
          </p:cNvPr>
          <p:cNvSpPr/>
          <p:nvPr/>
        </p:nvSpPr>
        <p:spPr>
          <a:xfrm>
            <a:off x="4725840" y="1856546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  <a:endParaRPr lang="fr-FR" sz="3600" baseline="30000" dirty="0">
              <a:solidFill>
                <a:schemeClr val="tx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rapèze 16">
            <a:extLst>
              <a:ext uri="{FF2B5EF4-FFF2-40B4-BE49-F238E27FC236}">
                <a16:creationId xmlns:a16="http://schemas.microsoft.com/office/drawing/2014/main" id="{8FF3432A-827D-4048-1294-914B7A67F4B6}"/>
              </a:ext>
            </a:extLst>
          </p:cNvPr>
          <p:cNvSpPr/>
          <p:nvPr/>
        </p:nvSpPr>
        <p:spPr>
          <a:xfrm rot="5400000">
            <a:off x="6008002" y="2266598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828061-CACD-C6E3-81DA-C556CF1C9290}"/>
              </a:ext>
            </a:extLst>
          </p:cNvPr>
          <p:cNvSpPr/>
          <p:nvPr/>
        </p:nvSpPr>
        <p:spPr>
          <a:xfrm>
            <a:off x="4725840" y="4486616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E1C6D-7FCA-BD52-DA14-80828B6A9A72}"/>
              </a:ext>
            </a:extLst>
          </p:cNvPr>
          <p:cNvSpPr/>
          <p:nvPr/>
        </p:nvSpPr>
        <p:spPr>
          <a:xfrm>
            <a:off x="7288369" y="4881053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626C5C-F838-D456-28CF-394590A2175C}"/>
              </a:ext>
            </a:extLst>
          </p:cNvPr>
          <p:cNvSpPr/>
          <p:nvPr/>
        </p:nvSpPr>
        <p:spPr>
          <a:xfrm>
            <a:off x="7288369" y="2245007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rapèze 21">
            <a:extLst>
              <a:ext uri="{FF2B5EF4-FFF2-40B4-BE49-F238E27FC236}">
                <a16:creationId xmlns:a16="http://schemas.microsoft.com/office/drawing/2014/main" id="{4A421AFA-01B3-4682-605B-629561CB783E}"/>
              </a:ext>
            </a:extLst>
          </p:cNvPr>
          <p:cNvSpPr/>
          <p:nvPr/>
        </p:nvSpPr>
        <p:spPr>
          <a:xfrm rot="16200000">
            <a:off x="8741041" y="2273470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C090FB-5A0A-87C5-8511-D6D25A58A8A8}"/>
              </a:ext>
            </a:extLst>
          </p:cNvPr>
          <p:cNvSpPr/>
          <p:nvPr/>
        </p:nvSpPr>
        <p:spPr>
          <a:xfrm>
            <a:off x="10026445" y="1849674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I’’</a:t>
            </a:r>
          </a:p>
        </p:txBody>
      </p:sp>
      <p:sp>
        <p:nvSpPr>
          <p:cNvPr id="24" name="Trapèze 23">
            <a:extLst>
              <a:ext uri="{FF2B5EF4-FFF2-40B4-BE49-F238E27FC236}">
                <a16:creationId xmlns:a16="http://schemas.microsoft.com/office/drawing/2014/main" id="{F027D5BA-F862-DAFF-90BA-E092410A251C}"/>
              </a:ext>
            </a:extLst>
          </p:cNvPr>
          <p:cNvSpPr/>
          <p:nvPr/>
        </p:nvSpPr>
        <p:spPr>
          <a:xfrm rot="5400000">
            <a:off x="6008000" y="4901748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5217A8D9-0799-91F1-9ED6-84D5B3975644}"/>
              </a:ext>
            </a:extLst>
          </p:cNvPr>
          <p:cNvSpPr txBox="1"/>
          <p:nvPr/>
        </p:nvSpPr>
        <p:spPr>
          <a:xfrm>
            <a:off x="2995196" y="2821439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F1ABC56-BCF1-57F4-BE3E-4166D5F97E14}"/>
              </a:ext>
            </a:extLst>
          </p:cNvPr>
          <p:cNvSpPr txBox="1"/>
          <p:nvPr/>
        </p:nvSpPr>
        <p:spPr>
          <a:xfrm>
            <a:off x="6982091" y="2789540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9F65592-5654-3711-2EF2-CC52F16E3576}"/>
              </a:ext>
            </a:extLst>
          </p:cNvPr>
          <p:cNvSpPr txBox="1"/>
          <p:nvPr/>
        </p:nvSpPr>
        <p:spPr>
          <a:xfrm>
            <a:off x="6982091" y="5419533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77F8D92-982D-7028-C950-1952EC387F46}"/>
              </a:ext>
            </a:extLst>
          </p:cNvPr>
          <p:cNvSpPr txBox="1"/>
          <p:nvPr/>
        </p:nvSpPr>
        <p:spPr>
          <a:xfrm>
            <a:off x="512349" y="3198549"/>
            <a:ext cx="1785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de la classe source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0C6894F1-5F2C-C4B0-0626-73A50A925E6E}"/>
              </a:ext>
            </a:extLst>
          </p:cNvPr>
          <p:cNvSpPr txBox="1"/>
          <p:nvPr/>
        </p:nvSpPr>
        <p:spPr>
          <a:xfrm>
            <a:off x="4496789" y="5812179"/>
            <a:ext cx="1785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de test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obscurcie</a:t>
            </a:r>
            <a:endParaRPr lang="fr-FR" b="1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9C11EF5-F66A-2051-B6B1-65A0BFE2D6D6}"/>
              </a:ext>
            </a:extLst>
          </p:cNvPr>
          <p:cNvSpPr txBox="1"/>
          <p:nvPr/>
        </p:nvSpPr>
        <p:spPr>
          <a:xfrm>
            <a:off x="9938282" y="3183901"/>
            <a:ext cx="150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de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reconstruite</a:t>
            </a:r>
            <a:endParaRPr lang="fr-FR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433C81C3-8F23-12E9-1EC1-1A531A46F170}"/>
              </a:ext>
            </a:extLst>
          </p:cNvPr>
          <p:cNvCxnSpPr>
            <a:stCxn id="2" idx="3"/>
            <a:endCxn id="10" idx="2"/>
          </p:cNvCxnSpPr>
          <p:nvPr/>
        </p:nvCxnSpPr>
        <p:spPr>
          <a:xfrm flipV="1">
            <a:off x="2068755" y="2526200"/>
            <a:ext cx="369939" cy="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8A33B1A1-2D93-B1C0-255E-DF3205015277}"/>
              </a:ext>
            </a:extLst>
          </p:cNvPr>
          <p:cNvCxnSpPr>
            <a:stCxn id="10" idx="0"/>
            <a:endCxn id="15" idx="1"/>
          </p:cNvCxnSpPr>
          <p:nvPr/>
        </p:nvCxnSpPr>
        <p:spPr>
          <a:xfrm flipV="1">
            <a:off x="2933993" y="2526199"/>
            <a:ext cx="3674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8B1078E6-0E18-EBBE-A478-337E260AF56A}"/>
              </a:ext>
            </a:extLst>
          </p:cNvPr>
          <p:cNvCxnSpPr>
            <a:stCxn id="15" idx="3"/>
            <a:endCxn id="13" idx="0"/>
          </p:cNvCxnSpPr>
          <p:nvPr/>
        </p:nvCxnSpPr>
        <p:spPr>
          <a:xfrm>
            <a:off x="3488205" y="2526199"/>
            <a:ext cx="372397" cy="1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D3C113B6-8502-EA87-F366-65F56579D897}"/>
              </a:ext>
            </a:extLst>
          </p:cNvPr>
          <p:cNvCxnSpPr>
            <a:stCxn id="13" idx="2"/>
            <a:endCxn id="16" idx="1"/>
          </p:cNvCxnSpPr>
          <p:nvPr/>
        </p:nvCxnSpPr>
        <p:spPr>
          <a:xfrm flipV="1">
            <a:off x="4355901" y="2520224"/>
            <a:ext cx="369939" cy="7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2A4B8B5D-2791-52EE-CE24-EEBB99AF558F}"/>
              </a:ext>
            </a:extLst>
          </p:cNvPr>
          <p:cNvCxnSpPr>
            <a:stCxn id="16" idx="3"/>
            <a:endCxn id="17" idx="2"/>
          </p:cNvCxnSpPr>
          <p:nvPr/>
        </p:nvCxnSpPr>
        <p:spPr>
          <a:xfrm flipV="1">
            <a:off x="6053195" y="2514248"/>
            <a:ext cx="369939" cy="5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961553D2-94A8-6E74-3985-D8CE76537539}"/>
              </a:ext>
            </a:extLst>
          </p:cNvPr>
          <p:cNvCxnSpPr>
            <a:stCxn id="17" idx="0"/>
            <a:endCxn id="21" idx="1"/>
          </p:cNvCxnSpPr>
          <p:nvPr/>
        </p:nvCxnSpPr>
        <p:spPr>
          <a:xfrm flipV="1">
            <a:off x="6918433" y="2514247"/>
            <a:ext cx="36993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C85E64A5-CA9E-5575-E893-448D3AD9FBFE}"/>
              </a:ext>
            </a:extLst>
          </p:cNvPr>
          <p:cNvCxnSpPr>
            <a:stCxn id="21" idx="3"/>
            <a:endCxn id="22" idx="0"/>
          </p:cNvCxnSpPr>
          <p:nvPr/>
        </p:nvCxnSpPr>
        <p:spPr>
          <a:xfrm>
            <a:off x="7475100" y="2514247"/>
            <a:ext cx="1681073" cy="6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8C99C646-3D3A-4313-D4CE-28301446916D}"/>
              </a:ext>
            </a:extLst>
          </p:cNvPr>
          <p:cNvCxnSpPr>
            <a:stCxn id="22" idx="2"/>
            <a:endCxn id="23" idx="1"/>
          </p:cNvCxnSpPr>
          <p:nvPr/>
        </p:nvCxnSpPr>
        <p:spPr>
          <a:xfrm flipV="1">
            <a:off x="9651472" y="2513352"/>
            <a:ext cx="374973" cy="7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29B82F12-E71A-316C-EEF4-D65B478EC1E1}"/>
              </a:ext>
            </a:extLst>
          </p:cNvPr>
          <p:cNvCxnSpPr>
            <a:cxnSpLocks/>
          </p:cNvCxnSpPr>
          <p:nvPr/>
        </p:nvCxnSpPr>
        <p:spPr>
          <a:xfrm>
            <a:off x="8249265" y="2527094"/>
            <a:ext cx="0" cy="2144098"/>
          </a:xfrm>
          <a:prstGeom prst="line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53F368E3-B3CF-6BC7-242D-8ED8E02C4F83}"/>
              </a:ext>
            </a:extLst>
          </p:cNvPr>
          <p:cNvCxnSpPr>
            <a:stCxn id="20" idx="1"/>
            <a:endCxn id="24" idx="0"/>
          </p:cNvCxnSpPr>
          <p:nvPr/>
        </p:nvCxnSpPr>
        <p:spPr>
          <a:xfrm flipH="1" flipV="1">
            <a:off x="6918431" y="5149398"/>
            <a:ext cx="369938" cy="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E0328EDF-1357-6C4D-1DBB-794ABC936806}"/>
              </a:ext>
            </a:extLst>
          </p:cNvPr>
          <p:cNvCxnSpPr>
            <a:stCxn id="24" idx="2"/>
            <a:endCxn id="18" idx="3"/>
          </p:cNvCxnSpPr>
          <p:nvPr/>
        </p:nvCxnSpPr>
        <p:spPr>
          <a:xfrm flipH="1">
            <a:off x="6053195" y="5149398"/>
            <a:ext cx="369937" cy="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1CDD087-B65D-6FEC-8766-7891A9DDED2B}"/>
              </a:ext>
            </a:extLst>
          </p:cNvPr>
          <p:cNvSpPr/>
          <p:nvPr/>
        </p:nvSpPr>
        <p:spPr>
          <a:xfrm>
            <a:off x="7970399" y="4671192"/>
            <a:ext cx="1681073" cy="970152"/>
          </a:xfrm>
          <a:prstGeom prst="rect">
            <a:avLst/>
          </a:prstGeom>
          <a:solidFill>
            <a:srgbClr val="ECF1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Translation</a:t>
            </a:r>
          </a:p>
        </p:txBody>
      </p:sp>
      <p:pic>
        <p:nvPicPr>
          <p:cNvPr id="43" name="Image 42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60A11D08-EE01-3B80-1E94-7725EDE39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3968" y="3702660"/>
            <a:ext cx="466212" cy="466209"/>
          </a:xfrm>
          <a:prstGeom prst="rect">
            <a:avLst/>
          </a:prstGeom>
        </p:spPr>
      </p:pic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D5DB0A33-408E-6150-3774-EE1AA118CE02}"/>
              </a:ext>
            </a:extLst>
          </p:cNvPr>
          <p:cNvCxnSpPr>
            <a:cxnSpLocks/>
            <a:stCxn id="74" idx="1"/>
            <a:endCxn id="5" idx="3"/>
          </p:cNvCxnSpPr>
          <p:nvPr/>
        </p:nvCxnSpPr>
        <p:spPr>
          <a:xfrm flipH="1">
            <a:off x="9651472" y="5154915"/>
            <a:ext cx="433098" cy="1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38B00EE3-29E6-DB94-1DA0-8831580C77CB}"/>
              </a:ext>
            </a:extLst>
          </p:cNvPr>
          <p:cNvCxnSpPr>
            <a:cxnSpLocks/>
          </p:cNvCxnSpPr>
          <p:nvPr/>
        </p:nvCxnSpPr>
        <p:spPr>
          <a:xfrm>
            <a:off x="9357074" y="4227202"/>
            <a:ext cx="0" cy="443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5B5DC32A-C567-ABAA-7B25-BCC4802E5583}"/>
              </a:ext>
            </a:extLst>
          </p:cNvPr>
          <p:cNvCxnSpPr>
            <a:cxnSpLocks/>
            <a:stCxn id="5" idx="1"/>
            <a:endCxn id="20" idx="3"/>
          </p:cNvCxnSpPr>
          <p:nvPr/>
        </p:nvCxnSpPr>
        <p:spPr>
          <a:xfrm flipH="1" flipV="1">
            <a:off x="7475100" y="5150293"/>
            <a:ext cx="495299" cy="5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ZoneTexte 71">
            <a:extLst>
              <a:ext uri="{FF2B5EF4-FFF2-40B4-BE49-F238E27FC236}">
                <a16:creationId xmlns:a16="http://schemas.microsoft.com/office/drawing/2014/main" id="{D6786306-7185-FF36-A5F0-BA6BC0482B59}"/>
              </a:ext>
            </a:extLst>
          </p:cNvPr>
          <p:cNvSpPr txBox="1"/>
          <p:nvPr/>
        </p:nvSpPr>
        <p:spPr>
          <a:xfrm>
            <a:off x="9938282" y="5496633"/>
            <a:ext cx="148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Vecteurs de translation</a:t>
            </a:r>
            <a:endParaRPr lang="fr-FR" b="1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FF1F38C2-6F09-1527-C77D-893CA8DF9F5D}"/>
              </a:ext>
            </a:extLst>
          </p:cNvPr>
          <p:cNvGrpSpPr/>
          <p:nvPr/>
        </p:nvGrpSpPr>
        <p:grpSpPr>
          <a:xfrm>
            <a:off x="10084570" y="4837907"/>
            <a:ext cx="1211103" cy="589246"/>
            <a:chOff x="10142697" y="5135087"/>
            <a:chExt cx="1211103" cy="58924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FBBC45A-2E3E-B52F-E8F2-9B452E97443D}"/>
                </a:ext>
              </a:extLst>
            </p:cNvPr>
            <p:cNvSpPr/>
            <p:nvPr/>
          </p:nvSpPr>
          <p:spPr>
            <a:xfrm>
              <a:off x="10516159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5018AF9-A766-043C-2AA3-374F50B46E66}"/>
                </a:ext>
              </a:extLst>
            </p:cNvPr>
            <p:cNvSpPr/>
            <p:nvPr/>
          </p:nvSpPr>
          <p:spPr>
            <a:xfrm>
              <a:off x="11145686" y="5185853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7D093313-A4B8-4EBF-D7D8-4534C2A0EC86}"/>
                </a:ext>
              </a:extLst>
            </p:cNvPr>
            <p:cNvSpPr txBox="1"/>
            <p:nvPr/>
          </p:nvSpPr>
          <p:spPr>
            <a:xfrm>
              <a:off x="10492026" y="5135087"/>
              <a:ext cx="861774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  <a:endParaRPr lang="fr-FR" sz="2400" b="1" baseline="-25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D257683-E398-5837-7D2A-565475B978A8}"/>
                </a:ext>
              </a:extLst>
            </p:cNvPr>
            <p:cNvSpPr/>
            <p:nvPr/>
          </p:nvSpPr>
          <p:spPr>
            <a:xfrm>
              <a:off x="10329428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4AC0CCE-71A9-904E-C053-24FB25F89880}"/>
                </a:ext>
              </a:extLst>
            </p:cNvPr>
            <p:cNvSpPr/>
            <p:nvPr/>
          </p:nvSpPr>
          <p:spPr>
            <a:xfrm>
              <a:off x="10142697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776490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A5A2E-4C8E-C356-EBED-4F5134FB0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EFFF587-A514-2F9F-529E-C15BE981F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Étape de </a:t>
            </a:r>
            <a:r>
              <a:rPr lang="fr-FR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désobscuration</a:t>
            </a:r>
            <a:endParaRPr lang="fr-F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BC89BC-3597-D5BB-826B-662240D8A4C1}"/>
              </a:ext>
            </a:extLst>
          </p:cNvPr>
          <p:cNvSpPr/>
          <p:nvPr/>
        </p:nvSpPr>
        <p:spPr>
          <a:xfrm>
            <a:off x="4187360" y="1856546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</a:p>
        </p:txBody>
      </p:sp>
      <p:sp>
        <p:nvSpPr>
          <p:cNvPr id="17" name="Trapèze 16">
            <a:extLst>
              <a:ext uri="{FF2B5EF4-FFF2-40B4-BE49-F238E27FC236}">
                <a16:creationId xmlns:a16="http://schemas.microsoft.com/office/drawing/2014/main" id="{8A795358-46F2-05A6-FA66-BE2E2D2CDEC3}"/>
              </a:ext>
            </a:extLst>
          </p:cNvPr>
          <p:cNvSpPr/>
          <p:nvPr/>
        </p:nvSpPr>
        <p:spPr>
          <a:xfrm rot="5400000">
            <a:off x="5469522" y="2266598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EFEAD7-1226-B7EB-41F4-2BC3EE6D89DC}"/>
              </a:ext>
            </a:extLst>
          </p:cNvPr>
          <p:cNvSpPr/>
          <p:nvPr/>
        </p:nvSpPr>
        <p:spPr>
          <a:xfrm>
            <a:off x="4187360" y="4486616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Î</a:t>
            </a:r>
            <a:endParaRPr lang="fr-FR" sz="3600" baseline="-25000" dirty="0">
              <a:solidFill>
                <a:schemeClr val="tx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0D825E-B6BA-4D9E-2182-267AB4A6EB8C}"/>
              </a:ext>
            </a:extLst>
          </p:cNvPr>
          <p:cNvSpPr/>
          <p:nvPr/>
        </p:nvSpPr>
        <p:spPr>
          <a:xfrm>
            <a:off x="6749889" y="4881053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A27B73-827F-1A30-DECC-21B934C09716}"/>
              </a:ext>
            </a:extLst>
          </p:cNvPr>
          <p:cNvSpPr/>
          <p:nvPr/>
        </p:nvSpPr>
        <p:spPr>
          <a:xfrm>
            <a:off x="6749889" y="2245007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rapèze 23">
            <a:extLst>
              <a:ext uri="{FF2B5EF4-FFF2-40B4-BE49-F238E27FC236}">
                <a16:creationId xmlns:a16="http://schemas.microsoft.com/office/drawing/2014/main" id="{523787EA-7DCB-D561-AA6F-195F5D09FDEB}"/>
              </a:ext>
            </a:extLst>
          </p:cNvPr>
          <p:cNvSpPr/>
          <p:nvPr/>
        </p:nvSpPr>
        <p:spPr>
          <a:xfrm rot="5400000">
            <a:off x="5469520" y="4901748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312C981C-1C15-544A-6902-99520BCE31C6}"/>
              </a:ext>
            </a:extLst>
          </p:cNvPr>
          <p:cNvSpPr txBox="1"/>
          <p:nvPr/>
        </p:nvSpPr>
        <p:spPr>
          <a:xfrm>
            <a:off x="6443611" y="2789540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C52D6B8-E977-141D-8A80-76AE9E3AB1E2}"/>
              </a:ext>
            </a:extLst>
          </p:cNvPr>
          <p:cNvSpPr txBox="1"/>
          <p:nvPr/>
        </p:nvSpPr>
        <p:spPr>
          <a:xfrm>
            <a:off x="6443611" y="5419533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r>
              <a:rPr lang="fr-FR" baseline="30000" dirty="0">
                <a:latin typeface="Consolas" panose="020B0609020204030204" pitchFamily="49" charset="0"/>
                <a:cs typeface="Cascadia Code" panose="020B0609020000020004" pitchFamily="49" charset="0"/>
              </a:rPr>
              <a:t>-1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B318C2CE-13C9-604F-62E2-022EB8C46110}"/>
              </a:ext>
            </a:extLst>
          </p:cNvPr>
          <p:cNvSpPr txBox="1"/>
          <p:nvPr/>
        </p:nvSpPr>
        <p:spPr>
          <a:xfrm>
            <a:off x="3958309" y="5812179"/>
            <a:ext cx="1785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désobscurcie</a:t>
            </a:r>
            <a:endParaRPr lang="fr-FR" b="1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B6F655CF-4C7F-BEFA-4BED-20FB22FD77C2}"/>
              </a:ext>
            </a:extLst>
          </p:cNvPr>
          <p:cNvCxnSpPr>
            <a:stCxn id="16" idx="3"/>
            <a:endCxn id="17" idx="2"/>
          </p:cNvCxnSpPr>
          <p:nvPr/>
        </p:nvCxnSpPr>
        <p:spPr>
          <a:xfrm flipV="1">
            <a:off x="5514715" y="2514248"/>
            <a:ext cx="369939" cy="5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97961439-943A-A88F-328D-4736AC3F4967}"/>
              </a:ext>
            </a:extLst>
          </p:cNvPr>
          <p:cNvCxnSpPr>
            <a:stCxn id="17" idx="0"/>
            <a:endCxn id="21" idx="1"/>
          </p:cNvCxnSpPr>
          <p:nvPr/>
        </p:nvCxnSpPr>
        <p:spPr>
          <a:xfrm flipV="1">
            <a:off x="6379953" y="2514247"/>
            <a:ext cx="36993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65B301D7-B7EF-10CE-EBF5-3ECB5AD792EE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6936620" y="2514247"/>
            <a:ext cx="774165" cy="0"/>
          </a:xfrm>
          <a:prstGeom prst="straightConnector1">
            <a:avLst/>
          </a:prstGeom>
          <a:ln cap="rnd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395990CD-9D8B-CDE9-333A-6DCDDD9DDC0E}"/>
              </a:ext>
            </a:extLst>
          </p:cNvPr>
          <p:cNvCxnSpPr>
            <a:cxnSpLocks/>
          </p:cNvCxnSpPr>
          <p:nvPr/>
        </p:nvCxnSpPr>
        <p:spPr>
          <a:xfrm>
            <a:off x="7710785" y="2514247"/>
            <a:ext cx="0" cy="2156945"/>
          </a:xfrm>
          <a:prstGeom prst="line">
            <a:avLst/>
          </a:prstGeom>
          <a:ln cap="rnd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04C23784-4333-376A-4FBC-D80F6B9BEA63}"/>
              </a:ext>
            </a:extLst>
          </p:cNvPr>
          <p:cNvCxnSpPr>
            <a:stCxn id="20" idx="1"/>
            <a:endCxn id="24" idx="0"/>
          </p:cNvCxnSpPr>
          <p:nvPr/>
        </p:nvCxnSpPr>
        <p:spPr>
          <a:xfrm flipH="1" flipV="1">
            <a:off x="6379951" y="5149398"/>
            <a:ext cx="369938" cy="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D23D78D9-1ED1-9A27-4B07-CFE347FCD85A}"/>
              </a:ext>
            </a:extLst>
          </p:cNvPr>
          <p:cNvCxnSpPr>
            <a:stCxn id="24" idx="2"/>
            <a:endCxn id="18" idx="3"/>
          </p:cNvCxnSpPr>
          <p:nvPr/>
        </p:nvCxnSpPr>
        <p:spPr>
          <a:xfrm flipH="1">
            <a:off x="5514715" y="5149398"/>
            <a:ext cx="369937" cy="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0E76EDA-BD32-DA83-5B92-C56D6C75DDBF}"/>
              </a:ext>
            </a:extLst>
          </p:cNvPr>
          <p:cNvSpPr/>
          <p:nvPr/>
        </p:nvSpPr>
        <p:spPr>
          <a:xfrm>
            <a:off x="7431919" y="4671192"/>
            <a:ext cx="1681073" cy="970152"/>
          </a:xfrm>
          <a:prstGeom prst="rect">
            <a:avLst/>
          </a:prstGeom>
          <a:solidFill>
            <a:srgbClr val="ECF1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Translation</a:t>
            </a:r>
          </a:p>
        </p:txBody>
      </p:sp>
      <p:pic>
        <p:nvPicPr>
          <p:cNvPr id="43" name="Image 42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D5D69BB7-605A-8D17-2303-C6308BFAC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488" y="3702660"/>
            <a:ext cx="466212" cy="466209"/>
          </a:xfrm>
          <a:prstGeom prst="rect">
            <a:avLst/>
          </a:prstGeom>
        </p:spPr>
      </p:pic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51E578F1-6890-433B-B7D3-8855D950217E}"/>
              </a:ext>
            </a:extLst>
          </p:cNvPr>
          <p:cNvCxnSpPr>
            <a:cxnSpLocks/>
            <a:stCxn id="74" idx="1"/>
            <a:endCxn id="5" idx="3"/>
          </p:cNvCxnSpPr>
          <p:nvPr/>
        </p:nvCxnSpPr>
        <p:spPr>
          <a:xfrm flipH="1">
            <a:off x="9112992" y="5154915"/>
            <a:ext cx="433098" cy="1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4656B709-AD79-6457-833E-3872D2DBFF7B}"/>
              </a:ext>
            </a:extLst>
          </p:cNvPr>
          <p:cNvCxnSpPr>
            <a:cxnSpLocks/>
          </p:cNvCxnSpPr>
          <p:nvPr/>
        </p:nvCxnSpPr>
        <p:spPr>
          <a:xfrm>
            <a:off x="8818594" y="4227202"/>
            <a:ext cx="0" cy="443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3852C701-EE05-C893-6B8F-0D30207D0821}"/>
              </a:ext>
            </a:extLst>
          </p:cNvPr>
          <p:cNvCxnSpPr>
            <a:cxnSpLocks/>
            <a:stCxn id="5" idx="1"/>
            <a:endCxn id="20" idx="3"/>
          </p:cNvCxnSpPr>
          <p:nvPr/>
        </p:nvCxnSpPr>
        <p:spPr>
          <a:xfrm flipH="1" flipV="1">
            <a:off x="6936620" y="5150293"/>
            <a:ext cx="495299" cy="5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ZoneTexte 71">
            <a:extLst>
              <a:ext uri="{FF2B5EF4-FFF2-40B4-BE49-F238E27FC236}">
                <a16:creationId xmlns:a16="http://schemas.microsoft.com/office/drawing/2014/main" id="{4EEE4D28-E543-5552-6FE2-ACB6F58A9044}"/>
              </a:ext>
            </a:extLst>
          </p:cNvPr>
          <p:cNvSpPr txBox="1"/>
          <p:nvPr/>
        </p:nvSpPr>
        <p:spPr>
          <a:xfrm>
            <a:off x="9399802" y="5496633"/>
            <a:ext cx="148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Vecteurs de translation</a:t>
            </a:r>
            <a:endParaRPr lang="fr-FR" b="1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594A7362-DE91-CA7C-F18C-F686703BE782}"/>
              </a:ext>
            </a:extLst>
          </p:cNvPr>
          <p:cNvGrpSpPr/>
          <p:nvPr/>
        </p:nvGrpSpPr>
        <p:grpSpPr>
          <a:xfrm>
            <a:off x="9546090" y="4837907"/>
            <a:ext cx="1211103" cy="589246"/>
            <a:chOff x="10142697" y="5135087"/>
            <a:chExt cx="1211103" cy="58924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74D53DE-C7E1-11E0-19B8-3B67CF804A55}"/>
                </a:ext>
              </a:extLst>
            </p:cNvPr>
            <p:cNvSpPr/>
            <p:nvPr/>
          </p:nvSpPr>
          <p:spPr>
            <a:xfrm>
              <a:off x="10516159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DFE8CC4-0098-EFCF-2A41-852783CF94C2}"/>
                </a:ext>
              </a:extLst>
            </p:cNvPr>
            <p:cNvSpPr/>
            <p:nvPr/>
          </p:nvSpPr>
          <p:spPr>
            <a:xfrm>
              <a:off x="11145686" y="5185853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E950740E-45C2-B95E-A0A7-B8CA0FBA755D}"/>
                </a:ext>
              </a:extLst>
            </p:cNvPr>
            <p:cNvSpPr txBox="1"/>
            <p:nvPr/>
          </p:nvSpPr>
          <p:spPr>
            <a:xfrm>
              <a:off x="10492026" y="5135087"/>
              <a:ext cx="861774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  <a:endParaRPr lang="fr-FR" sz="2400" b="1" baseline="-25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C503FB6-9753-E54B-6699-F200A6EC2A46}"/>
                </a:ext>
              </a:extLst>
            </p:cNvPr>
            <p:cNvSpPr/>
            <p:nvPr/>
          </p:nvSpPr>
          <p:spPr>
            <a:xfrm>
              <a:off x="10329428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4784DE2-70AE-D8F2-D7A6-E9171A7E6B22}"/>
                </a:ext>
              </a:extLst>
            </p:cNvPr>
            <p:cNvSpPr/>
            <p:nvPr/>
          </p:nvSpPr>
          <p:spPr>
            <a:xfrm>
              <a:off x="10142697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FC4252A6-4110-FDA2-0635-1CB23072AB74}"/>
              </a:ext>
            </a:extLst>
          </p:cNvPr>
          <p:cNvSpPr txBox="1"/>
          <p:nvPr/>
        </p:nvSpPr>
        <p:spPr>
          <a:xfrm>
            <a:off x="4084321" y="3177029"/>
            <a:ext cx="1533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obscurcie</a:t>
            </a:r>
            <a:endParaRPr lang="fr-FR" b="1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687431-A7BD-615D-389E-99625FD0BE2F}"/>
              </a:ext>
            </a:extLst>
          </p:cNvPr>
          <p:cNvSpPr/>
          <p:nvPr/>
        </p:nvSpPr>
        <p:spPr>
          <a:xfrm>
            <a:off x="1461729" y="4492591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FE85CA7-DFC7-3757-1450-189368D72254}"/>
              </a:ext>
            </a:extLst>
          </p:cNvPr>
          <p:cNvSpPr txBox="1"/>
          <p:nvPr/>
        </p:nvSpPr>
        <p:spPr>
          <a:xfrm>
            <a:off x="1602615" y="5819946"/>
            <a:ext cx="1045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  <a:endParaRPr lang="fr-FR" b="1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73FE2AAB-83AB-3F79-4317-AFA9CE31F48E}"/>
              </a:ext>
            </a:extLst>
          </p:cNvPr>
          <p:cNvSpPr txBox="1"/>
          <p:nvPr/>
        </p:nvSpPr>
        <p:spPr>
          <a:xfrm>
            <a:off x="2789084" y="4371438"/>
            <a:ext cx="13982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≈</a:t>
            </a:r>
            <a:endParaRPr lang="fr-FR" sz="9600" baseline="-25000" dirty="0">
              <a:solidFill>
                <a:schemeClr val="bg2">
                  <a:lumMod val="75000"/>
                </a:schemeClr>
              </a:solidFill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58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A0672-9294-3BA4-6937-42ADBD63A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>
            <a:extLst>
              <a:ext uri="{FF2B5EF4-FFF2-40B4-BE49-F238E27FC236}">
                <a16:creationId xmlns:a16="http://schemas.microsoft.com/office/drawing/2014/main" id="{E49A6C1D-0E06-F81A-4597-BF9336470399}"/>
              </a:ext>
            </a:extLst>
          </p:cNvPr>
          <p:cNvSpPr/>
          <p:nvPr/>
        </p:nvSpPr>
        <p:spPr>
          <a:xfrm rot="851835">
            <a:off x="1223788" y="1961008"/>
            <a:ext cx="2880852" cy="177963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4114BB71-2283-CA1E-1D57-897E6914B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</a:t>
            </a:r>
            <a:br>
              <a:rPr lang="fr-FR" dirty="0"/>
            </a:br>
            <a:r>
              <a:rPr lang="fr-FR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Désobscuration</a:t>
            </a:r>
            <a:endParaRPr lang="fr-F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4C0F56D-7545-A838-4DED-7ABB3A05AAE5}"/>
              </a:ext>
            </a:extLst>
          </p:cNvPr>
          <p:cNvSpPr/>
          <p:nvPr/>
        </p:nvSpPr>
        <p:spPr>
          <a:xfrm rot="20017351">
            <a:off x="2366539" y="3918203"/>
            <a:ext cx="2317936" cy="220859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7867FC16-5A9E-97CB-7BE1-1494F7E3E9E2}"/>
              </a:ext>
            </a:extLst>
          </p:cNvPr>
          <p:cNvSpPr/>
          <p:nvPr/>
        </p:nvSpPr>
        <p:spPr>
          <a:xfrm rot="3925294">
            <a:off x="3707203" y="2934261"/>
            <a:ext cx="3811777" cy="167663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8CD7DA1-AF4E-C21F-A667-7C7C5AB72164}"/>
              </a:ext>
            </a:extLst>
          </p:cNvPr>
          <p:cNvSpPr/>
          <p:nvPr/>
        </p:nvSpPr>
        <p:spPr>
          <a:xfrm>
            <a:off x="2582402" y="2776161"/>
            <a:ext cx="163624" cy="1636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9E61AC6A-B830-4F22-27FF-58CA1C451CC5}"/>
              </a:ext>
            </a:extLst>
          </p:cNvPr>
          <p:cNvSpPr/>
          <p:nvPr/>
        </p:nvSpPr>
        <p:spPr>
          <a:xfrm>
            <a:off x="5531279" y="3726426"/>
            <a:ext cx="163624" cy="1636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5CFCA332-DA57-0214-DD0E-6D8523CD22B5}"/>
              </a:ext>
            </a:extLst>
          </p:cNvPr>
          <p:cNvSpPr/>
          <p:nvPr/>
        </p:nvSpPr>
        <p:spPr>
          <a:xfrm>
            <a:off x="3443695" y="4966584"/>
            <a:ext cx="163624" cy="16362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64E3CADF-4051-38D1-EE88-17651ADA6136}"/>
              </a:ext>
            </a:extLst>
          </p:cNvPr>
          <p:cNvCxnSpPr>
            <a:cxnSpLocks/>
          </p:cNvCxnSpPr>
          <p:nvPr/>
        </p:nvCxnSpPr>
        <p:spPr>
          <a:xfrm>
            <a:off x="2664214" y="2863129"/>
            <a:ext cx="2952873" cy="953921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prstDash val="sys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igne de multiplication 23">
            <a:extLst>
              <a:ext uri="{FF2B5EF4-FFF2-40B4-BE49-F238E27FC236}">
                <a16:creationId xmlns:a16="http://schemas.microsoft.com/office/drawing/2014/main" id="{A0ED5869-F923-4AD8-238C-9D07625F484D}"/>
              </a:ext>
            </a:extLst>
          </p:cNvPr>
          <p:cNvSpPr/>
          <p:nvPr/>
        </p:nvSpPr>
        <p:spPr>
          <a:xfrm>
            <a:off x="5477471" y="4163422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Signe de multiplication 22">
            <a:extLst>
              <a:ext uri="{FF2B5EF4-FFF2-40B4-BE49-F238E27FC236}">
                <a16:creationId xmlns:a16="http://schemas.microsoft.com/office/drawing/2014/main" id="{D1827AA1-F77F-174C-B90B-87561FA336A4}"/>
              </a:ext>
            </a:extLst>
          </p:cNvPr>
          <p:cNvSpPr/>
          <p:nvPr/>
        </p:nvSpPr>
        <p:spPr>
          <a:xfrm>
            <a:off x="2528903" y="3215118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7415CC28-1C3F-D0BF-7886-E53A3E7E2557}"/>
              </a:ext>
            </a:extLst>
          </p:cNvPr>
          <p:cNvCxnSpPr>
            <a:cxnSpLocks/>
          </p:cNvCxnSpPr>
          <p:nvPr/>
        </p:nvCxnSpPr>
        <p:spPr>
          <a:xfrm>
            <a:off x="2647871" y="3332125"/>
            <a:ext cx="2948877" cy="950265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B25A2F27-DF7F-BD8C-67D4-1A2292D82EA4}"/>
              </a:ext>
            </a:extLst>
          </p:cNvPr>
          <p:cNvSpPr txBox="1"/>
          <p:nvPr/>
        </p:nvSpPr>
        <p:spPr>
          <a:xfrm>
            <a:off x="3846555" y="3373872"/>
            <a:ext cx="7992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j→i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BD67D5CF-E54A-B8DB-69E4-E1D03B0210F9}"/>
              </a:ext>
            </a:extLst>
          </p:cNvPr>
          <p:cNvSpPr txBox="1"/>
          <p:nvPr/>
        </p:nvSpPr>
        <p:spPr>
          <a:xfrm>
            <a:off x="2083335" y="2420797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832E343-2CED-DCEF-F72D-6DD91EC1DB04}"/>
              </a:ext>
            </a:extLst>
          </p:cNvPr>
          <p:cNvSpPr txBox="1"/>
          <p:nvPr/>
        </p:nvSpPr>
        <p:spPr>
          <a:xfrm>
            <a:off x="5403014" y="3415078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FE3B8041-29BE-6B9F-B89E-1DEBB3C99446}"/>
              </a:ext>
            </a:extLst>
          </p:cNvPr>
          <p:cNvSpPr txBox="1"/>
          <p:nvPr/>
        </p:nvSpPr>
        <p:spPr>
          <a:xfrm>
            <a:off x="3214881" y="5116060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k</a:t>
            </a:r>
            <a:endParaRPr lang="fr-FR" baseline="300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1C4A0A70-DC15-66C4-D690-154E2017552B}"/>
              </a:ext>
            </a:extLst>
          </p:cNvPr>
          <p:cNvSpPr txBox="1"/>
          <p:nvPr/>
        </p:nvSpPr>
        <p:spPr>
          <a:xfrm>
            <a:off x="1967554" y="2997935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Î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0C4D8A20-F79F-14A7-A7B4-F48EF64979EE}"/>
              </a:ext>
            </a:extLst>
          </p:cNvPr>
          <p:cNvSpPr txBox="1"/>
          <p:nvPr/>
        </p:nvSpPr>
        <p:spPr>
          <a:xfrm>
            <a:off x="5403170" y="4295806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CCF497BA-3FCE-0381-C54D-5003EF001EFC}"/>
              </a:ext>
            </a:extLst>
          </p:cNvPr>
          <p:cNvSpPr txBox="1"/>
          <p:nvPr/>
        </p:nvSpPr>
        <p:spPr>
          <a:xfrm>
            <a:off x="759612" y="3531698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A92C6240-0A10-4328-9E26-82A667058679}"/>
              </a:ext>
            </a:extLst>
          </p:cNvPr>
          <p:cNvSpPr txBox="1"/>
          <p:nvPr/>
        </p:nvSpPr>
        <p:spPr>
          <a:xfrm>
            <a:off x="5559771" y="5556166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j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3D2A3E88-4461-F56D-C75A-DBC0FB0034C4}"/>
              </a:ext>
            </a:extLst>
          </p:cNvPr>
          <p:cNvSpPr txBox="1"/>
          <p:nvPr/>
        </p:nvSpPr>
        <p:spPr>
          <a:xfrm>
            <a:off x="2702191" y="6099001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k</a:t>
            </a:r>
            <a:endParaRPr lang="fr-FR" baseline="300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12E44DFD-E9AA-7D6C-99E9-BF94675D6F37}"/>
              </a:ext>
            </a:extLst>
          </p:cNvPr>
          <p:cNvSpPr txBox="1"/>
          <p:nvPr/>
        </p:nvSpPr>
        <p:spPr>
          <a:xfrm>
            <a:off x="7472294" y="2514129"/>
            <a:ext cx="4110983" cy="260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Formule de la translation inverse (classe </a:t>
            </a:r>
            <a:r>
              <a:rPr lang="fr-FR" sz="2000" b="1" dirty="0">
                <a:solidFill>
                  <a:schemeClr val="accent6"/>
                </a:solidFill>
              </a:rPr>
              <a:t>j</a:t>
            </a:r>
            <a:r>
              <a:rPr lang="fr-FR" sz="2000" dirty="0"/>
              <a:t> vers la classe </a:t>
            </a:r>
            <a:r>
              <a:rPr lang="fr-FR" sz="2000" b="1" dirty="0">
                <a:solidFill>
                  <a:schemeClr val="accent2"/>
                </a:solidFill>
              </a:rPr>
              <a:t>i</a:t>
            </a:r>
            <a:r>
              <a:rPr lang="fr-FR" sz="2000" dirty="0"/>
              <a:t>) :</a:t>
            </a:r>
            <a:endParaRPr lang="fr-FR" sz="2000" b="1" dirty="0"/>
          </a:p>
          <a:p>
            <a:pPr algn="ctr"/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r>
              <a:rPr lang="fr-FR" sz="3200" baseline="30000" dirty="0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-1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 = V</a:t>
            </a:r>
            <a:r>
              <a:rPr lang="fr-FR" sz="3200" baseline="-25000" dirty="0">
                <a:solidFill>
                  <a:schemeClr val="accent6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 + </a:t>
            </a:r>
            <a:r>
              <a:rPr lang="fr-FR" sz="3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 err="1">
                <a:solidFill>
                  <a:schemeClr val="accent6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</a:t>
            </a:r>
            <a:r>
              <a:rPr lang="fr-FR" sz="3200" baseline="-25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→</a:t>
            </a:r>
            <a:r>
              <a:rPr lang="fr-FR" sz="3200" baseline="-25000" dirty="0" err="1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endParaRPr lang="fr-FR" sz="3200" baseline="-25000" dirty="0">
              <a:solidFill>
                <a:schemeClr val="accent2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endParaRPr lang="fr-FR" sz="2000" baseline="-25000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Les classes source et cible sont connues</a:t>
            </a:r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93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FCF8B-8B9C-1C4C-4048-3E2F428FC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60D779E-B1DC-E3E4-5149-966A06A4B32E}"/>
              </a:ext>
            </a:extLst>
          </p:cNvPr>
          <p:cNvCxnSpPr>
            <a:cxnSpLocks/>
          </p:cNvCxnSpPr>
          <p:nvPr/>
        </p:nvCxnSpPr>
        <p:spPr>
          <a:xfrm flipV="1">
            <a:off x="6096000" y="1995488"/>
            <a:ext cx="0" cy="1888254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re 3">
            <a:extLst>
              <a:ext uri="{FF2B5EF4-FFF2-40B4-BE49-F238E27FC236}">
                <a16:creationId xmlns:a16="http://schemas.microsoft.com/office/drawing/2014/main" id="{EB81A7F8-10FB-A356-B835-092DBDC51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Évaluation de l’obscuration (classification)</a:t>
            </a:r>
            <a:endParaRPr lang="fr-FR" dirty="0"/>
          </a:p>
        </p:txBody>
      </p:sp>
      <p:pic>
        <p:nvPicPr>
          <p:cNvPr id="2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04B81478-E626-3497-7765-9779A382A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65" y="2736267"/>
            <a:ext cx="3111202" cy="1817779"/>
          </a:xfrm>
        </p:spPr>
      </p:pic>
      <p:pic>
        <p:nvPicPr>
          <p:cNvPr id="5" name="Image 4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DB812EC2-0BF1-BD6A-B808-C82C8E7974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399" y="2736265"/>
            <a:ext cx="3111202" cy="1817780"/>
          </a:xfrm>
          <a:prstGeom prst="rect">
            <a:avLst/>
          </a:prstGeom>
        </p:spPr>
      </p:pic>
      <p:pic>
        <p:nvPicPr>
          <p:cNvPr id="6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FDD1D612-0C41-8330-FCAC-648C4461E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834" y="2736266"/>
            <a:ext cx="3111202" cy="1817779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4AE38404-302E-E1FF-9E8C-E9D723BDBB20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3448167" y="3645155"/>
            <a:ext cx="1092232" cy="2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A97DE6B9-4ED3-1688-034C-F18AC30F3F4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651601" y="3645155"/>
            <a:ext cx="1092233" cy="1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rganigramme : Opération manuelle 20">
            <a:extLst>
              <a:ext uri="{FF2B5EF4-FFF2-40B4-BE49-F238E27FC236}">
                <a16:creationId xmlns:a16="http://schemas.microsoft.com/office/drawing/2014/main" id="{059B107D-2B17-2723-3E19-81F1EBA45244}"/>
              </a:ext>
            </a:extLst>
          </p:cNvPr>
          <p:cNvSpPr/>
          <p:nvPr/>
        </p:nvSpPr>
        <p:spPr>
          <a:xfrm>
            <a:off x="336965" y="4820130"/>
            <a:ext cx="311120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2" name="Organigramme : Opération manuelle 21">
            <a:extLst>
              <a:ext uri="{FF2B5EF4-FFF2-40B4-BE49-F238E27FC236}">
                <a16:creationId xmlns:a16="http://schemas.microsoft.com/office/drawing/2014/main" id="{D7449BED-3A17-6CEF-189B-D7A53AAAB75F}"/>
              </a:ext>
            </a:extLst>
          </p:cNvPr>
          <p:cNvSpPr/>
          <p:nvPr/>
        </p:nvSpPr>
        <p:spPr>
          <a:xfrm>
            <a:off x="4540400" y="4820130"/>
            <a:ext cx="311120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3" name="Organigramme : Opération manuelle 22">
            <a:extLst>
              <a:ext uri="{FF2B5EF4-FFF2-40B4-BE49-F238E27FC236}">
                <a16:creationId xmlns:a16="http://schemas.microsoft.com/office/drawing/2014/main" id="{D89C4E99-BE03-F09E-4342-21683CAF3BF3}"/>
              </a:ext>
            </a:extLst>
          </p:cNvPr>
          <p:cNvSpPr/>
          <p:nvPr/>
        </p:nvSpPr>
        <p:spPr>
          <a:xfrm>
            <a:off x="8743835" y="4820130"/>
            <a:ext cx="311120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38835E8-1BDA-2089-18D4-423ECF7ABBDA}"/>
              </a:ext>
            </a:extLst>
          </p:cNvPr>
          <p:cNvSpPr txBox="1"/>
          <p:nvPr/>
        </p:nvSpPr>
        <p:spPr>
          <a:xfrm>
            <a:off x="509935" y="5446089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678E2F8-D19D-E55E-08FE-69542C25BB1A}"/>
              </a:ext>
            </a:extLst>
          </p:cNvPr>
          <p:cNvSpPr txBox="1"/>
          <p:nvPr/>
        </p:nvSpPr>
        <p:spPr>
          <a:xfrm>
            <a:off x="8916810" y="5446089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D5F7E9D-4FCE-F996-C77B-26A034D44623}"/>
              </a:ext>
            </a:extLst>
          </p:cNvPr>
          <p:cNvSpPr txBox="1"/>
          <p:nvPr/>
        </p:nvSpPr>
        <p:spPr>
          <a:xfrm>
            <a:off x="4713370" y="5446089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4	1	7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DB4DC42-1116-C49E-AAB3-5E1AFB6A634B}"/>
              </a:ext>
            </a:extLst>
          </p:cNvPr>
          <p:cNvSpPr txBox="1"/>
          <p:nvPr/>
        </p:nvSpPr>
        <p:spPr>
          <a:xfrm>
            <a:off x="0" y="2038648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Obscuration</a:t>
            </a:r>
            <a:endParaRPr lang="fr-FR" sz="3200" b="1" baseline="-250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F9BDDB1-30C4-AEE3-36C8-02BE2317A955}"/>
              </a:ext>
            </a:extLst>
          </p:cNvPr>
          <p:cNvSpPr txBox="1"/>
          <p:nvPr/>
        </p:nvSpPr>
        <p:spPr>
          <a:xfrm>
            <a:off x="6096000" y="2037856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Désobscuration</a:t>
            </a:r>
            <a:endParaRPr lang="fr-FR" sz="3200" b="1" baseline="-25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077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15A70-F51A-A3DD-806B-C24B5E3C7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89C2B19-0189-B16D-9774-E40E4084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E65E78-158A-BCDB-F109-B7550E8E1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134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6C49A-C6F9-B677-4832-DC6F1926A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4A149B1-B6BD-3636-74DA-07679F15B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Dataset</a:t>
            </a:r>
            <a:endParaRPr lang="fr-FR" dirty="0"/>
          </a:p>
        </p:txBody>
      </p:sp>
      <p:pic>
        <p:nvPicPr>
          <p:cNvPr id="2" name="Picture 2" descr="MNIST database - Wikipedia">
            <a:extLst>
              <a:ext uri="{FF2B5EF4-FFF2-40B4-BE49-F238E27FC236}">
                <a16:creationId xmlns:a16="http://schemas.microsoft.com/office/drawing/2014/main" id="{158A396B-2B90-A0E8-1680-67114EB84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995" y="3645145"/>
            <a:ext cx="5564009" cy="2764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4">
            <a:extLst>
              <a:ext uri="{FF2B5EF4-FFF2-40B4-BE49-F238E27FC236}">
                <a16:creationId xmlns:a16="http://schemas.microsoft.com/office/drawing/2014/main" id="{345F4B88-D7F4-DE13-380A-97513DC84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0372"/>
            <a:ext cx="10515600" cy="2857255"/>
          </a:xfrm>
        </p:spPr>
        <p:txBody>
          <a:bodyPr/>
          <a:lstStyle/>
          <a:p>
            <a:r>
              <a:rPr lang="fr-FR" dirty="0" err="1"/>
              <a:t>Dataset</a:t>
            </a:r>
            <a:r>
              <a:rPr lang="fr-FR" dirty="0"/>
              <a:t> d’images dessinées </a:t>
            </a:r>
            <a:r>
              <a:rPr lang="fr-FR" b="1" dirty="0"/>
              <a:t>MNIST</a:t>
            </a:r>
          </a:p>
          <a:p>
            <a:r>
              <a:rPr lang="fr-FR" b="1" dirty="0"/>
              <a:t>60 000</a:t>
            </a:r>
            <a:r>
              <a:rPr lang="fr-FR" dirty="0"/>
              <a:t> images d’entraînement</a:t>
            </a:r>
          </a:p>
          <a:p>
            <a:r>
              <a:rPr lang="fr-FR" b="1" dirty="0"/>
              <a:t>10 000</a:t>
            </a:r>
            <a:r>
              <a:rPr lang="fr-FR" dirty="0"/>
              <a:t> images de test</a:t>
            </a:r>
          </a:p>
        </p:txBody>
      </p:sp>
    </p:spTree>
    <p:extLst>
      <p:ext uri="{BB962C8B-B14F-4D97-AF65-F5344CB8AC3E}">
        <p14:creationId xmlns:p14="http://schemas.microsoft.com/office/powerpoint/2010/main" val="210848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D82E-A0A0-56BC-E9C1-ECEE8BD88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935BD9F-62E9-6D9E-BB8D-11C39B7E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Modèles</a:t>
            </a:r>
            <a:endParaRPr lang="fr-FR" dirty="0"/>
          </a:p>
        </p:txBody>
      </p:sp>
      <p:pic>
        <p:nvPicPr>
          <p:cNvPr id="2050" name="Picture 2" descr="Model Architecture">
            <a:extLst>
              <a:ext uri="{FF2B5EF4-FFF2-40B4-BE49-F238E27FC236}">
                <a16:creationId xmlns:a16="http://schemas.microsoft.com/office/drawing/2014/main" id="{BE8E17DF-7993-DAAB-9953-EB22713418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" t="1731"/>
          <a:stretch/>
        </p:blipFill>
        <p:spPr bwMode="auto">
          <a:xfrm>
            <a:off x="838199" y="2056074"/>
            <a:ext cx="10575403" cy="240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180E98E-E274-C067-DFA3-13D53DE00762}"/>
              </a:ext>
            </a:extLst>
          </p:cNvPr>
          <p:cNvSpPr txBox="1"/>
          <p:nvPr/>
        </p:nvSpPr>
        <p:spPr>
          <a:xfrm>
            <a:off x="838200" y="1655964"/>
            <a:ext cx="2511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VAE</a:t>
            </a:r>
            <a:endParaRPr lang="fr-FR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FAD1C3-24CB-6347-4925-D0285CBA49E7}"/>
              </a:ext>
            </a:extLst>
          </p:cNvPr>
          <p:cNvSpPr txBox="1"/>
          <p:nvPr/>
        </p:nvSpPr>
        <p:spPr>
          <a:xfrm>
            <a:off x="838199" y="4417269"/>
            <a:ext cx="525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• </a:t>
            </a:r>
            <a:r>
              <a:rPr lang="fr-FR" sz="2000" dirty="0" err="1"/>
              <a:t>Autoencodeur</a:t>
            </a:r>
            <a:r>
              <a:rPr lang="fr-FR" sz="2000" dirty="0"/>
              <a:t> </a:t>
            </a:r>
            <a:r>
              <a:rPr lang="fr-FR" sz="2000" dirty="0" err="1"/>
              <a:t>variationnel</a:t>
            </a:r>
            <a:endParaRPr lang="fr-FR" sz="2000" dirty="0"/>
          </a:p>
          <a:p>
            <a:r>
              <a:rPr lang="fr-FR" sz="2000" dirty="0"/>
              <a:t>• Facteur </a:t>
            </a:r>
            <a:r>
              <a:rPr lang="el-GR" sz="2000" b="1" dirty="0"/>
              <a:t>β</a:t>
            </a:r>
            <a:r>
              <a:rPr lang="fr-FR" sz="2000" dirty="0"/>
              <a:t> de démêlage</a:t>
            </a:r>
          </a:p>
          <a:p>
            <a:r>
              <a:rPr lang="fr-FR" sz="2000" dirty="0"/>
              <a:t>• Vecteur latent de taille </a:t>
            </a:r>
            <a:r>
              <a:rPr lang="fr-FR" sz="2000" b="1" dirty="0"/>
              <a:t>128</a:t>
            </a:r>
          </a:p>
          <a:p>
            <a:endParaRPr lang="fr-FR" sz="2800" b="1" dirty="0"/>
          </a:p>
          <a:p>
            <a:r>
              <a:rPr lang="fr-FR" sz="2000" b="1" dirty="0"/>
              <a:t>Classifieur</a:t>
            </a:r>
            <a:endParaRPr lang="fr-FR" dirty="0"/>
          </a:p>
          <a:p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99,29%</a:t>
            </a:r>
            <a:r>
              <a:rPr lang="fr-FR" dirty="0"/>
              <a:t> de précision sur la base de données MNIST</a:t>
            </a:r>
          </a:p>
          <a:p>
            <a:r>
              <a:rPr lang="fr-FR" b="1" dirty="0">
                <a:solidFill>
                  <a:schemeClr val="accent2"/>
                </a:solidFill>
              </a:rPr>
              <a:t>99,26%</a:t>
            </a:r>
            <a:r>
              <a:rPr lang="fr-FR" dirty="0"/>
              <a:t> de certitude sur MNIST</a:t>
            </a:r>
          </a:p>
        </p:txBody>
      </p:sp>
    </p:spTree>
    <p:extLst>
      <p:ext uri="{BB962C8B-B14F-4D97-AF65-F5344CB8AC3E}">
        <p14:creationId xmlns:p14="http://schemas.microsoft.com/office/powerpoint/2010/main" val="334144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99EF2-D059-023E-EBBE-2BD8FC475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B5F1F5B-14BC-0D66-EA03-29CB4D762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Prototypes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092A330-5D59-94AE-3590-2EA6971C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60"/>
          <a:stretch/>
        </p:blipFill>
        <p:spPr>
          <a:xfrm>
            <a:off x="6095607" y="1301352"/>
            <a:ext cx="5744247" cy="54708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239A8CE-C185-4C02-97C2-89D371511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466" y="1690688"/>
            <a:ext cx="1920875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636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F5A1A-6A06-2982-5A79-0872382FA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46212ECB-FA80-166A-37C8-D8B6C6742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967" y="2394625"/>
            <a:ext cx="9556755" cy="3822702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3AC33C19-88A9-92D2-6531-27E4A9406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Obscuration</a:t>
            </a:r>
            <a:endParaRPr lang="fr-FR" dirty="0"/>
          </a:p>
        </p:txBody>
      </p:sp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C7A31DB0-405A-DCEC-7E6E-915E6480E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540910"/>
              </p:ext>
            </p:extLst>
          </p:nvPr>
        </p:nvGraphicFramePr>
        <p:xfrm>
          <a:off x="2128184" y="2089825"/>
          <a:ext cx="949832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CFB13CF6-68F0-D8ED-6259-4488721D240A}"/>
              </a:ext>
            </a:extLst>
          </p:cNvPr>
          <p:cNvSpPr txBox="1"/>
          <p:nvPr/>
        </p:nvSpPr>
        <p:spPr>
          <a:xfrm>
            <a:off x="250807" y="2085955"/>
            <a:ext cx="160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/>
                </a:solidFill>
              </a:rPr>
              <a:t>Source</a:t>
            </a:r>
            <a:endParaRPr lang="fr-FR" sz="2800" b="1" dirty="0">
              <a:solidFill>
                <a:schemeClr val="accent2"/>
              </a:solidFill>
            </a:endParaRP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0E2C7AFB-3A95-F642-2E95-C33D7D3C3CFA}"/>
              </a:ext>
            </a:extLst>
          </p:cNvPr>
          <p:cNvCxnSpPr>
            <a:cxnSpLocks/>
          </p:cNvCxnSpPr>
          <p:nvPr/>
        </p:nvCxnSpPr>
        <p:spPr>
          <a:xfrm>
            <a:off x="1525887" y="2835910"/>
            <a:ext cx="591819" cy="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E5E161F9-5C50-B44C-4DE5-41DD50915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08" y="2394625"/>
            <a:ext cx="955676" cy="3822702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D9BE5AC3-7AE8-7B51-D1DF-0B5B3E5AE4D5}"/>
              </a:ext>
            </a:extLst>
          </p:cNvPr>
          <p:cNvCxnSpPr>
            <a:cxnSpLocks/>
          </p:cNvCxnSpPr>
          <p:nvPr/>
        </p:nvCxnSpPr>
        <p:spPr>
          <a:xfrm>
            <a:off x="1538589" y="3776980"/>
            <a:ext cx="591819" cy="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4DCA3055-AB70-DA45-DB23-C504F5D05A83}"/>
              </a:ext>
            </a:extLst>
          </p:cNvPr>
          <p:cNvCxnSpPr>
            <a:cxnSpLocks/>
          </p:cNvCxnSpPr>
          <p:nvPr/>
        </p:nvCxnSpPr>
        <p:spPr>
          <a:xfrm>
            <a:off x="1525887" y="4718050"/>
            <a:ext cx="591819" cy="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299E2402-DD81-F3D1-5353-6FB0EB9123E3}"/>
              </a:ext>
            </a:extLst>
          </p:cNvPr>
          <p:cNvCxnSpPr>
            <a:cxnSpLocks/>
          </p:cNvCxnSpPr>
          <p:nvPr/>
        </p:nvCxnSpPr>
        <p:spPr>
          <a:xfrm>
            <a:off x="1525887" y="5636260"/>
            <a:ext cx="591819" cy="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850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ACEF8-91AA-3115-2DD9-E6EFF2B1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2EB8D0D-8F0A-226B-B93B-59329DD22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Translation des chiffres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8BEDDF2-6315-BF52-AEB9-25E82C996F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21"/>
          <a:stretch/>
        </p:blipFill>
        <p:spPr>
          <a:xfrm>
            <a:off x="6105114" y="1258529"/>
            <a:ext cx="5735527" cy="5504904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F12AEFE2-2E20-5F32-A36C-BA40FFFB6804}"/>
              </a:ext>
            </a:extLst>
          </p:cNvPr>
          <p:cNvSpPr txBox="1"/>
          <p:nvPr/>
        </p:nvSpPr>
        <p:spPr>
          <a:xfrm>
            <a:off x="1044678" y="1573161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2479B4"/>
                </a:solidFill>
              </a:rPr>
              <a:t>1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2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FA8A8A"/>
                </a:solidFill>
              </a:rPr>
              <a:t>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35A0EAE-207D-A86D-E9A7-7949E106D63E}"/>
              </a:ext>
            </a:extLst>
          </p:cNvPr>
          <p:cNvSpPr txBox="1"/>
          <p:nvPr/>
        </p:nvSpPr>
        <p:spPr>
          <a:xfrm>
            <a:off x="3689556" y="1578077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2479B4"/>
                </a:solidFill>
              </a:rPr>
              <a:t>1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2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FA8A8A"/>
                </a:solidFill>
              </a:rPr>
              <a:t>3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0BD735F-4753-5B90-95EA-8F9D65B0F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97" y="2020391"/>
            <a:ext cx="4437839" cy="443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112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98E93-5541-8F5F-E103-BED0A4928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D5F91CE-84AA-E5D3-A9C7-2025CD06B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78" y="2020391"/>
            <a:ext cx="4422058" cy="442205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ABA81C7-FD76-4316-5FF0-601EF78637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86"/>
          <a:stretch/>
        </p:blipFill>
        <p:spPr>
          <a:xfrm>
            <a:off x="6096394" y="1268361"/>
            <a:ext cx="5744247" cy="5503791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03AEDAB7-6174-ACF9-07F8-7E7BCB7B3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Translation des chiffres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143EEFE-836F-0D95-5B12-76795917225E}"/>
              </a:ext>
            </a:extLst>
          </p:cNvPr>
          <p:cNvSpPr txBox="1"/>
          <p:nvPr/>
        </p:nvSpPr>
        <p:spPr>
          <a:xfrm>
            <a:off x="1044678" y="1573161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A3D971"/>
                </a:solidFill>
              </a:rPr>
              <a:t>2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2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B491C5"/>
                </a:solidFill>
              </a:rPr>
              <a:t>6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FF3C31D-EF2A-451B-041F-B61713CFED04}"/>
              </a:ext>
            </a:extLst>
          </p:cNvPr>
          <p:cNvSpPr txBox="1"/>
          <p:nvPr/>
        </p:nvSpPr>
        <p:spPr>
          <a:xfrm>
            <a:off x="3689556" y="1578077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A3D971"/>
                </a:solidFill>
              </a:rPr>
              <a:t>2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2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B491C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52956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B248C-11C1-0274-A565-A72A3CB43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D6BD922-185A-8B1B-45E5-F040C9787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Classification de l’obscuration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7145063-CB20-FEA4-0B51-7F0CBF61C6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72"/>
          <a:stretch/>
        </p:blipFill>
        <p:spPr>
          <a:xfrm>
            <a:off x="1291171" y="1690688"/>
            <a:ext cx="6483000" cy="466407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93E8D3C-F51A-723D-B761-1094D79BB0B6}"/>
              </a:ext>
            </a:extLst>
          </p:cNvPr>
          <p:cNvSpPr txBox="1"/>
          <p:nvPr/>
        </p:nvSpPr>
        <p:spPr>
          <a:xfrm>
            <a:off x="7774171" y="3429000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</a:rPr>
              <a:t>86,77%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94,17%</a:t>
            </a:r>
          </a:p>
        </p:txBody>
      </p:sp>
    </p:spTree>
    <p:extLst>
      <p:ext uri="{BB962C8B-B14F-4D97-AF65-F5344CB8AC3E}">
        <p14:creationId xmlns:p14="http://schemas.microsoft.com/office/powerpoint/2010/main" val="2521462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A94BF-C717-0E1C-CEF4-B3932185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BA6DC65-FC11-8AFC-A6DC-D8204B0A6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Distribution de la certitude des prédictions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241F71F-48FA-F9B4-988A-8BFFB02364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96"/>
          <a:stretch/>
        </p:blipFill>
        <p:spPr>
          <a:xfrm>
            <a:off x="1636303" y="1690688"/>
            <a:ext cx="8919394" cy="488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512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64688-9BC2-882F-7546-750221EF9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5AA4A7E-DEBD-E564-8863-402F2E5A6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Désobscuration</a:t>
            </a:r>
            <a:endParaRPr lang="fr-FR" dirty="0"/>
          </a:p>
        </p:txBody>
      </p:sp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EC164D68-EAA1-ECAB-95B4-4A8EEC478365}"/>
              </a:ext>
            </a:extLst>
          </p:cNvPr>
          <p:cNvGraphicFramePr>
            <a:graphicFrameLocks noGrp="1"/>
          </p:cNvGraphicFramePr>
          <p:nvPr/>
        </p:nvGraphicFramePr>
        <p:xfrm>
          <a:off x="2128184" y="2089825"/>
          <a:ext cx="949832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3FB66311-8B04-1335-DD92-6FBD57ECA5B8}"/>
              </a:ext>
            </a:extLst>
          </p:cNvPr>
          <p:cNvSpPr txBox="1"/>
          <p:nvPr/>
        </p:nvSpPr>
        <p:spPr>
          <a:xfrm>
            <a:off x="250807" y="2085955"/>
            <a:ext cx="160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/>
                </a:solidFill>
              </a:rPr>
              <a:t>Source</a:t>
            </a:r>
            <a:endParaRPr lang="fr-FR" sz="2800" b="1" dirty="0">
              <a:solidFill>
                <a:schemeClr val="accent2"/>
              </a:solidFill>
            </a:endParaRP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B5780DB0-854C-41D3-B0EB-CBEE8B4F69B4}"/>
              </a:ext>
            </a:extLst>
          </p:cNvPr>
          <p:cNvCxnSpPr>
            <a:cxnSpLocks/>
          </p:cNvCxnSpPr>
          <p:nvPr/>
        </p:nvCxnSpPr>
        <p:spPr>
          <a:xfrm>
            <a:off x="1525887" y="2835910"/>
            <a:ext cx="591819" cy="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69B5A9B4-840A-C8F1-033E-025779B03480}"/>
              </a:ext>
            </a:extLst>
          </p:cNvPr>
          <p:cNvCxnSpPr>
            <a:cxnSpLocks/>
          </p:cNvCxnSpPr>
          <p:nvPr/>
        </p:nvCxnSpPr>
        <p:spPr>
          <a:xfrm>
            <a:off x="1525887" y="4998908"/>
            <a:ext cx="591819" cy="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:a16="http://schemas.microsoft.com/office/drawing/2014/main" id="{BA99D124-4A35-2566-2E7F-169506803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57" y="2393529"/>
            <a:ext cx="1035982" cy="103598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6E1CC16-C2A5-590C-2E9A-062738D6A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57" y="4574733"/>
            <a:ext cx="1035982" cy="1035982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1A67945-2F90-0B92-5016-6036EA452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967" y="2393529"/>
            <a:ext cx="9527537" cy="1905507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75E7F1B5-6040-335C-006E-675FA1863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8967" y="4574733"/>
            <a:ext cx="9527536" cy="190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399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A4A81-6C7A-42B0-CC0B-C198D0F75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76CC8D6-0770-BD7F-CD53-09D3F257BA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71"/>
          <a:stretch/>
        </p:blipFill>
        <p:spPr>
          <a:xfrm>
            <a:off x="1291171" y="1690687"/>
            <a:ext cx="6483000" cy="4664076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A2FE417B-7064-E7A2-0650-D0BBBC88C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Classification de la </a:t>
            </a:r>
            <a:r>
              <a:rPr lang="fr-FR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désobscuration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543D2EF-C6AE-9382-9B78-A97745DA2472}"/>
              </a:ext>
            </a:extLst>
          </p:cNvPr>
          <p:cNvSpPr txBox="1"/>
          <p:nvPr/>
        </p:nvSpPr>
        <p:spPr>
          <a:xfrm>
            <a:off x="7774171" y="3429000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</a:rPr>
              <a:t>96,41%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97,54%</a:t>
            </a:r>
          </a:p>
        </p:txBody>
      </p:sp>
    </p:spTree>
    <p:extLst>
      <p:ext uri="{BB962C8B-B14F-4D97-AF65-F5344CB8AC3E}">
        <p14:creationId xmlns:p14="http://schemas.microsoft.com/office/powerpoint/2010/main" val="1464394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D2780-808D-1F11-4E9A-4E8B8CF74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7FA21B2-BB2F-001A-CCD4-D00101E4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Attaque (et défense)</a:t>
            </a:r>
            <a:endParaRPr lang="fr-FR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A1A3114-A231-B01F-EE65-720169F81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1479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A8B81-FBFD-731A-5785-186A610DB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899C493-8D1E-EA61-68FB-28DAFFC8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Détection de l’obscuration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Fonctionnement</a:t>
            </a:r>
            <a:endParaRPr lang="fr-FR" dirty="0"/>
          </a:p>
        </p:txBody>
      </p:sp>
      <p:pic>
        <p:nvPicPr>
          <p:cNvPr id="2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EC7F6506-152A-86A4-51F3-670911F1D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284" y="2431467"/>
            <a:ext cx="3111201" cy="1817779"/>
          </a:xfrm>
        </p:spPr>
      </p:pic>
      <p:pic>
        <p:nvPicPr>
          <p:cNvPr id="5" name="Image 4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86831B5A-2D32-4CE3-6730-73FBE7859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718" y="2431465"/>
            <a:ext cx="3111201" cy="1817780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06851FFA-02A0-3221-BB11-8C6D06CB9622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5589485" y="3340355"/>
            <a:ext cx="1092233" cy="2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rganigramme : Opération manuelle 20">
            <a:extLst>
              <a:ext uri="{FF2B5EF4-FFF2-40B4-BE49-F238E27FC236}">
                <a16:creationId xmlns:a16="http://schemas.microsoft.com/office/drawing/2014/main" id="{83F40CDD-0AAF-D045-EA8E-7E2872883BC8}"/>
              </a:ext>
            </a:extLst>
          </p:cNvPr>
          <p:cNvSpPr/>
          <p:nvPr/>
        </p:nvSpPr>
        <p:spPr>
          <a:xfrm>
            <a:off x="2478283" y="4515331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2" name="Organigramme : Opération manuelle 21">
            <a:extLst>
              <a:ext uri="{FF2B5EF4-FFF2-40B4-BE49-F238E27FC236}">
                <a16:creationId xmlns:a16="http://schemas.microsoft.com/office/drawing/2014/main" id="{6C881110-8E58-383B-4B71-4AF03E4350D3}"/>
              </a:ext>
            </a:extLst>
          </p:cNvPr>
          <p:cNvSpPr/>
          <p:nvPr/>
        </p:nvSpPr>
        <p:spPr>
          <a:xfrm>
            <a:off x="6681718" y="4515331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172414B-9B6C-3D04-5934-8D6009D916FE}"/>
              </a:ext>
            </a:extLst>
          </p:cNvPr>
          <p:cNvSpPr txBox="1"/>
          <p:nvPr/>
        </p:nvSpPr>
        <p:spPr>
          <a:xfrm>
            <a:off x="2651253" y="5141289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C00000"/>
                </a:solidFill>
              </a:rPr>
              <a:t>N	N	N</a:t>
            </a:r>
            <a:endParaRPr lang="fr-FR" sz="3600" u="sng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A77F86A3-82D8-FD96-03E1-BB91B3011C35}"/>
              </a:ext>
            </a:extLst>
          </p:cNvPr>
          <p:cNvSpPr txBox="1"/>
          <p:nvPr/>
        </p:nvSpPr>
        <p:spPr>
          <a:xfrm>
            <a:off x="6854688" y="5141289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chemeClr val="accent6"/>
                </a:solidFill>
              </a:rPr>
              <a:t>P</a:t>
            </a:r>
            <a:r>
              <a:rPr lang="fr-FR" sz="3600" dirty="0"/>
              <a:t>	</a:t>
            </a:r>
            <a:r>
              <a:rPr lang="fr-FR" sz="3600" dirty="0">
                <a:solidFill>
                  <a:schemeClr val="accent6"/>
                </a:solidFill>
              </a:rPr>
              <a:t>P</a:t>
            </a:r>
            <a:r>
              <a:rPr lang="fr-FR" sz="3600" dirty="0"/>
              <a:t>	</a:t>
            </a:r>
            <a:r>
              <a:rPr lang="fr-FR" sz="3600" dirty="0">
                <a:solidFill>
                  <a:schemeClr val="accent6"/>
                </a:solidFill>
              </a:rPr>
              <a:t>P</a:t>
            </a:r>
            <a:endParaRPr lang="fr-FR" sz="3600" u="sng" dirty="0">
              <a:solidFill>
                <a:schemeClr val="accent6"/>
              </a:solidFill>
              <a:latin typeface="Arial" panose="020B06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F2FBDF8-3741-8D88-A2F6-D32BF07B1B07}"/>
              </a:ext>
            </a:extLst>
          </p:cNvPr>
          <p:cNvSpPr txBox="1"/>
          <p:nvPr/>
        </p:nvSpPr>
        <p:spPr>
          <a:xfrm>
            <a:off x="3048000" y="1733848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Obscuration</a:t>
            </a:r>
            <a:endParaRPr lang="fr-FR" sz="3200" b="1" baseline="-250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33F12D4-511B-1979-9278-8360CEE4F658}"/>
              </a:ext>
            </a:extLst>
          </p:cNvPr>
          <p:cNvSpPr txBox="1"/>
          <p:nvPr/>
        </p:nvSpPr>
        <p:spPr>
          <a:xfrm>
            <a:off x="5189317" y="5787620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Falsifiés</a:t>
            </a:r>
            <a:endParaRPr lang="fr-FR" sz="3200" baseline="-25000" dirty="0">
              <a:solidFill>
                <a:schemeClr val="accent6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64156C3-36E2-EAFA-C155-69A11417CF4A}"/>
              </a:ext>
            </a:extLst>
          </p:cNvPr>
          <p:cNvSpPr txBox="1"/>
          <p:nvPr/>
        </p:nvSpPr>
        <p:spPr>
          <a:xfrm>
            <a:off x="985882" y="5787619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FF656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Originaux</a:t>
            </a:r>
            <a:endParaRPr lang="fr-FR" sz="3200" baseline="-25000" dirty="0">
              <a:solidFill>
                <a:srgbClr val="FF656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332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3B3A1-5AC0-A98D-7F59-54D0D5D25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5BF223B-7492-009A-8114-E3C9C45BB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Détection de l’obscuration</a:t>
            </a:r>
            <a:br>
              <a:rPr lang="fr-FR" sz="2400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Entraînement du classifieur</a:t>
            </a:r>
            <a:endParaRPr lang="fr-FR" sz="2400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C4D0502-B93B-E802-80B5-E820D2F6CE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11"/>
          <a:stretch/>
        </p:blipFill>
        <p:spPr>
          <a:xfrm>
            <a:off x="1797091" y="3348312"/>
            <a:ext cx="8597818" cy="82888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B32FBEB-C5EC-C496-986A-8CE23F65DA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1" r="90275"/>
          <a:stretch/>
        </p:blipFill>
        <p:spPr>
          <a:xfrm>
            <a:off x="5677925" y="1950497"/>
            <a:ext cx="836149" cy="830997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8F1E9048-AD73-CFE4-C876-D191FD1B4B54}"/>
              </a:ext>
            </a:extLst>
          </p:cNvPr>
          <p:cNvCxnSpPr>
            <a:stCxn id="3" idx="2"/>
          </p:cNvCxnSpPr>
          <p:nvPr/>
        </p:nvCxnSpPr>
        <p:spPr>
          <a:xfrm flipH="1">
            <a:off x="2233914" y="2781494"/>
            <a:ext cx="3862086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EECF1EF0-DAFA-0C11-8FF0-8D29F1565BE2}"/>
              </a:ext>
            </a:extLst>
          </p:cNvPr>
          <p:cNvCxnSpPr>
            <a:cxnSpLocks/>
          </p:cNvCxnSpPr>
          <p:nvPr/>
        </p:nvCxnSpPr>
        <p:spPr>
          <a:xfrm flipH="1">
            <a:off x="3136739" y="2781494"/>
            <a:ext cx="2959261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DF6FD502-E77F-4C38-E4B1-6AD0EC717642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3946967" y="2781494"/>
            <a:ext cx="2149033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C5A7FFBD-F338-DEC6-D5EF-9D028856BAC6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4803494" y="2781494"/>
            <a:ext cx="1292506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763CEE7-E6E0-C70B-D706-E10EC15979C9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5677925" y="2781494"/>
            <a:ext cx="418075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34970016-7684-338D-70A9-598653366895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096000" y="2781494"/>
            <a:ext cx="436823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C2E5DCBD-A798-37ED-9BD2-502BD26E4815}"/>
              </a:ext>
            </a:extLst>
          </p:cNvPr>
          <p:cNvCxnSpPr>
            <a:cxnSpLocks/>
          </p:cNvCxnSpPr>
          <p:nvPr/>
        </p:nvCxnSpPr>
        <p:spPr>
          <a:xfrm>
            <a:off x="6096000" y="2781494"/>
            <a:ext cx="1292505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C5DC30C4-0F21-BE67-2596-A4FBBC37D93F}"/>
              </a:ext>
            </a:extLst>
          </p:cNvPr>
          <p:cNvCxnSpPr>
            <a:cxnSpLocks/>
          </p:cNvCxnSpPr>
          <p:nvPr/>
        </p:nvCxnSpPr>
        <p:spPr>
          <a:xfrm>
            <a:off x="6073001" y="2781494"/>
            <a:ext cx="2172031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3B871B76-4556-8EC5-1964-5F2F9E5EEF66}"/>
              </a:ext>
            </a:extLst>
          </p:cNvPr>
          <p:cNvCxnSpPr>
            <a:cxnSpLocks/>
          </p:cNvCxnSpPr>
          <p:nvPr/>
        </p:nvCxnSpPr>
        <p:spPr>
          <a:xfrm>
            <a:off x="6061924" y="2781494"/>
            <a:ext cx="2993336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1AE6A480-75A6-EBFB-A569-BC8F75698A94}"/>
              </a:ext>
            </a:extLst>
          </p:cNvPr>
          <p:cNvCxnSpPr>
            <a:cxnSpLocks/>
          </p:cNvCxnSpPr>
          <p:nvPr/>
        </p:nvCxnSpPr>
        <p:spPr>
          <a:xfrm>
            <a:off x="6073001" y="2781494"/>
            <a:ext cx="3885084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C46DF36C-2E2B-F1ED-CC14-3AC08FB98242}"/>
              </a:ext>
            </a:extLst>
          </p:cNvPr>
          <p:cNvSpPr txBox="1"/>
          <p:nvPr/>
        </p:nvSpPr>
        <p:spPr>
          <a:xfrm>
            <a:off x="1655180" y="4127472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3304240-F461-66F9-BD20-37A7C517DF0F}"/>
              </a:ext>
            </a:extLst>
          </p:cNvPr>
          <p:cNvSpPr txBox="1"/>
          <p:nvPr/>
        </p:nvSpPr>
        <p:spPr>
          <a:xfrm>
            <a:off x="2472160" y="4127472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8B3E9F20-9C12-28DF-4720-07973E59477F}"/>
              </a:ext>
            </a:extLst>
          </p:cNvPr>
          <p:cNvSpPr txBox="1"/>
          <p:nvPr/>
        </p:nvSpPr>
        <p:spPr>
          <a:xfrm>
            <a:off x="3368233" y="4117765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65FD3604-6234-ECC9-75FF-14067B5DAB75}"/>
              </a:ext>
            </a:extLst>
          </p:cNvPr>
          <p:cNvSpPr txBox="1"/>
          <p:nvPr/>
        </p:nvSpPr>
        <p:spPr>
          <a:xfrm>
            <a:off x="4233319" y="4127472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2DF8842-4F91-B01E-FA8A-C00561C191FA}"/>
              </a:ext>
            </a:extLst>
          </p:cNvPr>
          <p:cNvSpPr txBox="1"/>
          <p:nvPr/>
        </p:nvSpPr>
        <p:spPr>
          <a:xfrm>
            <a:off x="5150613" y="4117765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B06B852E-F163-CC2D-499E-93C5ACAA8D4B}"/>
              </a:ext>
            </a:extLst>
          </p:cNvPr>
          <p:cNvSpPr txBox="1"/>
          <p:nvPr/>
        </p:nvSpPr>
        <p:spPr>
          <a:xfrm>
            <a:off x="5990259" y="4131207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6B019A2-D40D-0C32-7967-7D6213F23A8F}"/>
              </a:ext>
            </a:extLst>
          </p:cNvPr>
          <p:cNvSpPr txBox="1"/>
          <p:nvPr/>
        </p:nvSpPr>
        <p:spPr>
          <a:xfrm>
            <a:off x="6858075" y="412336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C54612F7-AB0E-B9A5-775D-A3E5DE851CA1}"/>
              </a:ext>
            </a:extLst>
          </p:cNvPr>
          <p:cNvSpPr txBox="1"/>
          <p:nvPr/>
        </p:nvSpPr>
        <p:spPr>
          <a:xfrm>
            <a:off x="7697721" y="413120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6A4DC60D-D857-A216-8820-43FB0C83C05A}"/>
              </a:ext>
            </a:extLst>
          </p:cNvPr>
          <p:cNvSpPr txBox="1"/>
          <p:nvPr/>
        </p:nvSpPr>
        <p:spPr>
          <a:xfrm>
            <a:off x="8562372" y="4121500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37ACCCBF-0510-BF5D-C437-808591F92CAA}"/>
              </a:ext>
            </a:extLst>
          </p:cNvPr>
          <p:cNvSpPr txBox="1"/>
          <p:nvPr/>
        </p:nvSpPr>
        <p:spPr>
          <a:xfrm>
            <a:off x="9409326" y="410805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8BC43859-9332-C48C-7976-187478E08DC8}"/>
              </a:ext>
            </a:extLst>
          </p:cNvPr>
          <p:cNvSpPr txBox="1"/>
          <p:nvPr/>
        </p:nvSpPr>
        <p:spPr>
          <a:xfrm>
            <a:off x="1866417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844B0B78-3B8E-075E-03EA-C1C370501C45}"/>
              </a:ext>
            </a:extLst>
          </p:cNvPr>
          <p:cNvSpPr txBox="1"/>
          <p:nvPr/>
        </p:nvSpPr>
        <p:spPr>
          <a:xfrm>
            <a:off x="2683397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P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42184CE9-7016-C0A1-B05D-178633F04011}"/>
              </a:ext>
            </a:extLst>
          </p:cNvPr>
          <p:cNvSpPr txBox="1"/>
          <p:nvPr/>
        </p:nvSpPr>
        <p:spPr>
          <a:xfrm>
            <a:off x="3579470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P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76BBFE76-6F0E-C0CB-CA1A-8E9C666D7ABF}"/>
              </a:ext>
            </a:extLst>
          </p:cNvPr>
          <p:cNvSpPr txBox="1"/>
          <p:nvPr/>
        </p:nvSpPr>
        <p:spPr>
          <a:xfrm>
            <a:off x="4435997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P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FF15760C-96E7-FF9E-30E0-492762209212}"/>
              </a:ext>
            </a:extLst>
          </p:cNvPr>
          <p:cNvSpPr txBox="1"/>
          <p:nvPr/>
        </p:nvSpPr>
        <p:spPr>
          <a:xfrm>
            <a:off x="5307957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P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B1EA235E-44CA-FF64-AEBD-6CA804E7AB3A}"/>
              </a:ext>
            </a:extLst>
          </p:cNvPr>
          <p:cNvSpPr txBox="1"/>
          <p:nvPr/>
        </p:nvSpPr>
        <p:spPr>
          <a:xfrm>
            <a:off x="6165326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P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CFD3F53B-EBDD-5C93-C50E-A1628160A286}"/>
              </a:ext>
            </a:extLst>
          </p:cNvPr>
          <p:cNvSpPr txBox="1"/>
          <p:nvPr/>
        </p:nvSpPr>
        <p:spPr>
          <a:xfrm>
            <a:off x="7021008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P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7E88DC73-E5B8-5796-A961-E6C2E50FDE66}"/>
              </a:ext>
            </a:extLst>
          </p:cNvPr>
          <p:cNvSpPr txBox="1"/>
          <p:nvPr/>
        </p:nvSpPr>
        <p:spPr>
          <a:xfrm>
            <a:off x="7876690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P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CEB0440B-CF08-A150-4563-261183974088}"/>
              </a:ext>
            </a:extLst>
          </p:cNvPr>
          <p:cNvSpPr txBox="1"/>
          <p:nvPr/>
        </p:nvSpPr>
        <p:spPr>
          <a:xfrm>
            <a:off x="8773610" y="5993782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P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CAA27E7-6150-3971-CFF7-E0594DE07A75}"/>
              </a:ext>
            </a:extLst>
          </p:cNvPr>
          <p:cNvSpPr txBox="1"/>
          <p:nvPr/>
        </p:nvSpPr>
        <p:spPr>
          <a:xfrm>
            <a:off x="9610120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P</a:t>
            </a:r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E73643F2-9295-819C-8446-AADE62E9B33E}"/>
              </a:ext>
            </a:extLst>
          </p:cNvPr>
          <p:cNvCxnSpPr>
            <a:stCxn id="30" idx="2"/>
            <a:endCxn id="42" idx="0"/>
          </p:cNvCxnSpPr>
          <p:nvPr/>
        </p:nvCxnSpPr>
        <p:spPr>
          <a:xfrm>
            <a:off x="2233914" y="4496804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BEF93171-DE5C-6277-A34D-2D839079E4D4}"/>
              </a:ext>
            </a:extLst>
          </p:cNvPr>
          <p:cNvCxnSpPr/>
          <p:nvPr/>
        </p:nvCxnSpPr>
        <p:spPr>
          <a:xfrm>
            <a:off x="3034497" y="447739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21FCC6AF-B2EA-988C-CBE0-6D8EC352126E}"/>
              </a:ext>
            </a:extLst>
          </p:cNvPr>
          <p:cNvCxnSpPr/>
          <p:nvPr/>
        </p:nvCxnSpPr>
        <p:spPr>
          <a:xfrm>
            <a:off x="3946967" y="4507986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BF1700C1-FD40-142A-2F9D-2B6C40B8CFCA}"/>
              </a:ext>
            </a:extLst>
          </p:cNvPr>
          <p:cNvCxnSpPr/>
          <p:nvPr/>
        </p:nvCxnSpPr>
        <p:spPr>
          <a:xfrm>
            <a:off x="4803494" y="447739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0401B290-E847-8E67-B688-CC599D83EC6B}"/>
              </a:ext>
            </a:extLst>
          </p:cNvPr>
          <p:cNvCxnSpPr/>
          <p:nvPr/>
        </p:nvCxnSpPr>
        <p:spPr>
          <a:xfrm>
            <a:off x="5677925" y="447739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DF75A1D3-0BC4-FDC0-CCF6-1DC839FAFC6D}"/>
              </a:ext>
            </a:extLst>
          </p:cNvPr>
          <p:cNvCxnSpPr/>
          <p:nvPr/>
        </p:nvCxnSpPr>
        <p:spPr>
          <a:xfrm>
            <a:off x="6532823" y="447739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DA3C8296-DA2D-EF81-DE83-5298AE88E096}"/>
              </a:ext>
            </a:extLst>
          </p:cNvPr>
          <p:cNvCxnSpPr/>
          <p:nvPr/>
        </p:nvCxnSpPr>
        <p:spPr>
          <a:xfrm>
            <a:off x="7388505" y="4507986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F3F8243C-B9C7-4177-01CD-1E3B15B6AEA3}"/>
              </a:ext>
            </a:extLst>
          </p:cNvPr>
          <p:cNvCxnSpPr/>
          <p:nvPr/>
        </p:nvCxnSpPr>
        <p:spPr>
          <a:xfrm>
            <a:off x="8245032" y="447739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3E039677-86A5-D29B-A67E-8C1BBAC576BE}"/>
              </a:ext>
            </a:extLst>
          </p:cNvPr>
          <p:cNvCxnSpPr/>
          <p:nvPr/>
        </p:nvCxnSpPr>
        <p:spPr>
          <a:xfrm>
            <a:off x="9138211" y="4507986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BB94454D-68A3-F268-7B55-52593E3A6D13}"/>
              </a:ext>
            </a:extLst>
          </p:cNvPr>
          <p:cNvCxnSpPr/>
          <p:nvPr/>
        </p:nvCxnSpPr>
        <p:spPr>
          <a:xfrm>
            <a:off x="9977374" y="447739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rganigramme : Opération manuelle 51">
            <a:extLst>
              <a:ext uri="{FF2B5EF4-FFF2-40B4-BE49-F238E27FC236}">
                <a16:creationId xmlns:a16="http://schemas.microsoft.com/office/drawing/2014/main" id="{79AB59C4-7C45-51EA-6D14-FEEA5EB17ED0}"/>
              </a:ext>
            </a:extLst>
          </p:cNvPr>
          <p:cNvSpPr/>
          <p:nvPr/>
        </p:nvSpPr>
        <p:spPr>
          <a:xfrm>
            <a:off x="1866417" y="4847841"/>
            <a:ext cx="852849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pic>
        <p:nvPicPr>
          <p:cNvPr id="64" name="Image 63">
            <a:extLst>
              <a:ext uri="{FF2B5EF4-FFF2-40B4-BE49-F238E27FC236}">
                <a16:creationId xmlns:a16="http://schemas.microsoft.com/office/drawing/2014/main" id="{4EE0A8A8-C895-3E52-233B-934E1312FC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t="1562" r="7" b="-1"/>
          <a:stretch/>
        </p:blipFill>
        <p:spPr>
          <a:xfrm>
            <a:off x="7337926" y="1950496"/>
            <a:ext cx="836149" cy="830997"/>
          </a:xfrm>
          <a:prstGeom prst="rect">
            <a:avLst/>
          </a:prstGeom>
        </p:spPr>
      </p:pic>
      <p:sp>
        <p:nvSpPr>
          <p:cNvPr id="65" name="ZoneTexte 64">
            <a:extLst>
              <a:ext uri="{FF2B5EF4-FFF2-40B4-BE49-F238E27FC236}">
                <a16:creationId xmlns:a16="http://schemas.microsoft.com/office/drawing/2014/main" id="{B93F3B83-70E3-48A6-31E6-2C8CF7B81A11}"/>
              </a:ext>
            </a:extLst>
          </p:cNvPr>
          <p:cNvSpPr txBox="1"/>
          <p:nvPr/>
        </p:nvSpPr>
        <p:spPr>
          <a:xfrm>
            <a:off x="6386418" y="1800402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69407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FD388-D1AC-01C0-47BF-42C13F129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9859665-9CE0-5B56-A9E3-3FA81685A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Reconnaissance de la classe source (traces)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Fonctionnement</a:t>
            </a:r>
            <a:endParaRPr lang="fr-FR" dirty="0"/>
          </a:p>
        </p:txBody>
      </p:sp>
      <p:pic>
        <p:nvPicPr>
          <p:cNvPr id="2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F3C2298F-FB33-A832-E80A-A876AC504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284" y="2431467"/>
            <a:ext cx="3111201" cy="1817779"/>
          </a:xfrm>
        </p:spPr>
      </p:pic>
      <p:pic>
        <p:nvPicPr>
          <p:cNvPr id="5" name="Image 4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A19A651F-8DB9-0CE4-2EE9-1A50FCA7A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718" y="2431465"/>
            <a:ext cx="3111201" cy="1817780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BA5DE551-0FCF-D9DB-3738-315869B2A677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5589485" y="3340355"/>
            <a:ext cx="1092233" cy="2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rganigramme : Opération manuelle 20">
            <a:extLst>
              <a:ext uri="{FF2B5EF4-FFF2-40B4-BE49-F238E27FC236}">
                <a16:creationId xmlns:a16="http://schemas.microsoft.com/office/drawing/2014/main" id="{58980EDF-053E-A098-10D1-97DDC63BF8C5}"/>
              </a:ext>
            </a:extLst>
          </p:cNvPr>
          <p:cNvSpPr/>
          <p:nvPr/>
        </p:nvSpPr>
        <p:spPr>
          <a:xfrm>
            <a:off x="2478283" y="4515331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2" name="Organigramme : Opération manuelle 21">
            <a:extLst>
              <a:ext uri="{FF2B5EF4-FFF2-40B4-BE49-F238E27FC236}">
                <a16:creationId xmlns:a16="http://schemas.microsoft.com/office/drawing/2014/main" id="{19399A36-8FB2-70C8-0496-BA7BD8D1A599}"/>
              </a:ext>
            </a:extLst>
          </p:cNvPr>
          <p:cNvSpPr/>
          <p:nvPr/>
        </p:nvSpPr>
        <p:spPr>
          <a:xfrm>
            <a:off x="6681718" y="4515331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10BDF56-09CA-051A-33A4-368B62C17C4F}"/>
              </a:ext>
            </a:extLst>
          </p:cNvPr>
          <p:cNvSpPr txBox="1"/>
          <p:nvPr/>
        </p:nvSpPr>
        <p:spPr>
          <a:xfrm>
            <a:off x="2651253" y="5141289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7072C15-C84F-CDAF-6370-215D39DE81BC}"/>
              </a:ext>
            </a:extLst>
          </p:cNvPr>
          <p:cNvSpPr txBox="1"/>
          <p:nvPr/>
        </p:nvSpPr>
        <p:spPr>
          <a:xfrm>
            <a:off x="6854688" y="5141289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AFE229E-7DC6-A3CE-CBEE-52A7BCE950A9}"/>
              </a:ext>
            </a:extLst>
          </p:cNvPr>
          <p:cNvSpPr txBox="1"/>
          <p:nvPr/>
        </p:nvSpPr>
        <p:spPr>
          <a:xfrm>
            <a:off x="3048000" y="1733848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Obscuration</a:t>
            </a:r>
            <a:endParaRPr lang="fr-FR" sz="3200" b="1" baseline="-250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417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D1DE7-1A59-74E9-CEA0-9A45704B9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237D654-2A5B-0D39-8DC6-9D4A7671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Reconnaissance de la classe source (traces)</a:t>
            </a:r>
            <a:br>
              <a:rPr lang="fr-FR" sz="2400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Entraînement du classifieur</a:t>
            </a:r>
            <a:endParaRPr lang="fr-FR" sz="24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8BF3C09-6F96-8981-A516-9FAD66F995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8" r="90275" b="-1"/>
          <a:stretch/>
        </p:blipFill>
        <p:spPr>
          <a:xfrm>
            <a:off x="4728801" y="1850464"/>
            <a:ext cx="836149" cy="821316"/>
          </a:xfrm>
          <a:prstGeom prst="rect">
            <a:avLst/>
          </a:prstGeom>
        </p:spPr>
      </p:pic>
      <p:pic>
        <p:nvPicPr>
          <p:cNvPr id="64" name="Image 63">
            <a:extLst>
              <a:ext uri="{FF2B5EF4-FFF2-40B4-BE49-F238E27FC236}">
                <a16:creationId xmlns:a16="http://schemas.microsoft.com/office/drawing/2014/main" id="{8D22439E-BED2-C348-6C60-41B0A9962A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t="2709" r="7" b="-2"/>
          <a:stretch/>
        </p:blipFill>
        <p:spPr>
          <a:xfrm>
            <a:off x="6388802" y="1850463"/>
            <a:ext cx="836149" cy="821316"/>
          </a:xfrm>
          <a:prstGeom prst="rect">
            <a:avLst/>
          </a:prstGeom>
        </p:spPr>
      </p:pic>
      <p:sp>
        <p:nvSpPr>
          <p:cNvPr id="65" name="ZoneTexte 64">
            <a:extLst>
              <a:ext uri="{FF2B5EF4-FFF2-40B4-BE49-F238E27FC236}">
                <a16:creationId xmlns:a16="http://schemas.microsoft.com/office/drawing/2014/main" id="{13B1D176-D176-8D25-1438-4D85788E82F3}"/>
              </a:ext>
            </a:extLst>
          </p:cNvPr>
          <p:cNvSpPr txBox="1"/>
          <p:nvPr/>
        </p:nvSpPr>
        <p:spPr>
          <a:xfrm>
            <a:off x="5437294" y="1690688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57E7A7C-43E3-FE36-BB64-0392F08CAA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1" r="90275"/>
          <a:stretch/>
        </p:blipFill>
        <p:spPr>
          <a:xfrm>
            <a:off x="2232651" y="3442179"/>
            <a:ext cx="836149" cy="83099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370016C-6414-F631-9C9B-8376FCE5BD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t="2709" r="7" b="-2"/>
          <a:stretch/>
        </p:blipFill>
        <p:spPr>
          <a:xfrm>
            <a:off x="3892652" y="3451860"/>
            <a:ext cx="836149" cy="82131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46154B5-F395-2317-D78C-1ABE6B105EAC}"/>
              </a:ext>
            </a:extLst>
          </p:cNvPr>
          <p:cNvSpPr txBox="1"/>
          <p:nvPr/>
        </p:nvSpPr>
        <p:spPr>
          <a:xfrm>
            <a:off x="2941144" y="3292084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83D710A-2A37-3A41-0440-60A5C14C7F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1" r="90275"/>
          <a:stretch/>
        </p:blipFill>
        <p:spPr>
          <a:xfrm>
            <a:off x="7224951" y="3442179"/>
            <a:ext cx="836149" cy="83099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794FC37-3BDA-36B6-70F3-FAD83EBF80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t="2709" r="7" b="-2"/>
          <a:stretch/>
        </p:blipFill>
        <p:spPr>
          <a:xfrm>
            <a:off x="8884952" y="3451860"/>
            <a:ext cx="836149" cy="821314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1E3DFD00-FA80-037E-C471-BEAB45010FC7}"/>
              </a:ext>
            </a:extLst>
          </p:cNvPr>
          <p:cNvSpPr txBox="1"/>
          <p:nvPr/>
        </p:nvSpPr>
        <p:spPr>
          <a:xfrm>
            <a:off x="7933444" y="3292083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C0D14780-2469-D713-FF96-BA8881B7521F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flipH="1">
            <a:off x="2650726" y="2671780"/>
            <a:ext cx="2496150" cy="770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DE9D0B71-2516-4F7F-C3EF-70C3BAD63739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 flipH="1">
            <a:off x="4310727" y="2671780"/>
            <a:ext cx="836149" cy="780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74D2D05B-A24B-B161-7623-270855532249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819173" y="2658601"/>
            <a:ext cx="823853" cy="783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FEC80921-839A-3332-52F7-BDCDBABF9C77}"/>
              </a:ext>
            </a:extLst>
          </p:cNvPr>
          <p:cNvCxnSpPr>
            <a:cxnSpLocks/>
            <a:stCxn id="64" idx="2"/>
            <a:endCxn id="12" idx="0"/>
          </p:cNvCxnSpPr>
          <p:nvPr/>
        </p:nvCxnSpPr>
        <p:spPr>
          <a:xfrm>
            <a:off x="6806877" y="2671779"/>
            <a:ext cx="2496150" cy="780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rganigramme : Opération manuelle 52">
            <a:extLst>
              <a:ext uri="{FF2B5EF4-FFF2-40B4-BE49-F238E27FC236}">
                <a16:creationId xmlns:a16="http://schemas.microsoft.com/office/drawing/2014/main" id="{8495F66E-259C-02C8-E868-589514E7CF24}"/>
              </a:ext>
            </a:extLst>
          </p:cNvPr>
          <p:cNvSpPr/>
          <p:nvPr/>
        </p:nvSpPr>
        <p:spPr>
          <a:xfrm>
            <a:off x="2232650" y="4847841"/>
            <a:ext cx="249615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66" name="Organigramme : Opération manuelle 65">
            <a:extLst>
              <a:ext uri="{FF2B5EF4-FFF2-40B4-BE49-F238E27FC236}">
                <a16:creationId xmlns:a16="http://schemas.microsoft.com/office/drawing/2014/main" id="{3E415B51-9A33-F199-F8F1-84E064974FCB}"/>
              </a:ext>
            </a:extLst>
          </p:cNvPr>
          <p:cNvSpPr/>
          <p:nvPr/>
        </p:nvSpPr>
        <p:spPr>
          <a:xfrm>
            <a:off x="7241978" y="4847841"/>
            <a:ext cx="249615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CBD773E3-4459-CAA5-0387-970D8C528C2E}"/>
              </a:ext>
            </a:extLst>
          </p:cNvPr>
          <p:cNvSpPr txBox="1"/>
          <p:nvPr/>
        </p:nvSpPr>
        <p:spPr>
          <a:xfrm>
            <a:off x="2290525" y="5734603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0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35B0E362-C395-6090-666D-23B5D88CFD1C}"/>
              </a:ext>
            </a:extLst>
          </p:cNvPr>
          <p:cNvSpPr txBox="1"/>
          <p:nvPr/>
        </p:nvSpPr>
        <p:spPr>
          <a:xfrm>
            <a:off x="4001104" y="5738831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0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0CA21A84-29AB-E882-7F40-6E4DC5B788EF}"/>
              </a:ext>
            </a:extLst>
          </p:cNvPr>
          <p:cNvSpPr txBox="1"/>
          <p:nvPr/>
        </p:nvSpPr>
        <p:spPr>
          <a:xfrm>
            <a:off x="7275530" y="5734603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9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2C22206-4A5E-39A6-74A6-0E3AFE639E03}"/>
              </a:ext>
            </a:extLst>
          </p:cNvPr>
          <p:cNvSpPr txBox="1"/>
          <p:nvPr/>
        </p:nvSpPr>
        <p:spPr>
          <a:xfrm>
            <a:off x="8927208" y="5750253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9</a:t>
            </a:r>
          </a:p>
        </p:txBody>
      </p: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C84C8896-FB4D-E93F-E005-1D33309699E4}"/>
              </a:ext>
            </a:extLst>
          </p:cNvPr>
          <p:cNvCxnSpPr>
            <a:cxnSpLocks/>
          </p:cNvCxnSpPr>
          <p:nvPr/>
        </p:nvCxnSpPr>
        <p:spPr>
          <a:xfrm>
            <a:off x="2650726" y="4241007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F6F35E19-8CE9-79C8-0824-3BDF25B305B6}"/>
              </a:ext>
            </a:extLst>
          </p:cNvPr>
          <p:cNvCxnSpPr/>
          <p:nvPr/>
        </p:nvCxnSpPr>
        <p:spPr>
          <a:xfrm>
            <a:off x="4347504" y="4241007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A9E0C565-53F0-6F5C-BE67-4D1960705522}"/>
              </a:ext>
            </a:extLst>
          </p:cNvPr>
          <p:cNvCxnSpPr/>
          <p:nvPr/>
        </p:nvCxnSpPr>
        <p:spPr>
          <a:xfrm>
            <a:off x="7643026" y="4241007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9E2D0394-7BF6-BECA-2572-7906F2506C12}"/>
              </a:ext>
            </a:extLst>
          </p:cNvPr>
          <p:cNvCxnSpPr/>
          <p:nvPr/>
        </p:nvCxnSpPr>
        <p:spPr>
          <a:xfrm>
            <a:off x="9303027" y="4241007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335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1B1C2-639D-3C8E-D1A8-3F79E5892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E698441-28D0-7C64-AC4E-698BA9CCB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8FC807-E4D0-96C1-F7FF-208BF7FA5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1953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718F8-F9B4-B569-3FA6-C3E5B3B86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4A7A34B2-AD15-FB92-CD4C-9379DC643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828" y="2422237"/>
            <a:ext cx="10614340" cy="424573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D4D4460-2A00-66C5-67F9-56C5F7330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" y="2414782"/>
            <a:ext cx="1064578" cy="4258312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451B546C-A05C-B558-30AA-B92650936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Détection de l’obscuration et de la classe source</a:t>
            </a:r>
            <a:endParaRPr lang="fr-FR" dirty="0"/>
          </a:p>
        </p:txBody>
      </p:sp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124ECCE2-51EF-AD27-4BBC-E3A589BAF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535649"/>
              </p:ext>
            </p:extLst>
          </p:nvPr>
        </p:nvGraphicFramePr>
        <p:xfrm>
          <a:off x="1600200" y="2089825"/>
          <a:ext cx="1054354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354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6626CAF8-FEDA-44CA-FA78-AB46E7739DE5}"/>
              </a:ext>
            </a:extLst>
          </p:cNvPr>
          <p:cNvSpPr txBox="1"/>
          <p:nvPr/>
        </p:nvSpPr>
        <p:spPr>
          <a:xfrm>
            <a:off x="-247490" y="2085955"/>
            <a:ext cx="160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/>
                </a:solidFill>
              </a:rPr>
              <a:t>Source</a:t>
            </a:r>
            <a:endParaRPr lang="fr-FR" sz="2800" b="1" dirty="0">
              <a:solidFill>
                <a:schemeClr val="accent2"/>
              </a:solidFill>
            </a:endParaRP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EB4095A5-79B6-CE67-CDD2-0CE0AE80C213}"/>
              </a:ext>
            </a:extLst>
          </p:cNvPr>
          <p:cNvCxnSpPr>
            <a:cxnSpLocks/>
          </p:cNvCxnSpPr>
          <p:nvPr/>
        </p:nvCxnSpPr>
        <p:spPr>
          <a:xfrm>
            <a:off x="1054667" y="2796582"/>
            <a:ext cx="591819" cy="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38971D4E-3139-8A15-63D9-7A044097001D}"/>
              </a:ext>
            </a:extLst>
          </p:cNvPr>
          <p:cNvCxnSpPr>
            <a:cxnSpLocks/>
          </p:cNvCxnSpPr>
          <p:nvPr/>
        </p:nvCxnSpPr>
        <p:spPr>
          <a:xfrm>
            <a:off x="1054667" y="3855637"/>
            <a:ext cx="591819" cy="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2D401D86-2EBF-AD5D-E86C-01825105E8F7}"/>
              </a:ext>
            </a:extLst>
          </p:cNvPr>
          <p:cNvCxnSpPr>
            <a:cxnSpLocks/>
          </p:cNvCxnSpPr>
          <p:nvPr/>
        </p:nvCxnSpPr>
        <p:spPr>
          <a:xfrm>
            <a:off x="1023226" y="4885198"/>
            <a:ext cx="591819" cy="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621B4343-1CFB-73B7-B4A7-E33DB5206478}"/>
              </a:ext>
            </a:extLst>
          </p:cNvPr>
          <p:cNvCxnSpPr>
            <a:cxnSpLocks/>
          </p:cNvCxnSpPr>
          <p:nvPr/>
        </p:nvCxnSpPr>
        <p:spPr>
          <a:xfrm>
            <a:off x="1023226" y="5921396"/>
            <a:ext cx="591819" cy="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4360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BDBAB-62CB-ADDE-B367-B33CD6A91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FF67BD4-42EA-747B-887D-0C3E5F7CB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Détection de l’obscuration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877EA23-23EB-9C5C-FBA6-204ADC9CEA40}"/>
              </a:ext>
            </a:extLst>
          </p:cNvPr>
          <p:cNvSpPr txBox="1"/>
          <p:nvPr/>
        </p:nvSpPr>
        <p:spPr>
          <a:xfrm>
            <a:off x="7774171" y="3429000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</a:rPr>
              <a:t>99,84%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99,95%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FC8A22B-BC78-C56B-EFE6-090057B466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55"/>
          <a:stretch/>
        </p:blipFill>
        <p:spPr>
          <a:xfrm>
            <a:off x="1291172" y="1683789"/>
            <a:ext cx="6433002" cy="466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54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A0519-89CF-2A63-08B2-3CF4BFF0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F5D7D21-B7C0-694F-27EF-9558414BEC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72"/>
          <a:stretch/>
        </p:blipFill>
        <p:spPr>
          <a:xfrm>
            <a:off x="1291172" y="1690685"/>
            <a:ext cx="6433002" cy="4664077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384E1C6D-BB91-AA02-88A8-09AB8E402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Reconnaissance de la classe source dans la translation (traces)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826281-E4E6-C814-5A67-627BA15DEFFA}"/>
              </a:ext>
            </a:extLst>
          </p:cNvPr>
          <p:cNvSpPr txBox="1"/>
          <p:nvPr/>
        </p:nvSpPr>
        <p:spPr>
          <a:xfrm>
            <a:off x="7774171" y="3429000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</a:rPr>
              <a:t>71,75%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87,24%</a:t>
            </a:r>
          </a:p>
        </p:txBody>
      </p:sp>
    </p:spTree>
    <p:extLst>
      <p:ext uri="{BB962C8B-B14F-4D97-AF65-F5344CB8AC3E}">
        <p14:creationId xmlns:p14="http://schemas.microsoft.com/office/powerpoint/2010/main" val="1394352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B0FF0-D8F9-C769-7A64-6AD0A50C9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1C0F03A-00C9-4C00-9802-C712BFF0F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01E1E70-ED43-E257-2C1B-B976A0D03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u="sng" dirty="0"/>
              <a:t>Efficace :</a:t>
            </a:r>
          </a:p>
          <a:p>
            <a:r>
              <a:rPr lang="fr-FR" b="1" dirty="0"/>
              <a:t>Obscuration </a:t>
            </a:r>
            <a:r>
              <a:rPr lang="fr-FR" dirty="0"/>
              <a:t>(~86% de </a:t>
            </a:r>
            <a:r>
              <a:rPr lang="fr-FR" dirty="0" err="1"/>
              <a:t>classif</a:t>
            </a:r>
            <a:r>
              <a:rPr lang="fr-FR" dirty="0"/>
              <a:t>. classe cible et ~12% classe </a:t>
            </a:r>
            <a:r>
              <a:rPr lang="fr-FR" strike="sngStrike" dirty="0"/>
              <a:t>source</a:t>
            </a:r>
            <a:r>
              <a:rPr lang="fr-FR" dirty="0"/>
              <a:t>)</a:t>
            </a:r>
            <a:endParaRPr lang="fr-FR" b="1" dirty="0"/>
          </a:p>
          <a:p>
            <a:r>
              <a:rPr lang="fr-FR" b="1" dirty="0"/>
              <a:t>Invisible</a:t>
            </a:r>
            <a:endParaRPr lang="fr-FR" dirty="0"/>
          </a:p>
          <a:p>
            <a:r>
              <a:rPr lang="fr-FR" b="1" dirty="0"/>
              <a:t>Réversible</a:t>
            </a:r>
            <a:r>
              <a:rPr lang="fr-FR" dirty="0"/>
              <a:t> (~94% de </a:t>
            </a:r>
            <a:r>
              <a:rPr lang="fr-FR" dirty="0" err="1"/>
              <a:t>classif</a:t>
            </a:r>
            <a:r>
              <a:rPr lang="fr-FR" dirty="0"/>
              <a:t>.)</a:t>
            </a:r>
            <a:endParaRPr lang="fr-FR" b="1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u="sng" dirty="0"/>
              <a:t>Attaquable (analyse des traces) :</a:t>
            </a:r>
          </a:p>
          <a:p>
            <a:r>
              <a:rPr lang="fr-FR" b="1" dirty="0"/>
              <a:t>Forte reconnaissance</a:t>
            </a:r>
            <a:r>
              <a:rPr lang="fr-FR" dirty="0"/>
              <a:t> des traces de la classe source (~72% de </a:t>
            </a:r>
            <a:r>
              <a:rPr lang="fr-FR" dirty="0" err="1"/>
              <a:t>classif</a:t>
            </a:r>
            <a:r>
              <a:rPr lang="fr-FR" dirty="0"/>
              <a:t>.)</a:t>
            </a:r>
          </a:p>
          <a:p>
            <a:r>
              <a:rPr lang="fr-FR" b="1" dirty="0"/>
              <a:t>Détectable</a:t>
            </a:r>
            <a:r>
              <a:rPr lang="fr-FR" dirty="0"/>
              <a:t> (~100% de </a:t>
            </a:r>
            <a:r>
              <a:rPr lang="fr-FR" dirty="0" err="1"/>
              <a:t>classif</a:t>
            </a:r>
            <a:r>
              <a:rPr lang="fr-FR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3940373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C78BD-1AC5-22CE-C478-34C2FB3EC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AB49835-AD65-303D-B074-279E1992C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1260069-1791-C1A7-4BC9-C4A941B20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Méthode de chiffrement</a:t>
            </a:r>
            <a:r>
              <a:rPr lang="fr-FR" dirty="0"/>
              <a:t> : intégration d’une clé, choix du vecteur de translation, d’un angle et d’un ratio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b="1" dirty="0"/>
          </a:p>
          <a:p>
            <a:r>
              <a:rPr lang="fr-FR" b="1" dirty="0"/>
              <a:t>Défense</a:t>
            </a:r>
            <a:r>
              <a:rPr lang="fr-FR" dirty="0"/>
              <a:t> : suppression des traces dans la translation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19410333-6584-5972-7BE2-505AF9FF55AD}"/>
              </a:ext>
            </a:extLst>
          </p:cNvPr>
          <p:cNvSpPr/>
          <p:nvPr/>
        </p:nvSpPr>
        <p:spPr>
          <a:xfrm rot="21248098">
            <a:off x="3555560" y="3000131"/>
            <a:ext cx="2240978" cy="16698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EF7B60A-F70B-9D4C-5154-EB1881F46D52}"/>
              </a:ext>
            </a:extLst>
          </p:cNvPr>
          <p:cNvSpPr/>
          <p:nvPr/>
        </p:nvSpPr>
        <p:spPr>
          <a:xfrm rot="3925294">
            <a:off x="6248333" y="3398440"/>
            <a:ext cx="1830449" cy="167663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riangle isocèle 16">
            <a:extLst>
              <a:ext uri="{FF2B5EF4-FFF2-40B4-BE49-F238E27FC236}">
                <a16:creationId xmlns:a16="http://schemas.microsoft.com/office/drawing/2014/main" id="{B87EDC87-CBD9-BC85-A7E5-8DE1913CA46B}"/>
              </a:ext>
            </a:extLst>
          </p:cNvPr>
          <p:cNvSpPr/>
          <p:nvPr/>
        </p:nvSpPr>
        <p:spPr>
          <a:xfrm rot="16735455">
            <a:off x="5797206" y="2927073"/>
            <a:ext cx="671886" cy="3120070"/>
          </a:xfrm>
          <a:prstGeom prst="triangle">
            <a:avLst/>
          </a:prstGeom>
          <a:solidFill>
            <a:srgbClr val="15608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239840E6-C1E1-C5D6-05C2-081A71832BE3}"/>
              </a:ext>
            </a:extLst>
          </p:cNvPr>
          <p:cNvSpPr/>
          <p:nvPr/>
        </p:nvSpPr>
        <p:spPr>
          <a:xfrm>
            <a:off x="4620003" y="3764453"/>
            <a:ext cx="163624" cy="1636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67FFB4F-F7A8-CD37-B98F-86E0E5AFD8FC}"/>
              </a:ext>
            </a:extLst>
          </p:cNvPr>
          <p:cNvSpPr/>
          <p:nvPr/>
        </p:nvSpPr>
        <p:spPr>
          <a:xfrm>
            <a:off x="7107267" y="4160775"/>
            <a:ext cx="163624" cy="1636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49EC98BB-3C44-8C7B-CAAB-E9390D070036}"/>
              </a:ext>
            </a:extLst>
          </p:cNvPr>
          <p:cNvCxnSpPr>
            <a:cxnSpLocks/>
          </p:cNvCxnSpPr>
          <p:nvPr/>
        </p:nvCxnSpPr>
        <p:spPr>
          <a:xfrm flipH="1" flipV="1">
            <a:off x="4701815" y="3840434"/>
            <a:ext cx="2487264" cy="396322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prstDash val="sys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igne de multiplication 8">
            <a:extLst>
              <a:ext uri="{FF2B5EF4-FFF2-40B4-BE49-F238E27FC236}">
                <a16:creationId xmlns:a16="http://schemas.microsoft.com/office/drawing/2014/main" id="{04613074-3C12-ADFC-1E1F-844A9D7F896C}"/>
              </a:ext>
            </a:extLst>
          </p:cNvPr>
          <p:cNvSpPr/>
          <p:nvPr/>
        </p:nvSpPr>
        <p:spPr>
          <a:xfrm>
            <a:off x="6925622" y="4512222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Signe de multiplication 9">
            <a:extLst>
              <a:ext uri="{FF2B5EF4-FFF2-40B4-BE49-F238E27FC236}">
                <a16:creationId xmlns:a16="http://schemas.microsoft.com/office/drawing/2014/main" id="{358E3D5C-DE4B-9606-2731-99941A417DBE}"/>
              </a:ext>
            </a:extLst>
          </p:cNvPr>
          <p:cNvSpPr/>
          <p:nvPr/>
        </p:nvSpPr>
        <p:spPr>
          <a:xfrm>
            <a:off x="4438358" y="4117788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6E401F9C-B0E0-96C0-A35F-2A8FE6A70161}"/>
              </a:ext>
            </a:extLst>
          </p:cNvPr>
          <p:cNvCxnSpPr>
            <a:cxnSpLocks/>
          </p:cNvCxnSpPr>
          <p:nvPr/>
        </p:nvCxnSpPr>
        <p:spPr>
          <a:xfrm flipH="1" flipV="1">
            <a:off x="4557326" y="4237425"/>
            <a:ext cx="2487264" cy="396322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6697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96A9B-2B84-9CDA-00E9-20C8BA10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C1BD28E-9D7E-1FCB-4245-90586D1D6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B4916D8-9635-8B96-7A98-53852CFA9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Empoisonnement</a:t>
            </a:r>
            <a:r>
              <a:rPr lang="fr-FR" dirty="0"/>
              <a:t> : tromper le classifieur</a:t>
            </a:r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64CC2C5-7538-DEA7-7763-264246931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71" y="2485603"/>
            <a:ext cx="10062258" cy="382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721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99787-DBE0-764D-6D01-B527C706C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8712BD5-44DD-19CE-F4DA-8E24E108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1039421-ABC3-E0A8-7292-69EC16216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09154" cy="4351338"/>
          </a:xfrm>
        </p:spPr>
        <p:txBody>
          <a:bodyPr>
            <a:normAutofit/>
          </a:bodyPr>
          <a:lstStyle/>
          <a:p>
            <a:r>
              <a:rPr lang="fr-FR" b="1" dirty="0"/>
              <a:t>CVAE</a:t>
            </a:r>
            <a:r>
              <a:rPr lang="fr-FR" dirty="0"/>
              <a:t> (VAE conditionnel) : découplage du style (trace?) et de la classe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E979B627-01A5-F968-1C77-6B74E418DBCF}"/>
              </a:ext>
            </a:extLst>
          </p:cNvPr>
          <p:cNvGrpSpPr/>
          <p:nvPr/>
        </p:nvGrpSpPr>
        <p:grpSpPr>
          <a:xfrm>
            <a:off x="3701938" y="2532513"/>
            <a:ext cx="4761759" cy="1792973"/>
            <a:chOff x="975609" y="2760081"/>
            <a:chExt cx="4761759" cy="179297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3080688-401A-607A-2B57-737D5751BCEB}"/>
                </a:ext>
              </a:extLst>
            </p:cNvPr>
            <p:cNvSpPr/>
            <p:nvPr/>
          </p:nvSpPr>
          <p:spPr>
            <a:xfrm>
              <a:off x="975609" y="2768005"/>
              <a:ext cx="1200196" cy="120019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dirty="0">
                  <a:solidFill>
                    <a:schemeClr val="tx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I</a:t>
              </a:r>
            </a:p>
          </p:txBody>
        </p:sp>
        <p:sp>
          <p:nvSpPr>
            <p:cNvPr id="3" name="Trapèze 2">
              <a:extLst>
                <a:ext uri="{FF2B5EF4-FFF2-40B4-BE49-F238E27FC236}">
                  <a16:creationId xmlns:a16="http://schemas.microsoft.com/office/drawing/2014/main" id="{0277293C-7971-2C49-3DA4-B445834A1E1C}"/>
                </a:ext>
              </a:extLst>
            </p:cNvPr>
            <p:cNvSpPr/>
            <p:nvPr/>
          </p:nvSpPr>
          <p:spPr>
            <a:xfrm rot="5400000">
              <a:off x="2107825" y="3142034"/>
              <a:ext cx="1202877" cy="449457"/>
            </a:xfrm>
            <a:prstGeom prst="trapezoid">
              <a:avLst>
                <a:gd name="adj" fmla="val 7859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E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829008-F624-F921-8B6B-7BB0CD5D8C8E}"/>
                </a:ext>
              </a:extLst>
            </p:cNvPr>
            <p:cNvSpPr/>
            <p:nvPr/>
          </p:nvSpPr>
          <p:spPr>
            <a:xfrm>
              <a:off x="3259843" y="3125246"/>
              <a:ext cx="166929" cy="48663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B74126B5-F25F-332C-D7FB-D4820F4910D0}"/>
                </a:ext>
              </a:extLst>
            </p:cNvPr>
            <p:cNvSpPr txBox="1"/>
            <p:nvPr/>
          </p:nvSpPr>
          <p:spPr>
            <a:xfrm>
              <a:off x="2950129" y="2760081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latin typeface="Consolas" panose="020B0609020204030204" pitchFamily="49" charset="0"/>
                  <a:cs typeface="Cascadia Code" panose="020B0609020000020004" pitchFamily="49" charset="0"/>
                </a:rPr>
                <a:t>z</a:t>
              </a:r>
              <a:endParaRPr lang="fr-FR" baseline="-25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cxnSp>
          <p:nvCxnSpPr>
            <p:cNvPr id="24" name="Connecteur droit avec flèche 23">
              <a:extLst>
                <a:ext uri="{FF2B5EF4-FFF2-40B4-BE49-F238E27FC236}">
                  <a16:creationId xmlns:a16="http://schemas.microsoft.com/office/drawing/2014/main" id="{71105722-90E5-541E-658C-28A680FE75C5}"/>
                </a:ext>
              </a:extLst>
            </p:cNvPr>
            <p:cNvCxnSpPr>
              <a:cxnSpLocks/>
              <a:stCxn id="3" idx="0"/>
              <a:endCxn id="7" idx="1"/>
            </p:cNvCxnSpPr>
            <p:nvPr/>
          </p:nvCxnSpPr>
          <p:spPr>
            <a:xfrm>
              <a:off x="2933992" y="3366763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2C1FA7BA-1C95-EE03-2A16-8DACB6E05F80}"/>
                </a:ext>
              </a:extLst>
            </p:cNvPr>
            <p:cNvSpPr txBox="1"/>
            <p:nvPr/>
          </p:nvSpPr>
          <p:spPr>
            <a:xfrm>
              <a:off x="2947901" y="4183722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latin typeface="Consolas" panose="020B0609020204030204" pitchFamily="49" charset="0"/>
                  <a:cs typeface="Cascadia Code" panose="020B0609020000020004" pitchFamily="49" charset="0"/>
                </a:rPr>
                <a:t>y</a:t>
              </a:r>
              <a:endParaRPr lang="fr-FR" baseline="-25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1F5199F-6088-82EA-3B0D-312616EC25C4}"/>
                </a:ext>
              </a:extLst>
            </p:cNvPr>
            <p:cNvSpPr/>
            <p:nvPr/>
          </p:nvSpPr>
          <p:spPr>
            <a:xfrm>
              <a:off x="3264080" y="3746817"/>
              <a:ext cx="166929" cy="486634"/>
            </a:xfrm>
            <a:prstGeom prst="rect">
              <a:avLst/>
            </a:prstGeom>
            <a:solidFill>
              <a:srgbClr val="ECF1C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0" name="Trapèze 49">
              <a:extLst>
                <a:ext uri="{FF2B5EF4-FFF2-40B4-BE49-F238E27FC236}">
                  <a16:creationId xmlns:a16="http://schemas.microsoft.com/office/drawing/2014/main" id="{6AB14638-D3C9-A862-76F7-901E0685947F}"/>
                </a:ext>
              </a:extLst>
            </p:cNvPr>
            <p:cNvSpPr/>
            <p:nvPr/>
          </p:nvSpPr>
          <p:spPr>
            <a:xfrm rot="16200000">
              <a:off x="3221259" y="3454223"/>
              <a:ext cx="1518217" cy="447953"/>
            </a:xfrm>
            <a:prstGeom prst="trapezoid">
              <a:avLst>
                <a:gd name="adj" fmla="val 7859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D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7ACC91E-8ED2-976F-4B6B-6B8D19A32B50}"/>
                </a:ext>
              </a:extLst>
            </p:cNvPr>
            <p:cNvSpPr/>
            <p:nvPr/>
          </p:nvSpPr>
          <p:spPr>
            <a:xfrm>
              <a:off x="4537172" y="3090422"/>
              <a:ext cx="1200196" cy="120019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dirty="0">
                  <a:solidFill>
                    <a:schemeClr val="tx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I’</a:t>
              </a:r>
            </a:p>
          </p:txBody>
        </p:sp>
        <p:cxnSp>
          <p:nvCxnSpPr>
            <p:cNvPr id="64" name="Connecteur droit avec flèche 63">
              <a:extLst>
                <a:ext uri="{FF2B5EF4-FFF2-40B4-BE49-F238E27FC236}">
                  <a16:creationId xmlns:a16="http://schemas.microsoft.com/office/drawing/2014/main" id="{B863928D-723C-931F-65A0-87026B371CE9}"/>
                </a:ext>
              </a:extLst>
            </p:cNvPr>
            <p:cNvCxnSpPr>
              <a:cxnSpLocks/>
            </p:cNvCxnSpPr>
            <p:nvPr/>
          </p:nvCxnSpPr>
          <p:spPr>
            <a:xfrm>
              <a:off x="3425168" y="3365421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Connecteur droit avec flèche 64">
              <a:extLst>
                <a:ext uri="{FF2B5EF4-FFF2-40B4-BE49-F238E27FC236}">
                  <a16:creationId xmlns:a16="http://schemas.microsoft.com/office/drawing/2014/main" id="{5D220751-CDB1-531B-3D29-7D614FE8648A}"/>
                </a:ext>
              </a:extLst>
            </p:cNvPr>
            <p:cNvCxnSpPr>
              <a:cxnSpLocks/>
            </p:cNvCxnSpPr>
            <p:nvPr/>
          </p:nvCxnSpPr>
          <p:spPr>
            <a:xfrm>
              <a:off x="3425168" y="3990134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Connecteur droit avec flèche 66">
              <a:extLst>
                <a:ext uri="{FF2B5EF4-FFF2-40B4-BE49-F238E27FC236}">
                  <a16:creationId xmlns:a16="http://schemas.microsoft.com/office/drawing/2014/main" id="{B7A6EA45-97E1-ED27-25B8-C4DD1B9B6B9B}"/>
                </a:ext>
              </a:extLst>
            </p:cNvPr>
            <p:cNvCxnSpPr>
              <a:cxnSpLocks/>
            </p:cNvCxnSpPr>
            <p:nvPr/>
          </p:nvCxnSpPr>
          <p:spPr>
            <a:xfrm>
              <a:off x="2168100" y="3363621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Connecteur droit avec flèche 67">
              <a:extLst>
                <a:ext uri="{FF2B5EF4-FFF2-40B4-BE49-F238E27FC236}">
                  <a16:creationId xmlns:a16="http://schemas.microsoft.com/office/drawing/2014/main" id="{6E55D3D0-6BB7-FB5F-167F-481A0A364C90}"/>
                </a:ext>
              </a:extLst>
            </p:cNvPr>
            <p:cNvCxnSpPr>
              <a:cxnSpLocks/>
            </p:cNvCxnSpPr>
            <p:nvPr/>
          </p:nvCxnSpPr>
          <p:spPr>
            <a:xfrm>
              <a:off x="4211321" y="3685610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81883A60-DCFB-48D8-DC63-1A7C466131C5}"/>
              </a:ext>
            </a:extLst>
          </p:cNvPr>
          <p:cNvGrpSpPr/>
          <p:nvPr/>
        </p:nvGrpSpPr>
        <p:grpSpPr>
          <a:xfrm>
            <a:off x="944647" y="4269158"/>
            <a:ext cx="10276341" cy="2575237"/>
            <a:chOff x="1510181" y="4243728"/>
            <a:chExt cx="9171638" cy="2298400"/>
          </a:xfrm>
        </p:grpSpPr>
        <p:pic>
          <p:nvPicPr>
            <p:cNvPr id="71" name="Image 70" descr="Une image contenant diagramme, texte, ligne, Tracé&#10;&#10;Le contenu généré par l’IA peut être incorrect.">
              <a:extLst>
                <a:ext uri="{FF2B5EF4-FFF2-40B4-BE49-F238E27FC236}">
                  <a16:creationId xmlns:a16="http://schemas.microsoft.com/office/drawing/2014/main" id="{515B5D0E-4F82-DD95-DFCC-CB0876E38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0181" y="4249218"/>
              <a:ext cx="4585819" cy="2292910"/>
            </a:xfrm>
            <a:prstGeom prst="rect">
              <a:avLst/>
            </a:prstGeom>
          </p:spPr>
        </p:pic>
        <p:pic>
          <p:nvPicPr>
            <p:cNvPr id="73" name="Image 72" descr="Une image contenant texte, diagramme, Tracé, ligne&#10;&#10;Le contenu généré par l’IA peut être incorrect.">
              <a:extLst>
                <a:ext uri="{FF2B5EF4-FFF2-40B4-BE49-F238E27FC236}">
                  <a16:creationId xmlns:a16="http://schemas.microsoft.com/office/drawing/2014/main" id="{917F4EE8-3643-E354-C6FB-6DF5581B2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4243728"/>
              <a:ext cx="4585819" cy="2292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75453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A3C5-7E27-371A-8AC1-3427171AF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3DB4134-6CDD-386C-FAFA-B49F7CC28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Références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28250DD-B358-F861-DEDD-27DB59DDC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6079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1" dirty="0"/>
              <a:t>→ </a:t>
            </a:r>
            <a:r>
              <a:rPr lang="en-US" sz="2000" i="1" dirty="0"/>
              <a:t>β-VAE: Learning Basic Visual Concepts with a Constrained Variational Framework</a:t>
            </a:r>
          </a:p>
          <a:p>
            <a:pPr marL="0" indent="0">
              <a:buNone/>
            </a:pPr>
            <a:r>
              <a:rPr lang="fr-FR" sz="1800" b="1" i="0" dirty="0">
                <a:effectLst/>
                <a:latin typeface="Arial" panose="020B0604020202020204" pitchFamily="34" charset="0"/>
              </a:rPr>
              <a:t>Irina Higgins, </a:t>
            </a:r>
            <a:r>
              <a:rPr lang="fr-FR" sz="1800" b="1" i="0" dirty="0" err="1">
                <a:effectLst/>
                <a:latin typeface="Arial" panose="020B0604020202020204" pitchFamily="34" charset="0"/>
              </a:rPr>
              <a:t>Loic</a:t>
            </a:r>
            <a:r>
              <a:rPr lang="fr-FR" sz="1800" b="1" i="0" dirty="0">
                <a:effectLst/>
                <a:latin typeface="Arial" panose="020B0604020202020204" pitchFamily="34" charset="0"/>
              </a:rPr>
              <a:t> </a:t>
            </a:r>
            <a:r>
              <a:rPr lang="fr-FR" sz="1800" b="1" i="0" dirty="0" err="1">
                <a:effectLst/>
                <a:latin typeface="Arial" panose="020B0604020202020204" pitchFamily="34" charset="0"/>
              </a:rPr>
              <a:t>Matthey</a:t>
            </a:r>
            <a:r>
              <a:rPr lang="fr-FR" sz="1800" b="1" i="0" dirty="0">
                <a:effectLst/>
                <a:latin typeface="Arial" panose="020B0604020202020204" pitchFamily="34" charset="0"/>
              </a:rPr>
              <a:t>, Arka Pal, Christopher Burgess, Xavier </a:t>
            </a:r>
            <a:r>
              <a:rPr lang="fr-FR" sz="1800" b="1" i="0" dirty="0" err="1">
                <a:effectLst/>
                <a:latin typeface="Arial" panose="020B0604020202020204" pitchFamily="34" charset="0"/>
              </a:rPr>
              <a:t>Glorot</a:t>
            </a:r>
            <a:r>
              <a:rPr lang="fr-FR" sz="1800" b="1" i="0" dirty="0">
                <a:effectLst/>
                <a:latin typeface="Arial" panose="020B0604020202020204" pitchFamily="34" charset="0"/>
              </a:rPr>
              <a:t>,</a:t>
            </a:r>
            <a:br>
              <a:rPr lang="fr-FR" sz="1800" b="1" dirty="0"/>
            </a:br>
            <a:r>
              <a:rPr lang="fr-FR" sz="1800" b="1" i="0" dirty="0">
                <a:effectLst/>
                <a:latin typeface="Arial" panose="020B0604020202020204" pitchFamily="34" charset="0"/>
              </a:rPr>
              <a:t>Matthew </a:t>
            </a:r>
            <a:r>
              <a:rPr lang="fr-FR" sz="1800" b="1" i="0" dirty="0" err="1">
                <a:effectLst/>
                <a:latin typeface="Arial" panose="020B0604020202020204" pitchFamily="34" charset="0"/>
              </a:rPr>
              <a:t>Botvinick</a:t>
            </a:r>
            <a:r>
              <a:rPr lang="fr-FR" sz="1800" b="1" i="0" dirty="0">
                <a:effectLst/>
                <a:latin typeface="Arial" panose="020B0604020202020204" pitchFamily="34" charset="0"/>
              </a:rPr>
              <a:t>, Shakir Mohamed, Alexander </a:t>
            </a:r>
            <a:r>
              <a:rPr lang="fr-FR" sz="1800" b="1" i="0" dirty="0" err="1">
                <a:effectLst/>
                <a:latin typeface="Arial" panose="020B0604020202020204" pitchFamily="34" charset="0"/>
              </a:rPr>
              <a:t>Lerchner</a:t>
            </a:r>
            <a:endParaRPr lang="fr-FR" sz="1800" b="1" i="0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b="0" i="0" dirty="0">
                <a:effectLst/>
                <a:latin typeface="Arial" panose="020B0604020202020204" pitchFamily="34" charset="0"/>
              </a:rPr>
              <a:t>International Conference on Learning Representations (ICLR), 2017</a:t>
            </a:r>
            <a:endParaRPr lang="fr-FR" sz="1400" b="0" i="0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fr-FR" sz="16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i="1" dirty="0"/>
              <a:t>→ </a:t>
            </a:r>
            <a:r>
              <a:rPr lang="en-US" sz="2000" i="1" dirty="0"/>
              <a:t>Transferable Adversarial Patches : A Potential Threat for Real-World Computer Vision Algorithms</a:t>
            </a:r>
          </a:p>
          <a:p>
            <a:pPr marL="0" indent="0">
              <a:buNone/>
            </a:pPr>
            <a:r>
              <a:rPr lang="en-US" sz="1800" b="1" dirty="0"/>
              <a:t>Pol </a:t>
            </a:r>
            <a:r>
              <a:rPr lang="en-US" sz="1800" b="1" dirty="0" err="1"/>
              <a:t>Labarbarie</a:t>
            </a:r>
            <a:endParaRPr lang="en-US" sz="1800" b="1" dirty="0"/>
          </a:p>
          <a:p>
            <a:pPr marL="0" indent="0">
              <a:buNone/>
            </a:pPr>
            <a:r>
              <a:rPr lang="fr-FR" sz="1400" dirty="0"/>
              <a:t>PhD </a:t>
            </a:r>
            <a:r>
              <a:rPr lang="fr-FR" sz="1400" dirty="0" err="1"/>
              <a:t>Thesis</a:t>
            </a:r>
            <a:r>
              <a:rPr lang="fr-FR" sz="1400" dirty="0"/>
              <a:t>, </a:t>
            </a:r>
            <a:r>
              <a:rPr lang="fr-FR" sz="1400" dirty="0" err="1"/>
              <a:t>Milad</a:t>
            </a:r>
            <a:r>
              <a:rPr lang="fr-FR" sz="1400" dirty="0"/>
              <a:t> Informatique Université Paris-Saclay, 2024</a:t>
            </a:r>
            <a:endParaRPr lang="en-US" sz="14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000" b="1" i="1" dirty="0"/>
              <a:t>→ </a:t>
            </a:r>
            <a:r>
              <a:rPr lang="en-US" sz="2000" i="1" dirty="0"/>
              <a:t>Learning Disentangled Representations With Semi-Supervised Deep Generative Models</a:t>
            </a:r>
          </a:p>
          <a:p>
            <a:pPr marL="0" indent="0">
              <a:buNone/>
            </a:pPr>
            <a:r>
              <a:rPr lang="en-US" sz="1800" b="1" dirty="0"/>
              <a:t>N. Siddharth, Brooks Paige, Jan-Willem van de </a:t>
            </a:r>
            <a:r>
              <a:rPr lang="en-US" sz="1800" b="1" dirty="0" err="1"/>
              <a:t>Meent</a:t>
            </a:r>
            <a:r>
              <a:rPr lang="en-US" sz="1800" b="1" dirty="0"/>
              <a:t>, Alban </a:t>
            </a:r>
            <a:r>
              <a:rPr lang="en-US" sz="1800" b="1" dirty="0" err="1"/>
              <a:t>Desmaison</a:t>
            </a:r>
            <a:r>
              <a:rPr lang="en-US" sz="1800" b="1" dirty="0"/>
              <a:t>, Noah D. Goodman, </a:t>
            </a:r>
            <a:r>
              <a:rPr lang="en-US" sz="1800" b="1" dirty="0" err="1"/>
              <a:t>Pushmeet</a:t>
            </a:r>
            <a:r>
              <a:rPr lang="en-US" sz="1800" b="1" dirty="0"/>
              <a:t> Kohli, Frank Wood, Philip H. S. Torr. L</a:t>
            </a:r>
          </a:p>
          <a:p>
            <a:pPr marL="0" indent="0">
              <a:buNone/>
            </a:pPr>
            <a:r>
              <a:rPr lang="fr-FR" sz="1400" dirty="0"/>
              <a:t>2017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5512425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1964</TotalTime>
  <Words>857</Words>
  <Application>Microsoft Office PowerPoint</Application>
  <PresentationFormat>Grand écran</PresentationFormat>
  <Paragraphs>277</Paragraphs>
  <Slides>35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Cascadia Code</vt:lpstr>
      <vt:lpstr>Consolas</vt:lpstr>
      <vt:lpstr>Thème Office</vt:lpstr>
      <vt:lpstr>Obscuration de chiffres dans des images par translation de vecteurs latents</vt:lpstr>
      <vt:lpstr>Contexte</vt:lpstr>
      <vt:lpstr>Solution</vt:lpstr>
      <vt:lpstr>Méthode</vt:lpstr>
      <vt:lpstr>Méthode Calcul des vecteurs de translation</vt:lpstr>
      <vt:lpstr>Méthode Obscuration</vt:lpstr>
      <vt:lpstr>Méthode Étape d’obscuration</vt:lpstr>
      <vt:lpstr>Méthode Étape de désobscuration</vt:lpstr>
      <vt:lpstr>Méthode Désobscuration</vt:lpstr>
      <vt:lpstr>Méthode Évaluation de l’obscuration (classification)</vt:lpstr>
      <vt:lpstr>Résultats expérimentaux</vt:lpstr>
      <vt:lpstr>Résultats expérimentaux Dataset</vt:lpstr>
      <vt:lpstr>Résultats expérimentaux Modèles</vt:lpstr>
      <vt:lpstr>Résultats expérimentaux Prototypes</vt:lpstr>
      <vt:lpstr>Résultats expérimentaux Obscuration</vt:lpstr>
      <vt:lpstr>Résultats expérimentaux Translation des chiffres</vt:lpstr>
      <vt:lpstr>Résultats expérimentaux Translation des chiffres</vt:lpstr>
      <vt:lpstr>Résultats expérimentaux Classification de l’obscuration</vt:lpstr>
      <vt:lpstr>Résultats expérimentaux Distribution de la certitude des prédictions</vt:lpstr>
      <vt:lpstr>Résultats expérimentaux Désobscuration</vt:lpstr>
      <vt:lpstr>Résultats expérimentaux Classification de la désobscuration</vt:lpstr>
      <vt:lpstr>Attaque (et défense)</vt:lpstr>
      <vt:lpstr>Détection de l’obscuration Fonctionnement</vt:lpstr>
      <vt:lpstr>Détection de l’obscuration Entraînement du classifieur</vt:lpstr>
      <vt:lpstr>Reconnaissance de la classe source (traces) Fonctionnement</vt:lpstr>
      <vt:lpstr>Reconnaissance de la classe source (traces) Entraînement du classifieur</vt:lpstr>
      <vt:lpstr>Résultats expérimentaux</vt:lpstr>
      <vt:lpstr>Résultats expérimentaux Détection de l’obscuration et de la classe source</vt:lpstr>
      <vt:lpstr>Résultats expérimentaux Détection de l’obscuration</vt:lpstr>
      <vt:lpstr>Résultats expérimentaux Reconnaissance de la classe source dans la translation (traces)</vt:lpstr>
      <vt:lpstr>Conclusion</vt:lpstr>
      <vt:lpstr>Perspectives</vt:lpstr>
      <vt:lpstr>Perspectives</vt:lpstr>
      <vt:lpstr>Perspectives</vt:lpstr>
      <vt:lpstr>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 Noye</dc:creator>
  <cp:lastModifiedBy>Valentin Noye</cp:lastModifiedBy>
  <cp:revision>778</cp:revision>
  <dcterms:created xsi:type="dcterms:W3CDTF">2025-02-28T08:29:14Z</dcterms:created>
  <dcterms:modified xsi:type="dcterms:W3CDTF">2025-03-07T16:23:48Z</dcterms:modified>
</cp:coreProperties>
</file>