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91" r:id="rId25"/>
    <p:sldId id="279" r:id="rId26"/>
    <p:sldId id="280" r:id="rId27"/>
    <p:sldId id="292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25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2BF4B-D276-405F-BE21-641D3E3D2702}" type="datetimeFigureOut">
              <a:rPr lang="fr-FR" smtClean="0"/>
              <a:t>10/03/2025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D8719-7F34-42D3-B1F3-33D845E2F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32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5A78D-40C1-BF5F-45CE-E684DB59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703F17-EBFE-0CC1-D5BD-ECFB7BC4C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6DD14A-3D4C-2852-ACD9-E2822805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9FE7D2-1CF9-F84B-A4A5-AE6D4E31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1F5BF-3699-176F-B36A-FF708BEB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titre 1">
            <a:extLst>
              <a:ext uri="{FF2B5EF4-FFF2-40B4-BE49-F238E27FC236}">
                <a16:creationId xmlns:a16="http://schemas.microsoft.com/office/drawing/2014/main" id="{B472D9B1-B5C6-4D83-A6CC-606F021DAC99}"/>
              </a:ext>
            </a:extLst>
          </p:cNvPr>
          <p:cNvSpPr txBox="1">
            <a:spLocks/>
          </p:cNvSpPr>
          <p:nvPr userDrawn="1"/>
        </p:nvSpPr>
        <p:spPr>
          <a:xfrm>
            <a:off x="0" y="-9279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2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D8EEA1-E2A7-6858-6D9D-F73F151C9E19}"/>
              </a:ext>
            </a:extLst>
          </p:cNvPr>
          <p:cNvSpPr/>
          <p:nvPr userDrawn="1"/>
        </p:nvSpPr>
        <p:spPr>
          <a:xfrm>
            <a:off x="-123190" y="-203200"/>
            <a:ext cx="12425680" cy="121920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FDA018-9281-9BBF-7E8C-33E3C19834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635" y="93886"/>
            <a:ext cx="760845" cy="76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etaBug - A Machine Fuzzing Company">
            <a:extLst>
              <a:ext uri="{FF2B5EF4-FFF2-40B4-BE49-F238E27FC236}">
                <a16:creationId xmlns:a16="http://schemas.microsoft.com/office/drawing/2014/main" id="{EB277654-5C8D-514C-391C-B9723BBBCF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1676"/>
            <a:ext cx="1077676" cy="107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ogramme et équipements prioritaires de recherche pour la cybersécurité |  PEPR - CyberSécurité">
            <a:extLst>
              <a:ext uri="{FF2B5EF4-FFF2-40B4-BE49-F238E27FC236}">
                <a16:creationId xmlns:a16="http://schemas.microsoft.com/office/drawing/2014/main" id="{08BD9EF9-BB0D-96B6-475E-97EDBA4176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76" y="28855"/>
            <a:ext cx="1781810" cy="89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81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2585F-E1F0-6BE5-5D8B-771D69FA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DA854C-A61A-AA80-EB64-8DB62B89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1"/>
            <a:ext cx="10515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E6D7D7-09CA-E25E-EDB4-DD488071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7E3E08-0F94-96A1-B9C0-3D1012F9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4C0D90-FB0F-619C-D459-5F38C9E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33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D14BD-6110-1220-75E5-3A904B3E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B9FE44-8683-1AF4-C381-CEC6EEEDF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EF2E91-6E8A-2E74-FDB2-E5111115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03E383-E4F6-7152-EE04-4C87197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468A9A-7065-F496-22EA-299B40EDF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80CA26-792B-3C08-2EDB-7DC420BB67AB}"/>
              </a:ext>
            </a:extLst>
          </p:cNvPr>
          <p:cNvSpPr/>
          <p:nvPr userDrawn="1"/>
        </p:nvSpPr>
        <p:spPr>
          <a:xfrm>
            <a:off x="-123190" y="-203200"/>
            <a:ext cx="12425680" cy="112776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22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D09CF-4D00-4B5D-254A-70BECC19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00150A-0A05-0FBC-A977-BF1E6857D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BEDF27-28ED-E2B9-B153-C455B663A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5E754F-7C68-5C07-F791-F1F03846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A237A8-0137-B044-D91E-E917E72B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582947-42C9-443A-CC3A-3E269DD4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31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77DC7-C03B-CECE-F320-4C593BA3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A6E9C1-2001-DA7D-70A9-996263075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898AE9-387B-95CC-07DA-F5FE960BA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4F59D6-FE28-1A3E-27AD-6F4228A2D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AA2F50-9B72-ECAB-F75E-484424CB1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2C6D0F-D652-72E9-B868-FEFCAC85F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5098299-ED99-5D79-6C2B-632648F8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DB4212-7871-3C34-9A86-3BC2395C2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48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06B1B-604E-A870-CFAE-A7C0FBBB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A9BB62-70CC-5B53-3FA0-9F24E4ED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72D081-C3D0-016D-9B45-F4D14C51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D5106A-25C4-0E04-B152-D5DD9DAE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27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B4BC48F-7EC3-F603-9299-219B9184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12EEA2-72CE-0FE3-7EA0-8253D493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B520D4-7852-2EA5-A7A3-BAC9B2E7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57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A62EC-C39D-E1B0-212A-85D99B78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50078-787B-F2CE-909F-C1DD45A6B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D7DC82-646D-C4A2-82A3-F8D760FA7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FD0291-A192-3422-4B23-CE41EA3E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3AD384-0544-6202-2625-484284CC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3DD14F-6FFC-469D-962A-0B91A4CD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51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2B036C-6B67-FDA3-C954-DD7CEB22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3688E9-9AB9-B651-D420-70C7BBB76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6E45F3-A436-2E3C-DD26-B186A3AEB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4D6164-1725-DF4B-A162-329F87B7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4237C5-4D4B-1B86-A132-23F600E4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A12085-BCED-8431-1A51-6E943617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90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B1B86-A8BC-A5E4-FF0A-4294294D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94E21A-4D3C-F698-6E35-2D205969E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C46BC-543E-9337-DE44-FAE37364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D4FD22-928A-3525-F12E-593F33B2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189BCE-79F6-B0ED-FAA0-A0DE1228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95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E304A1-0E72-E21B-EBF5-9BCA8A340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92CD8D-488C-BCCE-0376-2DB9D4EDA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83A6A8-8F1D-EDC2-FF2C-0CCA4F01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CC5C42-113D-7D50-A5B2-D1F82BD4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9050C9-1398-E2D7-F6E2-882A0C97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04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CE351FB-307F-3D79-80FB-9C0E42095E9D}"/>
              </a:ext>
            </a:extLst>
          </p:cNvPr>
          <p:cNvSpPr/>
          <p:nvPr userDrawn="1"/>
        </p:nvSpPr>
        <p:spPr>
          <a:xfrm>
            <a:off x="0" y="6311900"/>
            <a:ext cx="12192000" cy="5461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15CBA1-EF7A-30EE-F20E-55871FC0B384}"/>
              </a:ext>
            </a:extLst>
          </p:cNvPr>
          <p:cNvSpPr/>
          <p:nvPr userDrawn="1"/>
        </p:nvSpPr>
        <p:spPr>
          <a:xfrm>
            <a:off x="-81280" y="215423"/>
            <a:ext cx="12385040" cy="7091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6D9E01-5AB6-7E54-93CD-5EEC9AC6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79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EF9D6F-B9CD-0EF0-0566-AFF7B2998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13B0FD-1592-C6CC-C3A2-2F93AD10B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20" y="63985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fr-FR"/>
              <a:t>24/03/2025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BFE1BE-8AD7-48BE-D181-AA8D358A9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985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fr-FR"/>
              <a:t>Valentin NOYÉ - Projet COMPROMIS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B9ED73-F4D2-EB62-C322-01DF0F2A3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2280" y="64023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2"/>
                </a:solidFill>
                <a:latin typeface="Bahnschrift" panose="020B0502040204020203" pitchFamily="34" charset="0"/>
              </a:defRPr>
            </a:lvl1pPr>
          </a:lstStyle>
          <a:p>
            <a:fld id="{1257768B-64F3-4AB0-8153-7A58661CE1D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D82162-7ED1-3743-2EEE-1B735B2B2AB6}"/>
              </a:ext>
            </a:extLst>
          </p:cNvPr>
          <p:cNvSpPr/>
          <p:nvPr userDrawn="1"/>
        </p:nvSpPr>
        <p:spPr>
          <a:xfrm>
            <a:off x="-81280" y="-178912"/>
            <a:ext cx="12385040" cy="409100"/>
          </a:xfrm>
          <a:prstGeom prst="rect">
            <a:avLst/>
          </a:prstGeom>
          <a:solidFill>
            <a:schemeClr val="tx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730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E8B15-C085-22D6-45EF-05B420F8F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6800" y="1219518"/>
            <a:ext cx="7518400" cy="2209482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chemeClr val="accent4">
                    <a:lumMod val="75000"/>
                  </a:schemeClr>
                </a:solidFill>
              </a:rPr>
              <a:t>Obscuration de chiffres dans des images par translation de vecteurs latents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A80E6D-1828-9BE6-4A2F-41F5439C9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09482"/>
          </a:xfrm>
        </p:spPr>
        <p:txBody>
          <a:bodyPr>
            <a:normAutofit/>
          </a:bodyPr>
          <a:lstStyle/>
          <a:p>
            <a:r>
              <a:rPr lang="fr-FR" dirty="0"/>
              <a:t>Valentin NOYÉ</a:t>
            </a:r>
            <a:r>
              <a:rPr lang="fr-FR" b="1" baseline="30000" dirty="0">
                <a:solidFill>
                  <a:schemeClr val="accent6"/>
                </a:solidFill>
              </a:rPr>
              <a:t>1</a:t>
            </a:r>
            <a:r>
              <a:rPr lang="fr-FR" dirty="0"/>
              <a:t>, William PUECH</a:t>
            </a:r>
            <a:r>
              <a:rPr lang="fr-FR" b="1" baseline="30000" dirty="0">
                <a:solidFill>
                  <a:schemeClr val="accent6"/>
                </a:solidFill>
              </a:rPr>
              <a:t>1</a:t>
            </a:r>
            <a:r>
              <a:rPr lang="fr-FR" dirty="0"/>
              <a:t>, Pauline PUTEAUX</a:t>
            </a:r>
            <a:r>
              <a:rPr lang="fr-FR" b="1" baseline="30000" dirty="0">
                <a:solidFill>
                  <a:schemeClr val="accent6"/>
                </a:solidFill>
              </a:rPr>
              <a:t>2</a:t>
            </a:r>
          </a:p>
          <a:p>
            <a:endParaRPr lang="fr-FR" dirty="0"/>
          </a:p>
          <a:p>
            <a:r>
              <a:rPr lang="fr-FR" b="1" baseline="30000" dirty="0">
                <a:solidFill>
                  <a:schemeClr val="accent6"/>
                </a:solidFill>
              </a:rPr>
              <a:t>1</a:t>
            </a:r>
            <a:r>
              <a:rPr lang="fr-FR" b="1" dirty="0"/>
              <a:t>LIRMM</a:t>
            </a:r>
            <a:r>
              <a:rPr lang="fr-FR" dirty="0"/>
              <a:t>, Univ Montpellier, CNRS</a:t>
            </a:r>
          </a:p>
          <a:p>
            <a:r>
              <a:rPr lang="fr-FR" b="1" baseline="30000" dirty="0">
                <a:solidFill>
                  <a:schemeClr val="accent6"/>
                </a:solidFill>
              </a:rPr>
              <a:t>2</a:t>
            </a:r>
            <a:r>
              <a:rPr lang="fr-FR" b="1" dirty="0"/>
              <a:t>CRIStAL</a:t>
            </a:r>
            <a:r>
              <a:rPr lang="fr-FR" dirty="0"/>
              <a:t>, Univ Lille, CNRS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B5E8D9-FD58-4547-AB4B-FE144FBD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926243-B948-BF6A-8BCE-ABCA7EE0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</a:t>
            </a:fld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38B3ECA-D7D1-F812-1F84-D5636FB1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</p:spTree>
    <p:extLst>
      <p:ext uri="{BB962C8B-B14F-4D97-AF65-F5344CB8AC3E}">
        <p14:creationId xmlns:p14="http://schemas.microsoft.com/office/powerpoint/2010/main" val="182963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0C9F-A53F-C9B9-2936-4B919577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70A0749-05CA-D9C3-3E7A-C2B4F469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3AFEE73-C096-98D1-D2EF-F4C8DAB5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Protection des données</a:t>
            </a:r>
            <a:r>
              <a:rPr lang="fr-FR" dirty="0"/>
              <a:t> et de la vie privée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Importance de l’information dans les médias visuels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</a:t>
            </a:r>
            <a:r>
              <a:rPr lang="fr-FR" b="1" dirty="0">
                <a:solidFill>
                  <a:schemeClr val="accent1"/>
                </a:solidFill>
              </a:rPr>
              <a:t>réversible</a:t>
            </a:r>
            <a:r>
              <a:rPr lang="fr-FR" dirty="0"/>
              <a:t> à partir d’une clé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Bonne </a:t>
            </a:r>
            <a:r>
              <a:rPr lang="fr-FR" b="1" dirty="0">
                <a:solidFill>
                  <a:schemeClr val="accent1"/>
                </a:solidFill>
              </a:rPr>
              <a:t>fidélité visuelle</a:t>
            </a:r>
            <a:r>
              <a:rPr lang="fr-FR" dirty="0"/>
              <a:t> et </a:t>
            </a:r>
            <a:r>
              <a:rPr lang="fr-FR" b="1" dirty="0">
                <a:solidFill>
                  <a:schemeClr val="accent1"/>
                </a:solidFill>
              </a:rPr>
              <a:t>invisible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4680155-9D63-0F51-07DC-B2BB61F0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7BDEBF-1624-A7C9-B39E-FA29A052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F3F5A1-B21D-0FE3-5005-E38C901F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</a:t>
            </a:fld>
            <a:endParaRPr lang="fr-FR"/>
          </a:p>
        </p:txBody>
      </p:sp>
      <p:sp>
        <p:nvSpPr>
          <p:cNvPr id="9" name="Titre 6">
            <a:extLst>
              <a:ext uri="{FF2B5EF4-FFF2-40B4-BE49-F238E27FC236}">
                <a16:creationId xmlns:a16="http://schemas.microsoft.com/office/drawing/2014/main" id="{92D3103A-79F4-C71E-DA6B-31A97F95F1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Introduction</a:t>
            </a:r>
          </a:p>
        </p:txBody>
      </p:sp>
      <p:pic>
        <p:nvPicPr>
          <p:cNvPr id="10" name="Image 9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009E7605-8E47-DCBF-E3E1-2088D1A16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4029127"/>
            <a:ext cx="2741955" cy="1746952"/>
          </a:xfrm>
          <a:prstGeom prst="rect">
            <a:avLst/>
          </a:prstGeom>
        </p:spPr>
      </p:pic>
      <p:pic>
        <p:nvPicPr>
          <p:cNvPr id="11" name="Image 10" descr="Une image contenant voiture, Extérieur d’automobile, pare-choc, texte&#10;&#10;Le contenu généré par l’IA peut être incorrect.">
            <a:extLst>
              <a:ext uri="{FF2B5EF4-FFF2-40B4-BE49-F238E27FC236}">
                <a16:creationId xmlns:a16="http://schemas.microsoft.com/office/drawing/2014/main" id="{E3A605DE-C786-CFCC-A82F-31BEC5137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22" y="4029127"/>
            <a:ext cx="2741955" cy="1746952"/>
          </a:xfrm>
          <a:prstGeom prst="rect">
            <a:avLst/>
          </a:prstGeom>
        </p:spPr>
      </p:pic>
      <p:pic>
        <p:nvPicPr>
          <p:cNvPr id="12" name="Image 11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986ADF7B-52A7-CF3C-86B2-CE121B2FF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245" y="4029127"/>
            <a:ext cx="2741955" cy="17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6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85D3-304C-7B36-4CC7-1A788E5F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8220513-CF63-182D-A415-7E4A46F5FEC8}"/>
              </a:ext>
            </a:extLst>
          </p:cNvPr>
          <p:cNvCxnSpPr>
            <a:cxnSpLocks/>
          </p:cNvCxnSpPr>
          <p:nvPr/>
        </p:nvCxnSpPr>
        <p:spPr>
          <a:xfrm flipV="1">
            <a:off x="6095999" y="1232772"/>
            <a:ext cx="0" cy="489712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re 6">
            <a:extLst>
              <a:ext uri="{FF2B5EF4-FFF2-40B4-BE49-F238E27FC236}">
                <a16:creationId xmlns:a16="http://schemas.microsoft.com/office/drawing/2014/main" id="{21F8B462-BA36-CC2F-E9BB-F257056D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0B018FB-A51A-E22C-A0D4-D87E9934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D64125-0227-8298-A4E0-76EE2AA9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794CD7-4508-89A6-66B7-475A07DF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</a:t>
            </a:fld>
            <a:endParaRPr lang="fr-FR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6081FB55-176D-CB65-AE82-298B664A6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36" y="2762346"/>
            <a:ext cx="3111201" cy="1817779"/>
          </a:xfrm>
          <a:prstGeom prst="rect">
            <a:avLst/>
          </a:prstGeom>
        </p:spPr>
      </p:pic>
      <p:pic>
        <p:nvPicPr>
          <p:cNvPr id="3" name="Image 2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3798E3D9-AD54-68DA-B3DE-B7CD0A1C1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762346"/>
            <a:ext cx="3111201" cy="1817780"/>
          </a:xfrm>
          <a:prstGeom prst="rect">
            <a:avLst/>
          </a:prstGeom>
        </p:spPr>
      </p:pic>
      <p:pic>
        <p:nvPicPr>
          <p:cNvPr id="10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865BBD72-9172-5EB5-5FCA-F2FF66266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063" y="2762346"/>
            <a:ext cx="3111201" cy="1817779"/>
          </a:xfrm>
          <a:prstGeom prst="rect">
            <a:avLst/>
          </a:prstGeom>
        </p:spPr>
      </p:pic>
      <p:pic>
        <p:nvPicPr>
          <p:cNvPr id="12" name="Image 11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1BF7B09E-8649-0667-3C2B-95F276693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327" y="2966318"/>
            <a:ext cx="462682" cy="462682"/>
          </a:xfrm>
          <a:prstGeom prst="rect">
            <a:avLst/>
          </a:prstGeom>
        </p:spPr>
      </p:pic>
      <p:pic>
        <p:nvPicPr>
          <p:cNvPr id="13" name="Image 12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258495BB-8288-2FBC-E155-F98579937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990" y="2966318"/>
            <a:ext cx="462682" cy="462682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5019F0C-3B4B-0D2A-6C3A-8693CC103AD4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624937" y="3671236"/>
            <a:ext cx="915462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5364463-468F-E082-5AF5-501D79CD8FDF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7651600" y="3671236"/>
            <a:ext cx="915463" cy="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AFEB9434-B051-5A51-AA2E-B7CB15C3CA2B}"/>
              </a:ext>
            </a:extLst>
          </p:cNvPr>
          <p:cNvSpPr txBox="1"/>
          <p:nvPr/>
        </p:nvSpPr>
        <p:spPr>
          <a:xfrm>
            <a:off x="0" y="19790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01F6A99-7B6B-1E1A-306A-D634BD37E13B}"/>
              </a:ext>
            </a:extLst>
          </p:cNvPr>
          <p:cNvSpPr txBox="1"/>
          <p:nvPr/>
        </p:nvSpPr>
        <p:spPr>
          <a:xfrm>
            <a:off x="6095999" y="1979048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itre 6">
            <a:extLst>
              <a:ext uri="{FF2B5EF4-FFF2-40B4-BE49-F238E27FC236}">
                <a16:creationId xmlns:a16="http://schemas.microsoft.com/office/drawing/2014/main" id="{2BA25238-67D6-3882-DAA7-1DD6404A13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4312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F1255-4566-D5DD-E98B-D90A644D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C689EB1-9736-E7B7-FE80-4A2D5C43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59BC4-422F-2C8D-6F8C-A3E27653B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36EB2AA-525B-BC29-8FB5-8F4C4B7D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F56D48-01BF-9CA5-75EE-1CB0810E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7237AE-9770-1E40-D1E2-424E3C0E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4</a:t>
            </a:fld>
            <a:endParaRPr lang="fr-FR"/>
          </a:p>
        </p:txBody>
      </p:sp>
      <p:sp>
        <p:nvSpPr>
          <p:cNvPr id="14" name="Titre 6">
            <a:extLst>
              <a:ext uri="{FF2B5EF4-FFF2-40B4-BE49-F238E27FC236}">
                <a16:creationId xmlns:a16="http://schemas.microsoft.com/office/drawing/2014/main" id="{0CE15D25-7667-EA8C-2C7A-71546E2A72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1743937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F8B06-6948-122A-3D1E-70ADF6A6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7A1E2EB-06EF-D943-1FC0-7B7F3C39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981CFF3-C273-4668-C666-313FD4AD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4D1D47D-539C-3990-DE90-B850FE50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9BEE2C-C081-3375-CA38-95EAE839C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35FDE3-9CD3-3D60-381C-DFF93E8F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5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BADE7C68-C531-5C29-3A52-D4CF8E3426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265509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DA3A-098D-8B48-EBF4-1E4884D9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CA5B13D-2C8B-8CE0-47F1-8E04238F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des vecteurs de translation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60D6FCD-C48F-752A-99BA-84D2DC9C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B4A92C-AF74-47F8-DE1A-A1E46A31C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517123-4984-4EDA-4CB1-EDE9F5E9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6</a:t>
            </a:fld>
            <a:endParaRPr lang="fr-FR"/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EEB60272-F070-D811-00FE-75132688F38B}"/>
              </a:ext>
            </a:extLst>
          </p:cNvPr>
          <p:cNvCxnSpPr/>
          <p:nvPr/>
        </p:nvCxnSpPr>
        <p:spPr>
          <a:xfrm flipV="1">
            <a:off x="8051800" y="1105685"/>
            <a:ext cx="0" cy="489712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510D8121-9E91-CA5E-912E-FB223E8FF7EF}"/>
              </a:ext>
            </a:extLst>
          </p:cNvPr>
          <p:cNvSpPr txBox="1"/>
          <p:nvPr/>
        </p:nvSpPr>
        <p:spPr>
          <a:xfrm>
            <a:off x="1" y="1182142"/>
            <a:ext cx="8051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centroïde de la classe </a:t>
            </a:r>
            <a:r>
              <a:rPr lang="fr-FR" b="1" dirty="0">
                <a:solidFill>
                  <a:schemeClr val="accent1"/>
                </a:solidFill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</a:rPr>
              <a:t>i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0C573CD-0192-8BFC-0424-49199AE2A8DB}"/>
              </a:ext>
            </a:extLst>
          </p:cNvPr>
          <p:cNvSpPr txBox="1"/>
          <p:nvPr/>
        </p:nvSpPr>
        <p:spPr>
          <a:xfrm>
            <a:off x="8051800" y="1145687"/>
            <a:ext cx="414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de la translation de la classe source </a:t>
            </a:r>
            <a:r>
              <a:rPr lang="fr-FR" b="1" dirty="0">
                <a:solidFill>
                  <a:schemeClr val="accent1"/>
                </a:solidFill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</a:rPr>
              <a:t>i</a:t>
            </a:r>
            <a:r>
              <a:rPr lang="fr-FR" dirty="0"/>
              <a:t> vers la classe cible </a:t>
            </a:r>
            <a:r>
              <a:rPr lang="fr-FR" b="1" dirty="0" err="1">
                <a:solidFill>
                  <a:schemeClr val="accent1"/>
                </a:solidFill>
              </a:rPr>
              <a:t>c</a:t>
            </a:r>
            <a:r>
              <a:rPr lang="fr-FR" b="1" baseline="-25000" dirty="0" err="1">
                <a:solidFill>
                  <a:schemeClr val="accent1"/>
                </a:solidFill>
              </a:rPr>
              <a:t>j</a:t>
            </a:r>
            <a:endParaRPr lang="fr-FR" b="1" baseline="-25000" dirty="0">
              <a:solidFill>
                <a:schemeClr val="accent1"/>
              </a:solidFill>
            </a:endParaRP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9FDEC61E-6A08-8DC6-C404-5689684383D8}"/>
              </a:ext>
            </a:extLst>
          </p:cNvPr>
          <p:cNvGrpSpPr/>
          <p:nvPr/>
        </p:nvGrpSpPr>
        <p:grpSpPr>
          <a:xfrm>
            <a:off x="8437395" y="2239197"/>
            <a:ext cx="3369011" cy="1693252"/>
            <a:chOff x="8231881" y="3018209"/>
            <a:chExt cx="3369011" cy="1693252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225376D-FB33-62A4-2142-96AD3311611E}"/>
                </a:ext>
              </a:extLst>
            </p:cNvPr>
            <p:cNvSpPr/>
            <p:nvPr/>
          </p:nvSpPr>
          <p:spPr>
            <a:xfrm>
              <a:off x="9796036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80B1EE46-21F4-2961-F7A7-14076894F952}"/>
                </a:ext>
              </a:extLst>
            </p:cNvPr>
            <p:cNvSpPr txBox="1"/>
            <p:nvPr/>
          </p:nvSpPr>
          <p:spPr>
            <a:xfrm>
              <a:off x="9489758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6C21425-479F-D1F5-5130-C66D0AB7BD6F}"/>
                </a:ext>
              </a:extLst>
            </p:cNvPr>
            <p:cNvSpPr/>
            <p:nvPr/>
          </p:nvSpPr>
          <p:spPr>
            <a:xfrm>
              <a:off x="10958890" y="3018209"/>
              <a:ext cx="186731" cy="5384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DC8A9CF7-1E04-73AA-657F-621371D8B44E}"/>
                </a:ext>
              </a:extLst>
            </p:cNvPr>
            <p:cNvSpPr txBox="1"/>
            <p:nvPr/>
          </p:nvSpPr>
          <p:spPr>
            <a:xfrm>
              <a:off x="10652612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3DD76F0-B7A0-F2B6-C3B5-3D26B0890A25}"/>
                </a:ext>
              </a:extLst>
            </p:cNvPr>
            <p:cNvSpPr/>
            <p:nvPr/>
          </p:nvSpPr>
          <p:spPr>
            <a:xfrm>
              <a:off x="8632959" y="3018209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C3B2D2CA-73E4-7DFC-E43F-D04E98385EE9}"/>
                </a:ext>
              </a:extLst>
            </p:cNvPr>
            <p:cNvSpPr txBox="1"/>
            <p:nvPr/>
          </p:nvSpPr>
          <p:spPr>
            <a:xfrm>
              <a:off x="8284374" y="3552419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V</a:t>
              </a:r>
              <a:r>
                <a:rPr lang="fr-FR" baseline="-25000" dirty="0" err="1">
                  <a:latin typeface="Consolas" panose="020B0609020204030204" pitchFamily="49" charset="0"/>
                  <a:cs typeface="Cascadia Code" panose="020B0609020000020004" pitchFamily="49" charset="0"/>
                </a:rPr>
                <a:t>ci→cj</a:t>
              </a:r>
              <a:endParaRPr lang="fr-FR" baseline="30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9" name="Est égal à 68">
              <a:extLst>
                <a:ext uri="{FF2B5EF4-FFF2-40B4-BE49-F238E27FC236}">
                  <a16:creationId xmlns:a16="http://schemas.microsoft.com/office/drawing/2014/main" id="{E0402F80-1BB5-30F8-1290-70970829B843}"/>
                </a:ext>
              </a:extLst>
            </p:cNvPr>
            <p:cNvSpPr/>
            <p:nvPr/>
          </p:nvSpPr>
          <p:spPr>
            <a:xfrm>
              <a:off x="9086667" y="3053541"/>
              <a:ext cx="445400" cy="463546"/>
            </a:xfrm>
            <a:prstGeom prst="mathEqual">
              <a:avLst>
                <a:gd name="adj1" fmla="val 12561"/>
                <a:gd name="adj2" fmla="val 1176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70" name="Signe Moins 69">
              <a:extLst>
                <a:ext uri="{FF2B5EF4-FFF2-40B4-BE49-F238E27FC236}">
                  <a16:creationId xmlns:a16="http://schemas.microsoft.com/office/drawing/2014/main" id="{2B328134-4952-1E8C-CC2A-5430387D337F}"/>
                </a:ext>
              </a:extLst>
            </p:cNvPr>
            <p:cNvSpPr/>
            <p:nvPr/>
          </p:nvSpPr>
          <p:spPr>
            <a:xfrm>
              <a:off x="10265048" y="3181287"/>
              <a:ext cx="411560" cy="235644"/>
            </a:xfrm>
            <a:prstGeom prst="mathMinus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1" name="Accolade fermante 70">
              <a:extLst>
                <a:ext uri="{FF2B5EF4-FFF2-40B4-BE49-F238E27FC236}">
                  <a16:creationId xmlns:a16="http://schemas.microsoft.com/office/drawing/2014/main" id="{B5F09B88-135D-215D-17B4-E00D834E2B13}"/>
                </a:ext>
              </a:extLst>
            </p:cNvPr>
            <p:cNvSpPr/>
            <p:nvPr/>
          </p:nvSpPr>
          <p:spPr>
            <a:xfrm rot="5400000">
              <a:off x="9719790" y="2457192"/>
              <a:ext cx="338346" cy="3314164"/>
            </a:xfrm>
            <a:prstGeom prst="rightBrace">
              <a:avLst>
                <a:gd name="adj1" fmla="val 74920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DD5B47D7-441D-8F05-1D22-3BEAA49300F6}"/>
                </a:ext>
              </a:extLst>
            </p:cNvPr>
            <p:cNvSpPr txBox="1"/>
            <p:nvPr/>
          </p:nvSpPr>
          <p:spPr>
            <a:xfrm>
              <a:off x="8232352" y="4342129"/>
              <a:ext cx="336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ea typeface="Calibri" panose="020F0502020204030204" pitchFamily="34" charset="0"/>
                  <a:cs typeface="Calibri" panose="020F0502020204030204" pitchFamily="34" charset="0"/>
                </a:rPr>
                <a:t>Pour</a:t>
              </a:r>
              <a:r>
                <a:rPr lang="fr-FR" dirty="0"/>
                <a:t> tout </a:t>
              </a:r>
              <a:r>
                <a:rPr lang="fr-FR" b="1" dirty="0"/>
                <a:t>i</a:t>
              </a:r>
              <a:r>
                <a:rPr lang="fr-FR" dirty="0"/>
                <a:t> ≠ </a:t>
              </a:r>
              <a:r>
                <a:rPr lang="fr-FR" b="1" dirty="0"/>
                <a:t>j</a:t>
              </a:r>
              <a:endParaRPr lang="fr-FR" b="1" baseline="-25000" dirty="0"/>
            </a:p>
          </p:txBody>
        </p: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ACC0D94-FF8B-A194-46BB-1C396E9B5B55}"/>
              </a:ext>
            </a:extLst>
          </p:cNvPr>
          <p:cNvSpPr txBox="1"/>
          <p:nvPr/>
        </p:nvSpPr>
        <p:spPr>
          <a:xfrm>
            <a:off x="395990" y="5273597"/>
            <a:ext cx="1730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d’entraînement de la classe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7CFFCC-1BF4-7F18-CC8A-9817CE6D0AD7}"/>
              </a:ext>
            </a:extLst>
          </p:cNvPr>
          <p:cNvSpPr txBox="1"/>
          <p:nvPr/>
        </p:nvSpPr>
        <p:spPr>
          <a:xfrm>
            <a:off x="6040685" y="4227433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Prototype</a:t>
            </a:r>
          </a:p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classe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fr-FR" b="1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F35A90-A26B-A8A3-2BA9-272E1F3017CF}"/>
              </a:ext>
            </a:extLst>
          </p:cNvPr>
          <p:cNvSpPr/>
          <p:nvPr/>
        </p:nvSpPr>
        <p:spPr>
          <a:xfrm>
            <a:off x="595894" y="183899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76" name="Trapèze 75">
            <a:extLst>
              <a:ext uri="{FF2B5EF4-FFF2-40B4-BE49-F238E27FC236}">
                <a16:creationId xmlns:a16="http://schemas.microsoft.com/office/drawing/2014/main" id="{19522A50-62DD-F3EC-D4BC-38D9020122C5}"/>
              </a:ext>
            </a:extLst>
          </p:cNvPr>
          <p:cNvSpPr/>
          <p:nvPr/>
        </p:nvSpPr>
        <p:spPr>
          <a:xfrm rot="5400000">
            <a:off x="1878056" y="2254125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023B405-CC21-79E8-B794-50329D5E2666}"/>
              </a:ext>
            </a:extLst>
          </p:cNvPr>
          <p:cNvSpPr/>
          <p:nvPr/>
        </p:nvSpPr>
        <p:spPr>
          <a:xfrm>
            <a:off x="3155968" y="2232534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451AD2D5-0A0F-FC6F-0717-B58CFCCBA549}"/>
              </a:ext>
            </a:extLst>
          </p:cNvPr>
          <p:cNvSpPr txBox="1"/>
          <p:nvPr/>
        </p:nvSpPr>
        <p:spPr>
          <a:xfrm>
            <a:off x="2849690" y="279701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>
                <a:latin typeface="Consolas" panose="020B06090202040302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3BA2FC6-C82F-FE43-7474-A57C5431748D}"/>
              </a:ext>
            </a:extLst>
          </p:cNvPr>
          <p:cNvSpPr/>
          <p:nvPr/>
        </p:nvSpPr>
        <p:spPr>
          <a:xfrm>
            <a:off x="595893" y="3948034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sz="3600" baseline="30000" dirty="0" err="1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sz="36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0" name="Trapèze 79">
            <a:extLst>
              <a:ext uri="{FF2B5EF4-FFF2-40B4-BE49-F238E27FC236}">
                <a16:creationId xmlns:a16="http://schemas.microsoft.com/office/drawing/2014/main" id="{7FB39BD8-311D-5DD9-DE7A-4EE23ECF35B0}"/>
              </a:ext>
            </a:extLst>
          </p:cNvPr>
          <p:cNvSpPr/>
          <p:nvPr/>
        </p:nvSpPr>
        <p:spPr>
          <a:xfrm rot="5400000">
            <a:off x="1878056" y="4363166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657E5A2-03BE-BE67-6BA5-9F2208763621}"/>
              </a:ext>
            </a:extLst>
          </p:cNvPr>
          <p:cNvSpPr/>
          <p:nvPr/>
        </p:nvSpPr>
        <p:spPr>
          <a:xfrm>
            <a:off x="3155968" y="4341575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201C235C-01DD-3441-652B-92EDE4FCA792}"/>
              </a:ext>
            </a:extLst>
          </p:cNvPr>
          <p:cNvSpPr txBox="1"/>
          <p:nvPr/>
        </p:nvSpPr>
        <p:spPr>
          <a:xfrm>
            <a:off x="2849690" y="488005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r>
              <a:rPr lang="fr-FR" baseline="30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n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4A61E43-BC83-2F24-DDC9-160A19260F5B}"/>
              </a:ext>
            </a:extLst>
          </p:cNvPr>
          <p:cNvSpPr/>
          <p:nvPr/>
        </p:nvSpPr>
        <p:spPr>
          <a:xfrm>
            <a:off x="4743230" y="328525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6A6FAB42-956A-6BDE-4244-6E9087821A61}"/>
              </a:ext>
            </a:extLst>
          </p:cNvPr>
          <p:cNvSpPr txBox="1"/>
          <p:nvPr/>
        </p:nvSpPr>
        <p:spPr>
          <a:xfrm>
            <a:off x="4435139" y="381361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  <a:endParaRPr lang="fr-FR" baseline="30000" dirty="0"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85" name="Trapèze 84">
            <a:extLst>
              <a:ext uri="{FF2B5EF4-FFF2-40B4-BE49-F238E27FC236}">
                <a16:creationId xmlns:a16="http://schemas.microsoft.com/office/drawing/2014/main" id="{9E33031E-DA6E-A085-E796-FB9711409690}"/>
              </a:ext>
            </a:extLst>
          </p:cNvPr>
          <p:cNvSpPr/>
          <p:nvPr/>
        </p:nvSpPr>
        <p:spPr>
          <a:xfrm rot="16200000">
            <a:off x="4849753" y="3306843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0554CB6-208B-4DB4-0892-AA30BDF82A4D}"/>
              </a:ext>
            </a:extLst>
          </p:cNvPr>
          <p:cNvSpPr/>
          <p:nvPr/>
        </p:nvSpPr>
        <p:spPr>
          <a:xfrm>
            <a:off x="6133694" y="2899921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ci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E3818E72-FBD9-206A-55DC-E3F47F0F5B47}"/>
              </a:ext>
            </a:extLst>
          </p:cNvPr>
          <p:cNvSpPr txBox="1"/>
          <p:nvPr/>
        </p:nvSpPr>
        <p:spPr>
          <a:xfrm>
            <a:off x="714491" y="3164556"/>
            <a:ext cx="861774" cy="7980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>
                    <a:lumMod val="75000"/>
                  </a:schemeClr>
                </a:solidFill>
              </a:rPr>
              <a:t>…</a:t>
            </a:r>
            <a:endParaRPr lang="fr-FR" sz="4400" b="1" baseline="-250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A3172859-7B39-2DF1-94A3-316EA7149FCD}"/>
              </a:ext>
            </a:extLst>
          </p:cNvPr>
          <p:cNvCxnSpPr>
            <a:stCxn id="75" idx="3"/>
            <a:endCxn id="76" idx="2"/>
          </p:cNvCxnSpPr>
          <p:nvPr/>
        </p:nvCxnSpPr>
        <p:spPr>
          <a:xfrm flipV="1">
            <a:off x="1923249" y="2501775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58639EF5-F345-2B41-9060-42D03915F6EF}"/>
              </a:ext>
            </a:extLst>
          </p:cNvPr>
          <p:cNvCxnSpPr>
            <a:stCxn id="79" idx="3"/>
            <a:endCxn id="80" idx="2"/>
          </p:cNvCxnSpPr>
          <p:nvPr/>
        </p:nvCxnSpPr>
        <p:spPr>
          <a:xfrm flipV="1">
            <a:off x="1923248" y="4610816"/>
            <a:ext cx="369940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E6B66970-E3AE-593A-80A8-6338FD1B0B54}"/>
              </a:ext>
            </a:extLst>
          </p:cNvPr>
          <p:cNvCxnSpPr>
            <a:stCxn id="76" idx="0"/>
            <a:endCxn id="77" idx="1"/>
          </p:cNvCxnSpPr>
          <p:nvPr/>
        </p:nvCxnSpPr>
        <p:spPr>
          <a:xfrm flipV="1">
            <a:off x="2788487" y="2501774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1314C697-C584-4588-70BC-098A04A0B8FC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3342699" y="2501774"/>
            <a:ext cx="493860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7F6D0203-A17F-0D7D-0330-51EFEB235FA1}"/>
              </a:ext>
            </a:extLst>
          </p:cNvPr>
          <p:cNvCxnSpPr>
            <a:stCxn id="83" idx="3"/>
            <a:endCxn id="85" idx="0"/>
          </p:cNvCxnSpPr>
          <p:nvPr/>
        </p:nvCxnSpPr>
        <p:spPr>
          <a:xfrm flipV="1">
            <a:off x="4929961" y="3554492"/>
            <a:ext cx="3349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8CFF1B06-BA68-1B4A-EB04-2917A92F2867}"/>
              </a:ext>
            </a:extLst>
          </p:cNvPr>
          <p:cNvCxnSpPr>
            <a:cxnSpLocks/>
            <a:stCxn id="85" idx="2"/>
            <a:endCxn id="86" idx="1"/>
          </p:cNvCxnSpPr>
          <p:nvPr/>
        </p:nvCxnSpPr>
        <p:spPr>
          <a:xfrm>
            <a:off x="5760184" y="3554492"/>
            <a:ext cx="373510" cy="9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E2D61E58-398B-F418-6E37-733D2BE8E75A}"/>
              </a:ext>
            </a:extLst>
          </p:cNvPr>
          <p:cNvCxnSpPr>
            <a:stCxn id="80" idx="0"/>
            <a:endCxn id="81" idx="1"/>
          </p:cNvCxnSpPr>
          <p:nvPr/>
        </p:nvCxnSpPr>
        <p:spPr>
          <a:xfrm flipV="1">
            <a:off x="2788487" y="4610815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981962ED-2C42-B9BE-C091-1A728394AC0C}"/>
              </a:ext>
            </a:extLst>
          </p:cNvPr>
          <p:cNvCxnSpPr>
            <a:stCxn id="81" idx="3"/>
          </p:cNvCxnSpPr>
          <p:nvPr/>
        </p:nvCxnSpPr>
        <p:spPr>
          <a:xfrm>
            <a:off x="3342699" y="4610815"/>
            <a:ext cx="493860" cy="0"/>
          </a:xfrm>
          <a:prstGeom prst="line">
            <a:avLst/>
          </a:prstGeom>
          <a:ln cap="rnd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0DD03239-8B9B-FFFB-021A-E1E8E43741DD}"/>
              </a:ext>
            </a:extLst>
          </p:cNvPr>
          <p:cNvSpPr/>
          <p:nvPr/>
        </p:nvSpPr>
        <p:spPr>
          <a:xfrm>
            <a:off x="3268441" y="3288856"/>
            <a:ext cx="1136236" cy="534877"/>
          </a:xfrm>
          <a:prstGeom prst="rect">
            <a:avLst/>
          </a:prstGeom>
          <a:solidFill>
            <a:srgbClr val="ECF1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Moyenne</a:t>
            </a:r>
          </a:p>
        </p:txBody>
      </p: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BF851F6B-1A83-2A0C-0756-52595261F5DF}"/>
              </a:ext>
            </a:extLst>
          </p:cNvPr>
          <p:cNvCxnSpPr>
            <a:cxnSpLocks/>
            <a:stCxn id="96" idx="3"/>
            <a:endCxn id="83" idx="1"/>
          </p:cNvCxnSpPr>
          <p:nvPr/>
        </p:nvCxnSpPr>
        <p:spPr>
          <a:xfrm flipV="1">
            <a:off x="4404677" y="3554493"/>
            <a:ext cx="338553" cy="1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122DECB1-5A99-467F-2E6B-FBB6FD71F446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3836559" y="2501774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824DE393-09B0-50B1-7B66-C0DFCD93D483}"/>
              </a:ext>
            </a:extLst>
          </p:cNvPr>
          <p:cNvCxnSpPr>
            <a:cxnSpLocks/>
            <a:endCxn id="96" idx="2"/>
          </p:cNvCxnSpPr>
          <p:nvPr/>
        </p:nvCxnSpPr>
        <p:spPr>
          <a:xfrm flipV="1">
            <a:off x="3836559" y="3823733"/>
            <a:ext cx="0" cy="787082"/>
          </a:xfrm>
          <a:prstGeom prst="straightConnector1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34676FAE-6DC6-758B-DCD7-2B828FD06694}"/>
              </a:ext>
            </a:extLst>
          </p:cNvPr>
          <p:cNvSpPr txBox="1"/>
          <p:nvPr/>
        </p:nvSpPr>
        <p:spPr>
          <a:xfrm>
            <a:off x="9358856" y="5488563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852EB027-D80C-57DE-9615-1B363A87D8C3}"/>
              </a:ext>
            </a:extLst>
          </p:cNvPr>
          <p:cNvGrpSpPr/>
          <p:nvPr/>
        </p:nvGrpSpPr>
        <p:grpSpPr>
          <a:xfrm>
            <a:off x="9488925" y="4829837"/>
            <a:ext cx="1211103" cy="589246"/>
            <a:chOff x="10142697" y="5135087"/>
            <a:chExt cx="1211103" cy="58924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5B5CD53-31C2-AD41-66DD-FB405FE0FE25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76B1DD5-FC83-95DC-3008-3F4F858D0D75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56304FD7-C569-180E-B1D0-B028CE883821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068AA4D-EB4A-FC9F-AED5-396D405D98D4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C7F8032-8479-9BF5-BAF0-8F0BD6352608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AA849711-E9CC-93C0-9576-A814D939F125}"/>
              </a:ext>
            </a:extLst>
          </p:cNvPr>
          <p:cNvCxnSpPr>
            <a:cxnSpLocks/>
          </p:cNvCxnSpPr>
          <p:nvPr/>
        </p:nvCxnSpPr>
        <p:spPr>
          <a:xfrm>
            <a:off x="10094477" y="3932449"/>
            <a:ext cx="0" cy="787082"/>
          </a:xfrm>
          <a:prstGeom prst="straightConnector1">
            <a:avLst/>
          </a:prstGeom>
          <a:ln cap="rnd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itre 6">
            <a:extLst>
              <a:ext uri="{FF2B5EF4-FFF2-40B4-BE49-F238E27FC236}">
                <a16:creationId xmlns:a16="http://schemas.microsoft.com/office/drawing/2014/main" id="{CF0582CB-A4D7-4325-A9E3-318F8E16B5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284569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B4DD-936C-6231-0B9A-C7791CC3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143AE28-892A-E44F-8609-9D552A43F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0993ABD-2E4E-DA58-3CE8-A6B30439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A31F61-E137-6E55-8B22-FA446C36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568DC5-9369-5324-5055-A35EA94A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7</a:t>
            </a:fld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ACD7811-EE0E-AAE6-6B38-AFA84785553F}"/>
              </a:ext>
            </a:extLst>
          </p:cNvPr>
          <p:cNvSpPr/>
          <p:nvPr/>
        </p:nvSpPr>
        <p:spPr>
          <a:xfrm rot="851835">
            <a:off x="1223788" y="1558875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58CD1051-CDD1-9165-A370-07ABF167833B}"/>
              </a:ext>
            </a:extLst>
          </p:cNvPr>
          <p:cNvSpPr/>
          <p:nvPr/>
        </p:nvSpPr>
        <p:spPr>
          <a:xfrm rot="20017351">
            <a:off x="2366539" y="3516070"/>
            <a:ext cx="2317936" cy="220859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18CE79C-0A9F-AB4A-E766-594F59887EF2}"/>
              </a:ext>
            </a:extLst>
          </p:cNvPr>
          <p:cNvSpPr/>
          <p:nvPr/>
        </p:nvSpPr>
        <p:spPr>
          <a:xfrm rot="3925294">
            <a:off x="3707203" y="2532128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9748AD6-3528-0165-A3B4-D4C71C4AB267}"/>
              </a:ext>
            </a:extLst>
          </p:cNvPr>
          <p:cNvSpPr/>
          <p:nvPr/>
        </p:nvSpPr>
        <p:spPr>
          <a:xfrm>
            <a:off x="2582402" y="2374028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528B6C1-2368-DC78-BE7C-7EC96B1CEAB7}"/>
              </a:ext>
            </a:extLst>
          </p:cNvPr>
          <p:cNvSpPr/>
          <p:nvPr/>
        </p:nvSpPr>
        <p:spPr>
          <a:xfrm>
            <a:off x="5531279" y="3324293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F8FB27B-9EDB-BDFB-E85B-E40FCBC1700F}"/>
              </a:ext>
            </a:extLst>
          </p:cNvPr>
          <p:cNvSpPr/>
          <p:nvPr/>
        </p:nvSpPr>
        <p:spPr>
          <a:xfrm>
            <a:off x="3443695" y="4564451"/>
            <a:ext cx="163624" cy="16362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18B7518E-5678-607E-5D9F-806CAE32E73A}"/>
              </a:ext>
            </a:extLst>
          </p:cNvPr>
          <p:cNvCxnSpPr>
            <a:cxnSpLocks/>
          </p:cNvCxnSpPr>
          <p:nvPr/>
        </p:nvCxnSpPr>
        <p:spPr>
          <a:xfrm>
            <a:off x="2664214" y="2460996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igne de multiplication 33">
            <a:extLst>
              <a:ext uri="{FF2B5EF4-FFF2-40B4-BE49-F238E27FC236}">
                <a16:creationId xmlns:a16="http://schemas.microsoft.com/office/drawing/2014/main" id="{15360FDD-A9CA-AEFD-EE4E-CF92590ED8CB}"/>
              </a:ext>
            </a:extLst>
          </p:cNvPr>
          <p:cNvSpPr/>
          <p:nvPr/>
        </p:nvSpPr>
        <p:spPr>
          <a:xfrm>
            <a:off x="5477471" y="3761289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Signe de multiplication 34">
            <a:extLst>
              <a:ext uri="{FF2B5EF4-FFF2-40B4-BE49-F238E27FC236}">
                <a16:creationId xmlns:a16="http://schemas.microsoft.com/office/drawing/2014/main" id="{D1CEAEC9-CCDD-97AA-688A-97B5FA8FFF00}"/>
              </a:ext>
            </a:extLst>
          </p:cNvPr>
          <p:cNvSpPr/>
          <p:nvPr/>
        </p:nvSpPr>
        <p:spPr>
          <a:xfrm>
            <a:off x="2528903" y="2812985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10E73F7-DC6B-7AB1-1CBE-163AF1B85A38}"/>
              </a:ext>
            </a:extLst>
          </p:cNvPr>
          <p:cNvCxnSpPr>
            <a:cxnSpLocks/>
          </p:cNvCxnSpPr>
          <p:nvPr/>
        </p:nvCxnSpPr>
        <p:spPr>
          <a:xfrm>
            <a:off x="2647871" y="2929992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7B18D8A6-6A51-11A6-0DB1-6C56C96CDAC1}"/>
              </a:ext>
            </a:extLst>
          </p:cNvPr>
          <p:cNvSpPr txBox="1"/>
          <p:nvPr/>
        </p:nvSpPr>
        <p:spPr>
          <a:xfrm>
            <a:off x="3846555" y="2971739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i→j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D39B91F-6677-9A8F-4BD6-6DA00B704159}"/>
              </a:ext>
            </a:extLst>
          </p:cNvPr>
          <p:cNvSpPr txBox="1"/>
          <p:nvPr/>
        </p:nvSpPr>
        <p:spPr>
          <a:xfrm>
            <a:off x="2083335" y="201866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0466E15-97E8-37BD-9D23-ABF633876DC2}"/>
              </a:ext>
            </a:extLst>
          </p:cNvPr>
          <p:cNvSpPr txBox="1"/>
          <p:nvPr/>
        </p:nvSpPr>
        <p:spPr>
          <a:xfrm>
            <a:off x="5403014" y="301294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00A22D2-8D57-6DF9-B47F-2C4104E5C614}"/>
              </a:ext>
            </a:extLst>
          </p:cNvPr>
          <p:cNvSpPr txBox="1"/>
          <p:nvPr/>
        </p:nvSpPr>
        <p:spPr>
          <a:xfrm>
            <a:off x="3214881" y="471392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ADBAE7E-FBCC-9236-9B49-F5AA1D73B7D1}"/>
              </a:ext>
            </a:extLst>
          </p:cNvPr>
          <p:cNvSpPr txBox="1"/>
          <p:nvPr/>
        </p:nvSpPr>
        <p:spPr>
          <a:xfrm>
            <a:off x="1967554" y="2595802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FB20D3D-2FC6-1C37-B622-41376D6EDF1E}"/>
              </a:ext>
            </a:extLst>
          </p:cNvPr>
          <p:cNvSpPr txBox="1"/>
          <p:nvPr/>
        </p:nvSpPr>
        <p:spPr>
          <a:xfrm>
            <a:off x="5403170" y="389367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BDB5836-A0F0-9BCE-5ABA-928683CCC52D}"/>
              </a:ext>
            </a:extLst>
          </p:cNvPr>
          <p:cNvSpPr txBox="1"/>
          <p:nvPr/>
        </p:nvSpPr>
        <p:spPr>
          <a:xfrm>
            <a:off x="759612" y="3129565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52DA800-E227-4703-BA6E-A92312329512}"/>
              </a:ext>
            </a:extLst>
          </p:cNvPr>
          <p:cNvSpPr txBox="1"/>
          <p:nvPr/>
        </p:nvSpPr>
        <p:spPr>
          <a:xfrm>
            <a:off x="5559771" y="5154033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7C4763B-3AD9-5DFB-E43F-AD01CC03829C}"/>
              </a:ext>
            </a:extLst>
          </p:cNvPr>
          <p:cNvSpPr txBox="1"/>
          <p:nvPr/>
        </p:nvSpPr>
        <p:spPr>
          <a:xfrm>
            <a:off x="2702191" y="569686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92ECADE-C2DB-48CA-F8ED-AB7108C2127B}"/>
              </a:ext>
            </a:extLst>
          </p:cNvPr>
          <p:cNvSpPr txBox="1"/>
          <p:nvPr/>
        </p:nvSpPr>
        <p:spPr>
          <a:xfrm>
            <a:off x="7654297" y="2455840"/>
            <a:ext cx="34732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de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:</a:t>
            </a:r>
            <a:endParaRPr lang="fr-FR" sz="2000" b="1" dirty="0"/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Titre 6">
            <a:extLst>
              <a:ext uri="{FF2B5EF4-FFF2-40B4-BE49-F238E27FC236}">
                <a16:creationId xmlns:a16="http://schemas.microsoft.com/office/drawing/2014/main" id="{624A6681-757F-C223-EB3D-2302928A73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941527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0635-4A83-8667-9BC0-CF125410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05E4073-A65D-E8DE-4DF2-76E93F50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d’obscuration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37AE350-D5D1-27CA-8A4F-74D65706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3CFB3E-D9F3-DEB4-CCA6-09A3CA7C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72B9E8-FA53-26CD-F715-DB213AEB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431056-C12D-6A54-0B24-8D71D3950FC2}"/>
              </a:ext>
            </a:extLst>
          </p:cNvPr>
          <p:cNvSpPr/>
          <p:nvPr/>
        </p:nvSpPr>
        <p:spPr>
          <a:xfrm>
            <a:off x="741400" y="139813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3" name="Trapèze 2">
            <a:extLst>
              <a:ext uri="{FF2B5EF4-FFF2-40B4-BE49-F238E27FC236}">
                <a16:creationId xmlns:a16="http://schemas.microsoft.com/office/drawing/2014/main" id="{B7379127-7EB9-F4EE-DDD8-971066632FD9}"/>
              </a:ext>
            </a:extLst>
          </p:cNvPr>
          <p:cNvSpPr/>
          <p:nvPr/>
        </p:nvSpPr>
        <p:spPr>
          <a:xfrm rot="5400000">
            <a:off x="2023562" y="181326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8" name="Trapèze 7">
            <a:extLst>
              <a:ext uri="{FF2B5EF4-FFF2-40B4-BE49-F238E27FC236}">
                <a16:creationId xmlns:a16="http://schemas.microsoft.com/office/drawing/2014/main" id="{8FDD6014-57D8-7E0D-0FC5-1BF1862660E5}"/>
              </a:ext>
            </a:extLst>
          </p:cNvPr>
          <p:cNvSpPr/>
          <p:nvPr/>
        </p:nvSpPr>
        <p:spPr>
          <a:xfrm rot="16200000">
            <a:off x="3445470" y="181505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8EF62C-0B07-439E-F976-550F7A48EC6E}"/>
              </a:ext>
            </a:extLst>
          </p:cNvPr>
          <p:cNvSpPr/>
          <p:nvPr/>
        </p:nvSpPr>
        <p:spPr>
          <a:xfrm>
            <a:off x="3301474" y="1791673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BA23B3-1B20-2B3E-4F45-2CBBD4C94E29}"/>
              </a:ext>
            </a:extLst>
          </p:cNvPr>
          <p:cNvSpPr/>
          <p:nvPr/>
        </p:nvSpPr>
        <p:spPr>
          <a:xfrm>
            <a:off x="4725840" y="139126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  <a:endParaRPr lang="fr-FR" sz="3600" baseline="30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rapèze 11">
            <a:extLst>
              <a:ext uri="{FF2B5EF4-FFF2-40B4-BE49-F238E27FC236}">
                <a16:creationId xmlns:a16="http://schemas.microsoft.com/office/drawing/2014/main" id="{8C62CAE2-7EA0-E217-D832-BE3A53161254}"/>
              </a:ext>
            </a:extLst>
          </p:cNvPr>
          <p:cNvSpPr/>
          <p:nvPr/>
        </p:nvSpPr>
        <p:spPr>
          <a:xfrm rot="5400000">
            <a:off x="6008002" y="180131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D23997-13C1-C984-C3AF-2CCDED0D5FD9}"/>
              </a:ext>
            </a:extLst>
          </p:cNvPr>
          <p:cNvSpPr/>
          <p:nvPr/>
        </p:nvSpPr>
        <p:spPr>
          <a:xfrm>
            <a:off x="4725840" y="402133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D66AE8-42D7-37CE-7B29-E53655E2ED28}"/>
              </a:ext>
            </a:extLst>
          </p:cNvPr>
          <p:cNvSpPr/>
          <p:nvPr/>
        </p:nvSpPr>
        <p:spPr>
          <a:xfrm>
            <a:off x="7288369" y="441576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4EE1A0-20EE-6C56-E9F8-126F891D4100}"/>
              </a:ext>
            </a:extLst>
          </p:cNvPr>
          <p:cNvSpPr/>
          <p:nvPr/>
        </p:nvSpPr>
        <p:spPr>
          <a:xfrm>
            <a:off x="7288369" y="1779721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Trapèze 15">
            <a:extLst>
              <a:ext uri="{FF2B5EF4-FFF2-40B4-BE49-F238E27FC236}">
                <a16:creationId xmlns:a16="http://schemas.microsoft.com/office/drawing/2014/main" id="{10AB9390-9969-CC82-F058-1F07F9CCC22C}"/>
              </a:ext>
            </a:extLst>
          </p:cNvPr>
          <p:cNvSpPr/>
          <p:nvPr/>
        </p:nvSpPr>
        <p:spPr>
          <a:xfrm rot="16200000">
            <a:off x="8741041" y="1808184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9EDE6-1C5A-6F0C-04A2-DB83420490F2}"/>
              </a:ext>
            </a:extLst>
          </p:cNvPr>
          <p:cNvSpPr/>
          <p:nvPr/>
        </p:nvSpPr>
        <p:spPr>
          <a:xfrm>
            <a:off x="10026445" y="1384388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I’’</a:t>
            </a:r>
          </a:p>
        </p:txBody>
      </p:sp>
      <p:sp>
        <p:nvSpPr>
          <p:cNvPr id="18" name="Trapèze 17">
            <a:extLst>
              <a:ext uri="{FF2B5EF4-FFF2-40B4-BE49-F238E27FC236}">
                <a16:creationId xmlns:a16="http://schemas.microsoft.com/office/drawing/2014/main" id="{D65B9DDD-9BDA-712A-076A-55DB34B9B16A}"/>
              </a:ext>
            </a:extLst>
          </p:cNvPr>
          <p:cNvSpPr/>
          <p:nvPr/>
        </p:nvSpPr>
        <p:spPr>
          <a:xfrm rot="5400000">
            <a:off x="6008000" y="443646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14F126B-1244-5E85-89A3-E38EEF0437BA}"/>
              </a:ext>
            </a:extLst>
          </p:cNvPr>
          <p:cNvSpPr txBox="1"/>
          <p:nvPr/>
        </p:nvSpPr>
        <p:spPr>
          <a:xfrm>
            <a:off x="2995196" y="235615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C2E04B-FBE9-3C1E-86F8-CCBC4F2AD1C1}"/>
              </a:ext>
            </a:extLst>
          </p:cNvPr>
          <p:cNvSpPr txBox="1"/>
          <p:nvPr/>
        </p:nvSpPr>
        <p:spPr>
          <a:xfrm>
            <a:off x="6982091" y="232425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478DAED-B087-5136-6236-07301302871F}"/>
              </a:ext>
            </a:extLst>
          </p:cNvPr>
          <p:cNvSpPr txBox="1"/>
          <p:nvPr/>
        </p:nvSpPr>
        <p:spPr>
          <a:xfrm>
            <a:off x="6982091" y="495424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017379F-42BE-4F9C-B626-A42B0705F43F}"/>
              </a:ext>
            </a:extLst>
          </p:cNvPr>
          <p:cNvSpPr txBox="1"/>
          <p:nvPr/>
        </p:nvSpPr>
        <p:spPr>
          <a:xfrm>
            <a:off x="512349" y="2733263"/>
            <a:ext cx="178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de la classe source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57E2379-12CC-8C19-D7EE-403EA0B7BECF}"/>
              </a:ext>
            </a:extLst>
          </p:cNvPr>
          <p:cNvSpPr txBox="1"/>
          <p:nvPr/>
        </p:nvSpPr>
        <p:spPr>
          <a:xfrm>
            <a:off x="4496789" y="5346893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de test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D00D881-5E64-9511-4E60-38B578F799B3}"/>
              </a:ext>
            </a:extLst>
          </p:cNvPr>
          <p:cNvSpPr txBox="1"/>
          <p:nvPr/>
        </p:nvSpPr>
        <p:spPr>
          <a:xfrm>
            <a:off x="9938282" y="2718615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de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b="1" baseline="-2500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fr-FR" b="1" baseline="-250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reconstruite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9AB7318-2114-086B-854C-C702F1D9F20C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2068755" y="2060914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B3537E6F-8CA7-D175-22AF-02A4BD995CE1}"/>
              </a:ext>
            </a:extLst>
          </p:cNvPr>
          <p:cNvCxnSpPr>
            <a:stCxn id="3" idx="0"/>
            <a:endCxn id="10" idx="1"/>
          </p:cNvCxnSpPr>
          <p:nvPr/>
        </p:nvCxnSpPr>
        <p:spPr>
          <a:xfrm flipV="1">
            <a:off x="2933993" y="2060913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6BE80A2-0E2C-EDCC-76F2-DB71DE693ECF}"/>
              </a:ext>
            </a:extLst>
          </p:cNvPr>
          <p:cNvCxnSpPr>
            <a:stCxn id="10" idx="3"/>
            <a:endCxn id="8" idx="0"/>
          </p:cNvCxnSpPr>
          <p:nvPr/>
        </p:nvCxnSpPr>
        <p:spPr>
          <a:xfrm>
            <a:off x="3488205" y="2060913"/>
            <a:ext cx="372397" cy="1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14316EA-4673-CFE1-293A-DCF966C8DB49}"/>
              </a:ext>
            </a:extLst>
          </p:cNvPr>
          <p:cNvCxnSpPr>
            <a:stCxn id="8" idx="2"/>
            <a:endCxn id="11" idx="1"/>
          </p:cNvCxnSpPr>
          <p:nvPr/>
        </p:nvCxnSpPr>
        <p:spPr>
          <a:xfrm flipV="1">
            <a:off x="4355901" y="2054938"/>
            <a:ext cx="369939" cy="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D8F4018B-93FB-9864-325E-0951DCCA5EDC}"/>
              </a:ext>
            </a:extLst>
          </p:cNvPr>
          <p:cNvCxnSpPr>
            <a:stCxn id="11" idx="3"/>
            <a:endCxn id="12" idx="2"/>
          </p:cNvCxnSpPr>
          <p:nvPr/>
        </p:nvCxnSpPr>
        <p:spPr>
          <a:xfrm flipV="1">
            <a:off x="6053195" y="2048962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67446CE8-5018-BE89-3953-691B256A9FAC}"/>
              </a:ext>
            </a:extLst>
          </p:cNvPr>
          <p:cNvCxnSpPr>
            <a:stCxn id="12" idx="0"/>
            <a:endCxn id="15" idx="1"/>
          </p:cNvCxnSpPr>
          <p:nvPr/>
        </p:nvCxnSpPr>
        <p:spPr>
          <a:xfrm flipV="1">
            <a:off x="6918433" y="2048961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B8E8929A-A739-E86D-3D80-529BB0377BB0}"/>
              </a:ext>
            </a:extLst>
          </p:cNvPr>
          <p:cNvCxnSpPr>
            <a:stCxn id="15" idx="3"/>
            <a:endCxn id="16" idx="0"/>
          </p:cNvCxnSpPr>
          <p:nvPr/>
        </p:nvCxnSpPr>
        <p:spPr>
          <a:xfrm>
            <a:off x="7475100" y="2048961"/>
            <a:ext cx="1681073" cy="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4577656-B99F-E1A3-F68B-9900140FAD7A}"/>
              </a:ext>
            </a:extLst>
          </p:cNvPr>
          <p:cNvCxnSpPr>
            <a:stCxn id="16" idx="2"/>
            <a:endCxn id="17" idx="1"/>
          </p:cNvCxnSpPr>
          <p:nvPr/>
        </p:nvCxnSpPr>
        <p:spPr>
          <a:xfrm flipV="1">
            <a:off x="9651472" y="2048066"/>
            <a:ext cx="374973" cy="7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89CC717-0D55-4ACA-EDC5-E7B26D5FC088}"/>
              </a:ext>
            </a:extLst>
          </p:cNvPr>
          <p:cNvCxnSpPr>
            <a:cxnSpLocks/>
          </p:cNvCxnSpPr>
          <p:nvPr/>
        </p:nvCxnSpPr>
        <p:spPr>
          <a:xfrm>
            <a:off x="8249265" y="2061808"/>
            <a:ext cx="0" cy="2144098"/>
          </a:xfrm>
          <a:prstGeom prst="line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D478E747-05D2-9BAD-E6E7-0017BD7CF6B2}"/>
              </a:ext>
            </a:extLst>
          </p:cNvPr>
          <p:cNvCxnSpPr>
            <a:stCxn id="14" idx="1"/>
            <a:endCxn id="18" idx="0"/>
          </p:cNvCxnSpPr>
          <p:nvPr/>
        </p:nvCxnSpPr>
        <p:spPr>
          <a:xfrm flipH="1" flipV="1">
            <a:off x="6918431" y="4684112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DE71A58-1F98-1248-2A2A-4457076BB1F8}"/>
              </a:ext>
            </a:extLst>
          </p:cNvPr>
          <p:cNvCxnSpPr>
            <a:stCxn id="18" idx="2"/>
            <a:endCxn id="13" idx="3"/>
          </p:cNvCxnSpPr>
          <p:nvPr/>
        </p:nvCxnSpPr>
        <p:spPr>
          <a:xfrm flipH="1">
            <a:off x="6053195" y="4684112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7A62113-AE77-071F-F466-FC1C548241ED}"/>
              </a:ext>
            </a:extLst>
          </p:cNvPr>
          <p:cNvSpPr/>
          <p:nvPr/>
        </p:nvSpPr>
        <p:spPr>
          <a:xfrm>
            <a:off x="7970399" y="4205906"/>
            <a:ext cx="1681073" cy="970152"/>
          </a:xfrm>
          <a:prstGeom prst="rect">
            <a:avLst/>
          </a:prstGeom>
          <a:solidFill>
            <a:srgbClr val="ECF1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37" name="Image 36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D43FE1AA-4DF4-B0FA-5C96-1CE6AA9A6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968" y="3237374"/>
            <a:ext cx="466212" cy="466209"/>
          </a:xfrm>
          <a:prstGeom prst="rect">
            <a:avLst/>
          </a:prstGeom>
        </p:spPr>
      </p:pic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9743E25-03F7-274E-5F35-38D2E1415651}"/>
              </a:ext>
            </a:extLst>
          </p:cNvPr>
          <p:cNvCxnSpPr>
            <a:cxnSpLocks/>
            <a:stCxn id="47" idx="1"/>
            <a:endCxn id="36" idx="3"/>
          </p:cNvCxnSpPr>
          <p:nvPr/>
        </p:nvCxnSpPr>
        <p:spPr>
          <a:xfrm flipH="1">
            <a:off x="9651472" y="4689629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4CC17AF6-92B3-06D6-9174-7F73AFB4D777}"/>
              </a:ext>
            </a:extLst>
          </p:cNvPr>
          <p:cNvCxnSpPr>
            <a:cxnSpLocks/>
          </p:cNvCxnSpPr>
          <p:nvPr/>
        </p:nvCxnSpPr>
        <p:spPr>
          <a:xfrm>
            <a:off x="9357074" y="3761916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A655558C-F9EB-077B-5F29-4327BA90A4C5}"/>
              </a:ext>
            </a:extLst>
          </p:cNvPr>
          <p:cNvCxnSpPr>
            <a:cxnSpLocks/>
            <a:stCxn id="36" idx="1"/>
            <a:endCxn id="14" idx="3"/>
          </p:cNvCxnSpPr>
          <p:nvPr/>
        </p:nvCxnSpPr>
        <p:spPr>
          <a:xfrm flipH="1" flipV="1">
            <a:off x="7475100" y="4685007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5C93E1B1-D351-E1CE-72B9-172C707F9BE6}"/>
              </a:ext>
            </a:extLst>
          </p:cNvPr>
          <p:cNvSpPr txBox="1"/>
          <p:nvPr/>
        </p:nvSpPr>
        <p:spPr>
          <a:xfrm>
            <a:off x="9938282" y="5031347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671DE47-8C11-C88B-4481-CD5F270F9CA2}"/>
              </a:ext>
            </a:extLst>
          </p:cNvPr>
          <p:cNvGrpSpPr/>
          <p:nvPr/>
        </p:nvGrpSpPr>
        <p:grpSpPr>
          <a:xfrm>
            <a:off x="10084570" y="4372621"/>
            <a:ext cx="1211103" cy="589246"/>
            <a:chOff x="10142697" y="5135087"/>
            <a:chExt cx="1211103" cy="58924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010D14-C36E-245E-30AE-AC9F9B3C4CA6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6E419AE-0B6B-5B23-0C9D-F80E842D1A55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8B4E1B6E-2961-77A2-4B16-60C4EF06E95E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6468F7E-A9A1-16C9-F580-BFD186F7E4B5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2DAAABC-D386-C59F-4D68-AA0931927D62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0" name="Titre 6">
            <a:extLst>
              <a:ext uri="{FF2B5EF4-FFF2-40B4-BE49-F238E27FC236}">
                <a16:creationId xmlns:a16="http://schemas.microsoft.com/office/drawing/2014/main" id="{08ADE841-E7C2-6F9E-015B-A305E5742F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417856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0E6D-569E-6FB6-F5C0-2E91921B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E4B466D-FFF6-FC48-9D11-A7EBD6AA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de </a:t>
            </a:r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75FFF32-FA75-6D6C-7AC8-835B85D6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828727-E099-A6D7-6017-BA5831D0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0C75E1-7B9C-5E07-8022-2052A5E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9</a:t>
            </a:fld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61BC08-1704-2945-0E69-AA2E68E69D71}"/>
              </a:ext>
            </a:extLst>
          </p:cNvPr>
          <p:cNvSpPr/>
          <p:nvPr/>
        </p:nvSpPr>
        <p:spPr>
          <a:xfrm>
            <a:off x="4187360" y="140321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49" name="Trapèze 48">
            <a:extLst>
              <a:ext uri="{FF2B5EF4-FFF2-40B4-BE49-F238E27FC236}">
                <a16:creationId xmlns:a16="http://schemas.microsoft.com/office/drawing/2014/main" id="{5DE2C07A-247F-EDBD-96A2-3F86958B4C94}"/>
              </a:ext>
            </a:extLst>
          </p:cNvPr>
          <p:cNvSpPr/>
          <p:nvPr/>
        </p:nvSpPr>
        <p:spPr>
          <a:xfrm rot="5400000">
            <a:off x="5469522" y="181326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E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14475E-FE7E-4431-9A26-0B74087E9EF4}"/>
              </a:ext>
            </a:extLst>
          </p:cNvPr>
          <p:cNvSpPr/>
          <p:nvPr/>
        </p:nvSpPr>
        <p:spPr>
          <a:xfrm>
            <a:off x="4187360" y="4033280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sz="3600" baseline="-25000" dirty="0">
              <a:solidFill>
                <a:schemeClr val="tx1"/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E93753B-CEB6-2B6B-D678-D1923B7815DB}"/>
              </a:ext>
            </a:extLst>
          </p:cNvPr>
          <p:cNvSpPr/>
          <p:nvPr/>
        </p:nvSpPr>
        <p:spPr>
          <a:xfrm>
            <a:off x="6749889" y="442771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5FFC86-B569-3352-6580-9BD02532AE91}"/>
              </a:ext>
            </a:extLst>
          </p:cNvPr>
          <p:cNvSpPr/>
          <p:nvPr/>
        </p:nvSpPr>
        <p:spPr>
          <a:xfrm>
            <a:off x="6749889" y="1791671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rapèze 52">
            <a:extLst>
              <a:ext uri="{FF2B5EF4-FFF2-40B4-BE49-F238E27FC236}">
                <a16:creationId xmlns:a16="http://schemas.microsoft.com/office/drawing/2014/main" id="{D9D4C41C-A244-44F8-E31E-3E0797C6EF91}"/>
              </a:ext>
            </a:extLst>
          </p:cNvPr>
          <p:cNvSpPr/>
          <p:nvPr/>
        </p:nvSpPr>
        <p:spPr>
          <a:xfrm rot="5400000">
            <a:off x="5469520" y="444841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D</a:t>
            </a:r>
            <a:endParaRPr lang="fr-FR" dirty="0">
              <a:latin typeface="Consolas" panose="020B06090202040302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CD8A8BA-155D-4B6B-7FB9-A7CF9CC5EA1B}"/>
              </a:ext>
            </a:extLst>
          </p:cNvPr>
          <p:cNvSpPr txBox="1"/>
          <p:nvPr/>
        </p:nvSpPr>
        <p:spPr>
          <a:xfrm>
            <a:off x="6443611" y="233620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1652C737-F1AC-C2D5-6B6C-CBA55667AE07}"/>
              </a:ext>
            </a:extLst>
          </p:cNvPr>
          <p:cNvSpPr txBox="1"/>
          <p:nvPr/>
        </p:nvSpPr>
        <p:spPr>
          <a:xfrm>
            <a:off x="6443611" y="496619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baseline="30000" dirty="0">
                <a:latin typeface="Consolas" panose="020B0609020204030204" pitchFamily="49" charset="0"/>
                <a:cs typeface="Cascadia Code" panose="020B0609020000020004" pitchFamily="49" charset="0"/>
              </a:rPr>
              <a:t>-1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632F05E-1CEB-C0C4-CEB1-B1F5A8522ADE}"/>
              </a:ext>
            </a:extLst>
          </p:cNvPr>
          <p:cNvSpPr txBox="1"/>
          <p:nvPr/>
        </p:nvSpPr>
        <p:spPr>
          <a:xfrm>
            <a:off x="3958309" y="5358843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7BD316F7-7AC4-B414-CD74-5603D37DCE39}"/>
              </a:ext>
            </a:extLst>
          </p:cNvPr>
          <p:cNvCxnSpPr>
            <a:stCxn id="48" idx="3"/>
            <a:endCxn id="49" idx="2"/>
          </p:cNvCxnSpPr>
          <p:nvPr/>
        </p:nvCxnSpPr>
        <p:spPr>
          <a:xfrm flipV="1">
            <a:off x="5514715" y="2060912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CD1AF09F-482B-66A1-5EC3-C0B7AA42956B}"/>
              </a:ext>
            </a:extLst>
          </p:cNvPr>
          <p:cNvCxnSpPr>
            <a:stCxn id="49" idx="0"/>
            <a:endCxn id="52" idx="1"/>
          </p:cNvCxnSpPr>
          <p:nvPr/>
        </p:nvCxnSpPr>
        <p:spPr>
          <a:xfrm flipV="1">
            <a:off x="6379953" y="2060911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56676BA5-EC87-018A-F754-8634BE318D63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36620" y="2060911"/>
            <a:ext cx="774165" cy="0"/>
          </a:xfrm>
          <a:prstGeom prst="straightConnector1">
            <a:avLst/>
          </a:prstGeom>
          <a:ln cap="rnd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51438039-F7A6-9271-106B-05CCEDA3BA6F}"/>
              </a:ext>
            </a:extLst>
          </p:cNvPr>
          <p:cNvCxnSpPr>
            <a:cxnSpLocks/>
          </p:cNvCxnSpPr>
          <p:nvPr/>
        </p:nvCxnSpPr>
        <p:spPr>
          <a:xfrm>
            <a:off x="7710785" y="2060911"/>
            <a:ext cx="0" cy="2156945"/>
          </a:xfrm>
          <a:prstGeom prst="line">
            <a:avLst/>
          </a:prstGeom>
          <a:ln cap="rnd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6B30BDD-E6FF-4AD3-2F86-2DB1D32CDB5F}"/>
              </a:ext>
            </a:extLst>
          </p:cNvPr>
          <p:cNvCxnSpPr>
            <a:stCxn id="51" idx="1"/>
            <a:endCxn id="53" idx="0"/>
          </p:cNvCxnSpPr>
          <p:nvPr/>
        </p:nvCxnSpPr>
        <p:spPr>
          <a:xfrm flipH="1" flipV="1">
            <a:off x="6379951" y="4696062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1A5AB8F2-C890-236A-B501-2598EE4800AF}"/>
              </a:ext>
            </a:extLst>
          </p:cNvPr>
          <p:cNvCxnSpPr>
            <a:stCxn id="53" idx="2"/>
            <a:endCxn id="50" idx="3"/>
          </p:cNvCxnSpPr>
          <p:nvPr/>
        </p:nvCxnSpPr>
        <p:spPr>
          <a:xfrm flipH="1">
            <a:off x="5514715" y="4696062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1849F69-A814-C474-26F3-2E0F7B36D775}"/>
              </a:ext>
            </a:extLst>
          </p:cNvPr>
          <p:cNvSpPr/>
          <p:nvPr/>
        </p:nvSpPr>
        <p:spPr>
          <a:xfrm>
            <a:off x="7431919" y="4217856"/>
            <a:ext cx="1681073" cy="970152"/>
          </a:xfrm>
          <a:prstGeom prst="rect">
            <a:avLst/>
          </a:prstGeom>
          <a:solidFill>
            <a:srgbClr val="ECF1C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Translation</a:t>
            </a:r>
          </a:p>
        </p:txBody>
      </p:sp>
      <p:pic>
        <p:nvPicPr>
          <p:cNvPr id="64" name="Image 63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EC248430-50A2-FA87-0567-4303DC4C0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88" y="3249324"/>
            <a:ext cx="466212" cy="466209"/>
          </a:xfrm>
          <a:prstGeom prst="rect">
            <a:avLst/>
          </a:prstGeom>
        </p:spPr>
      </p:pic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29331B99-2800-6B7F-68C4-F3CFCDBDA9E1}"/>
              </a:ext>
            </a:extLst>
          </p:cNvPr>
          <p:cNvCxnSpPr>
            <a:cxnSpLocks/>
            <a:stCxn id="74" idx="1"/>
            <a:endCxn id="63" idx="3"/>
          </p:cNvCxnSpPr>
          <p:nvPr/>
        </p:nvCxnSpPr>
        <p:spPr>
          <a:xfrm flipH="1">
            <a:off x="9112992" y="4701579"/>
            <a:ext cx="433098" cy="1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49E6589E-FA68-C826-B380-9062B2BB93ED}"/>
              </a:ext>
            </a:extLst>
          </p:cNvPr>
          <p:cNvCxnSpPr>
            <a:cxnSpLocks/>
          </p:cNvCxnSpPr>
          <p:nvPr/>
        </p:nvCxnSpPr>
        <p:spPr>
          <a:xfrm>
            <a:off x="8818594" y="3773866"/>
            <a:ext cx="0" cy="443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2996FCE7-8ADE-413D-6460-8FC618EB80AF}"/>
              </a:ext>
            </a:extLst>
          </p:cNvPr>
          <p:cNvCxnSpPr>
            <a:cxnSpLocks/>
            <a:stCxn id="63" idx="1"/>
            <a:endCxn id="51" idx="3"/>
          </p:cNvCxnSpPr>
          <p:nvPr/>
        </p:nvCxnSpPr>
        <p:spPr>
          <a:xfrm flipH="1" flipV="1">
            <a:off x="6936620" y="4696957"/>
            <a:ext cx="495299" cy="5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07B0535-2236-5C1E-FC60-0BD2A7A42609}"/>
              </a:ext>
            </a:extLst>
          </p:cNvPr>
          <p:cNvSpPr txBox="1"/>
          <p:nvPr/>
        </p:nvSpPr>
        <p:spPr>
          <a:xfrm>
            <a:off x="9399802" y="5043297"/>
            <a:ext cx="148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Vecteurs de translation</a:t>
            </a:r>
            <a:endParaRPr lang="fr-FR" b="1" baseline="-25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6A0AB9AE-FAEA-516C-7BA5-72E5C42F8E4D}"/>
              </a:ext>
            </a:extLst>
          </p:cNvPr>
          <p:cNvGrpSpPr/>
          <p:nvPr/>
        </p:nvGrpSpPr>
        <p:grpSpPr>
          <a:xfrm>
            <a:off x="9546090" y="4384571"/>
            <a:ext cx="1211103" cy="589246"/>
            <a:chOff x="10142697" y="5135087"/>
            <a:chExt cx="1211103" cy="58924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752D1A2-A900-439F-DFBE-2C361091B87E}"/>
                </a:ext>
              </a:extLst>
            </p:cNvPr>
            <p:cNvSpPr/>
            <p:nvPr/>
          </p:nvSpPr>
          <p:spPr>
            <a:xfrm>
              <a:off x="10516159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3E9BDDE-446D-5C23-29B5-AE119C73CF9D}"/>
                </a:ext>
              </a:extLst>
            </p:cNvPr>
            <p:cNvSpPr/>
            <p:nvPr/>
          </p:nvSpPr>
          <p:spPr>
            <a:xfrm>
              <a:off x="11145686" y="5185853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4E94C54E-B541-7C47-0CE8-A1A7DAF8E187}"/>
                </a:ext>
              </a:extLst>
            </p:cNvPr>
            <p:cNvSpPr txBox="1"/>
            <p:nvPr/>
          </p:nvSpPr>
          <p:spPr>
            <a:xfrm>
              <a:off x="10492026" y="5135087"/>
              <a:ext cx="86177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>
                      <a:lumMod val="75000"/>
                    </a:schemeClr>
                  </a:solidFill>
                </a:rPr>
                <a:t>…</a:t>
              </a:r>
              <a:endParaRPr lang="fr-FR" sz="2400" b="1" baseline="-250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78D6D99-2DB3-51D6-C684-FAE46F1530A3}"/>
                </a:ext>
              </a:extLst>
            </p:cNvPr>
            <p:cNvSpPr/>
            <p:nvPr/>
          </p:nvSpPr>
          <p:spPr>
            <a:xfrm>
              <a:off x="10329428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90A59E7-8618-F6C8-C978-6D6A9304C061}"/>
                </a:ext>
              </a:extLst>
            </p:cNvPr>
            <p:cNvSpPr/>
            <p:nvPr/>
          </p:nvSpPr>
          <p:spPr>
            <a:xfrm>
              <a:off x="10142697" y="5182855"/>
              <a:ext cx="186731" cy="5384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5" name="ZoneTexte 74">
            <a:extLst>
              <a:ext uri="{FF2B5EF4-FFF2-40B4-BE49-F238E27FC236}">
                <a16:creationId xmlns:a16="http://schemas.microsoft.com/office/drawing/2014/main" id="{0FAFB7AA-7213-645E-EC8D-3BFC130A69BB}"/>
              </a:ext>
            </a:extLst>
          </p:cNvPr>
          <p:cNvSpPr txBox="1"/>
          <p:nvPr/>
        </p:nvSpPr>
        <p:spPr>
          <a:xfrm>
            <a:off x="4084321" y="2723693"/>
            <a:ext cx="153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obscurcie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9896455-0E65-94C3-F8EB-82660ED23FC0}"/>
              </a:ext>
            </a:extLst>
          </p:cNvPr>
          <p:cNvSpPr/>
          <p:nvPr/>
        </p:nvSpPr>
        <p:spPr>
          <a:xfrm>
            <a:off x="1461729" y="4039255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EB9F586B-6DF6-A4E8-5457-7679DE1C9657}"/>
              </a:ext>
            </a:extLst>
          </p:cNvPr>
          <p:cNvSpPr txBox="1"/>
          <p:nvPr/>
        </p:nvSpPr>
        <p:spPr>
          <a:xfrm>
            <a:off x="1602615" y="5366610"/>
            <a:ext cx="1045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ea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fr-FR" b="1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fr-FR" b="1" baseline="-2500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D008843C-827C-5638-0AD6-067FD16F76C0}"/>
              </a:ext>
            </a:extLst>
          </p:cNvPr>
          <p:cNvSpPr txBox="1"/>
          <p:nvPr/>
        </p:nvSpPr>
        <p:spPr>
          <a:xfrm>
            <a:off x="2789084" y="3800260"/>
            <a:ext cx="1398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0" i="0" dirty="0">
                <a:solidFill>
                  <a:schemeClr val="bg1">
                    <a:lumMod val="75000"/>
                  </a:schemeClr>
                </a:solidFill>
                <a:effectLst/>
              </a:rPr>
              <a:t>≈</a:t>
            </a:r>
            <a:endParaRPr lang="fr-FR" sz="9600" baseline="-25000" dirty="0">
              <a:solidFill>
                <a:schemeClr val="bg1">
                  <a:lumMod val="75000"/>
                </a:schemeClr>
              </a:solidFill>
              <a:cs typeface="Cascadia Code" panose="020B0609020000020004" pitchFamily="49" charset="0"/>
            </a:endParaRPr>
          </a:p>
        </p:txBody>
      </p:sp>
      <p:sp>
        <p:nvSpPr>
          <p:cNvPr id="81" name="Titre 6">
            <a:extLst>
              <a:ext uri="{FF2B5EF4-FFF2-40B4-BE49-F238E27FC236}">
                <a16:creationId xmlns:a16="http://schemas.microsoft.com/office/drawing/2014/main" id="{4A88F766-9168-FAD7-ECE2-E0C7D2C0DE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67639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457D-C531-73E6-76BA-017B7653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EE22B99-5430-C049-0A55-333146911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6777C4F-C7D9-9C46-FA2E-3CD69BFB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741B32-7B65-3A3E-5CA2-19B4D085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47E2C5-97D5-B902-5B86-983E1D04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10</a:t>
            </a:fld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5A9F3DD4-1B93-5185-5DB9-D63CC7DEBB9D}"/>
              </a:ext>
            </a:extLst>
          </p:cNvPr>
          <p:cNvSpPr/>
          <p:nvPr/>
        </p:nvSpPr>
        <p:spPr>
          <a:xfrm rot="851835">
            <a:off x="1223788" y="1558875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CB7984DE-FBE9-1AC1-87ED-4FD240FA30DE}"/>
              </a:ext>
            </a:extLst>
          </p:cNvPr>
          <p:cNvSpPr/>
          <p:nvPr/>
        </p:nvSpPr>
        <p:spPr>
          <a:xfrm rot="20017351">
            <a:off x="2366539" y="3516070"/>
            <a:ext cx="2317936" cy="220859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53AD8B7-C7DC-1333-2B5C-8ED6B28DCCF5}"/>
              </a:ext>
            </a:extLst>
          </p:cNvPr>
          <p:cNvSpPr/>
          <p:nvPr/>
        </p:nvSpPr>
        <p:spPr>
          <a:xfrm rot="3925294">
            <a:off x="3707203" y="2532128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2242D8D-E972-563A-C855-AF5D7FA774BF}"/>
              </a:ext>
            </a:extLst>
          </p:cNvPr>
          <p:cNvSpPr/>
          <p:nvPr/>
        </p:nvSpPr>
        <p:spPr>
          <a:xfrm>
            <a:off x="2582402" y="2374028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070C9D9-B66D-4A05-3DC0-33EEE3A648CF}"/>
              </a:ext>
            </a:extLst>
          </p:cNvPr>
          <p:cNvSpPr/>
          <p:nvPr/>
        </p:nvSpPr>
        <p:spPr>
          <a:xfrm>
            <a:off x="5531279" y="3324293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D3EBFA0-4E57-1AAB-7E06-AB0D7F319ECD}"/>
              </a:ext>
            </a:extLst>
          </p:cNvPr>
          <p:cNvSpPr/>
          <p:nvPr/>
        </p:nvSpPr>
        <p:spPr>
          <a:xfrm>
            <a:off x="3443695" y="4564451"/>
            <a:ext cx="163624" cy="16362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AD31AE4A-B87A-373C-498E-C87980C6E8A2}"/>
              </a:ext>
            </a:extLst>
          </p:cNvPr>
          <p:cNvCxnSpPr>
            <a:cxnSpLocks/>
          </p:cNvCxnSpPr>
          <p:nvPr/>
        </p:nvCxnSpPr>
        <p:spPr>
          <a:xfrm>
            <a:off x="2664214" y="2460996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igne de multiplication 33">
            <a:extLst>
              <a:ext uri="{FF2B5EF4-FFF2-40B4-BE49-F238E27FC236}">
                <a16:creationId xmlns:a16="http://schemas.microsoft.com/office/drawing/2014/main" id="{9C040A3B-0C8B-C2D9-4E26-0AC227C1232F}"/>
              </a:ext>
            </a:extLst>
          </p:cNvPr>
          <p:cNvSpPr/>
          <p:nvPr/>
        </p:nvSpPr>
        <p:spPr>
          <a:xfrm>
            <a:off x="5477471" y="3761289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Signe de multiplication 34">
            <a:extLst>
              <a:ext uri="{FF2B5EF4-FFF2-40B4-BE49-F238E27FC236}">
                <a16:creationId xmlns:a16="http://schemas.microsoft.com/office/drawing/2014/main" id="{E144DFEE-AFC7-09E1-86F0-8AFF870D02BE}"/>
              </a:ext>
            </a:extLst>
          </p:cNvPr>
          <p:cNvSpPr/>
          <p:nvPr/>
        </p:nvSpPr>
        <p:spPr>
          <a:xfrm>
            <a:off x="2528903" y="2812985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6E87298-C81A-43C7-1963-BAB6CEDF30D8}"/>
              </a:ext>
            </a:extLst>
          </p:cNvPr>
          <p:cNvCxnSpPr>
            <a:cxnSpLocks/>
          </p:cNvCxnSpPr>
          <p:nvPr/>
        </p:nvCxnSpPr>
        <p:spPr>
          <a:xfrm>
            <a:off x="2647871" y="2929992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9EF75B16-7C9B-54FC-4664-F1E3AFECF3B3}"/>
              </a:ext>
            </a:extLst>
          </p:cNvPr>
          <p:cNvSpPr txBox="1"/>
          <p:nvPr/>
        </p:nvSpPr>
        <p:spPr>
          <a:xfrm>
            <a:off x="3846555" y="2971739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j→i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53D7EF2-B13F-0D96-8248-622688642352}"/>
              </a:ext>
            </a:extLst>
          </p:cNvPr>
          <p:cNvSpPr txBox="1"/>
          <p:nvPr/>
        </p:nvSpPr>
        <p:spPr>
          <a:xfrm>
            <a:off x="2083335" y="2018664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3063F01-9F4C-54AA-8303-97508E5806BB}"/>
              </a:ext>
            </a:extLst>
          </p:cNvPr>
          <p:cNvSpPr txBox="1"/>
          <p:nvPr/>
        </p:nvSpPr>
        <p:spPr>
          <a:xfrm>
            <a:off x="5403014" y="301294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8323408-9554-35E0-27AC-B9EBD798C21F}"/>
              </a:ext>
            </a:extLst>
          </p:cNvPr>
          <p:cNvSpPr txBox="1"/>
          <p:nvPr/>
        </p:nvSpPr>
        <p:spPr>
          <a:xfrm>
            <a:off x="3214881" y="471392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99D6995-E6C4-C3AE-E9FB-03905CE8B5B0}"/>
              </a:ext>
            </a:extLst>
          </p:cNvPr>
          <p:cNvSpPr txBox="1"/>
          <p:nvPr/>
        </p:nvSpPr>
        <p:spPr>
          <a:xfrm>
            <a:off x="1967554" y="2595802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Î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B4CC3C9-4A5B-178C-30B4-56FFC7EE7974}"/>
              </a:ext>
            </a:extLst>
          </p:cNvPr>
          <p:cNvSpPr txBox="1"/>
          <p:nvPr/>
        </p:nvSpPr>
        <p:spPr>
          <a:xfrm>
            <a:off x="5403170" y="3893673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4D92C65-7F31-AB46-75A8-78E90CD43DDF}"/>
              </a:ext>
            </a:extLst>
          </p:cNvPr>
          <p:cNvSpPr txBox="1"/>
          <p:nvPr/>
        </p:nvSpPr>
        <p:spPr>
          <a:xfrm>
            <a:off x="759612" y="3129565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FCAA279-426B-97C5-ECA0-22D97BF0E5F6}"/>
              </a:ext>
            </a:extLst>
          </p:cNvPr>
          <p:cNvSpPr txBox="1"/>
          <p:nvPr/>
        </p:nvSpPr>
        <p:spPr>
          <a:xfrm>
            <a:off x="5559771" y="5154033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EC8F25C9-95B3-D8EB-093F-F3EDA8797F7D}"/>
              </a:ext>
            </a:extLst>
          </p:cNvPr>
          <p:cNvSpPr txBox="1"/>
          <p:nvPr/>
        </p:nvSpPr>
        <p:spPr>
          <a:xfrm>
            <a:off x="2702191" y="569686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ascadia Code" panose="020B0609020000020004" pitchFamily="49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C508897F-0510-C95B-3B5A-1CC372B9FD51}"/>
              </a:ext>
            </a:extLst>
          </p:cNvPr>
          <p:cNvSpPr txBox="1"/>
          <p:nvPr/>
        </p:nvSpPr>
        <p:spPr>
          <a:xfrm>
            <a:off x="7441191" y="2448694"/>
            <a:ext cx="38994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inverse (classe </a:t>
            </a:r>
            <a:r>
              <a:rPr lang="fr-FR" sz="2000" b="1" dirty="0">
                <a:solidFill>
                  <a:schemeClr val="accent6"/>
                </a:solidFill>
              </a:rPr>
              <a:t>j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) :</a:t>
            </a:r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baseline="30000" dirty="0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-1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6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j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2"/>
                </a:solidFill>
                <a:latin typeface="Consolas" panose="020B0609020204030204" pitchFamily="49" charset="0"/>
                <a:cs typeface="Cascadia Code" panose="020B0609020000020004" pitchFamily="49" charset="0"/>
              </a:rPr>
              <a:t>i</a:t>
            </a:r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Titre 6">
            <a:extLst>
              <a:ext uri="{FF2B5EF4-FFF2-40B4-BE49-F238E27FC236}">
                <a16:creationId xmlns:a16="http://schemas.microsoft.com/office/drawing/2014/main" id="{004EB9F9-DFD6-B1FB-C969-F97BC8DEBC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125844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9B4DA-A0AE-025B-C68E-40FEB070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9479A71-98A8-E89C-8BDA-BDCF15A4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 de l’obscuration (classification)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C380B26-D9E9-CD83-9254-BA59A838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625EEE-A80C-5252-A3FB-FB6D6C1C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4EC9B5-75FE-A10F-3017-A5FE731F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11</a:t>
            </a:fld>
            <a:endParaRPr lang="fr-FR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347EB40-9163-7723-DF4F-EE31E3F71E6C}"/>
              </a:ext>
            </a:extLst>
          </p:cNvPr>
          <p:cNvCxnSpPr>
            <a:cxnSpLocks/>
          </p:cNvCxnSpPr>
          <p:nvPr/>
        </p:nvCxnSpPr>
        <p:spPr>
          <a:xfrm flipV="1">
            <a:off x="6096000" y="1442640"/>
            <a:ext cx="0" cy="18882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D416756-8C42-1664-D76D-A2257FD8F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31" y="2183419"/>
            <a:ext cx="3111202" cy="1817779"/>
          </a:xfrm>
        </p:spPr>
      </p:pic>
      <p:pic>
        <p:nvPicPr>
          <p:cNvPr id="8" name="Image 7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0938FB4E-B81D-F85F-45F5-1BC30B839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183417"/>
            <a:ext cx="3111202" cy="1817780"/>
          </a:xfrm>
          <a:prstGeom prst="rect">
            <a:avLst/>
          </a:prstGeom>
        </p:spPr>
      </p:pic>
      <p:pic>
        <p:nvPicPr>
          <p:cNvPr id="10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B17A8A9F-AF62-67A6-90B7-002FAA825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867" y="2183418"/>
            <a:ext cx="3111202" cy="1817779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81D3258-CE37-2C14-19DE-0C55CF7F0D69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3621133" y="3092307"/>
            <a:ext cx="919266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BD978E8-5B9A-F4B9-4C26-0054A41C31A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7651601" y="3092307"/>
            <a:ext cx="919266" cy="1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rganigramme : Opération manuelle 12">
            <a:extLst>
              <a:ext uri="{FF2B5EF4-FFF2-40B4-BE49-F238E27FC236}">
                <a16:creationId xmlns:a16="http://schemas.microsoft.com/office/drawing/2014/main" id="{B839400D-26DB-D04E-1131-023AE67B985A}"/>
              </a:ext>
            </a:extLst>
          </p:cNvPr>
          <p:cNvSpPr/>
          <p:nvPr/>
        </p:nvSpPr>
        <p:spPr>
          <a:xfrm>
            <a:off x="509931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4" name="Organigramme : Opération manuelle 13">
            <a:extLst>
              <a:ext uri="{FF2B5EF4-FFF2-40B4-BE49-F238E27FC236}">
                <a16:creationId xmlns:a16="http://schemas.microsoft.com/office/drawing/2014/main" id="{13D8B3BC-8F1E-EB7A-728A-D7B2B9F1F868}"/>
              </a:ext>
            </a:extLst>
          </p:cNvPr>
          <p:cNvSpPr/>
          <p:nvPr/>
        </p:nvSpPr>
        <p:spPr>
          <a:xfrm>
            <a:off x="4540400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5" name="Organigramme : Opération manuelle 14">
            <a:extLst>
              <a:ext uri="{FF2B5EF4-FFF2-40B4-BE49-F238E27FC236}">
                <a16:creationId xmlns:a16="http://schemas.microsoft.com/office/drawing/2014/main" id="{59771AAB-AF5D-3CE9-6FB6-C1F61193590E}"/>
              </a:ext>
            </a:extLst>
          </p:cNvPr>
          <p:cNvSpPr/>
          <p:nvPr/>
        </p:nvSpPr>
        <p:spPr>
          <a:xfrm>
            <a:off x="8570868" y="4267282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2AEECDC-F149-C317-2191-9E2064880E04}"/>
              </a:ext>
            </a:extLst>
          </p:cNvPr>
          <p:cNvSpPr txBox="1"/>
          <p:nvPr/>
        </p:nvSpPr>
        <p:spPr>
          <a:xfrm>
            <a:off x="682901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E70F937-9BB6-E025-692D-AACF2F967EBA}"/>
              </a:ext>
            </a:extLst>
          </p:cNvPr>
          <p:cNvSpPr txBox="1"/>
          <p:nvPr/>
        </p:nvSpPr>
        <p:spPr>
          <a:xfrm>
            <a:off x="8743843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74B1EA4-FA29-3BAC-6AFD-325B9D315BC0}"/>
              </a:ext>
            </a:extLst>
          </p:cNvPr>
          <p:cNvSpPr txBox="1"/>
          <p:nvPr/>
        </p:nvSpPr>
        <p:spPr>
          <a:xfrm>
            <a:off x="4713370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4	1	7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A932626-E2B2-7063-2F93-AB899CDEACF7}"/>
              </a:ext>
            </a:extLst>
          </p:cNvPr>
          <p:cNvSpPr txBox="1"/>
          <p:nvPr/>
        </p:nvSpPr>
        <p:spPr>
          <a:xfrm>
            <a:off x="0" y="1503191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B5C1AB7-3770-20AB-F1FB-C50FC297CB66}"/>
              </a:ext>
            </a:extLst>
          </p:cNvPr>
          <p:cNvSpPr txBox="1"/>
          <p:nvPr/>
        </p:nvSpPr>
        <p:spPr>
          <a:xfrm>
            <a:off x="6095999" y="1503191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Désobscuration</a:t>
            </a:r>
            <a:endParaRPr lang="fr-FR" sz="3200" b="1" baseline="-25000" dirty="0">
              <a:solidFill>
                <a:schemeClr val="accent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itre 6">
            <a:extLst>
              <a:ext uri="{FF2B5EF4-FFF2-40B4-BE49-F238E27FC236}">
                <a16:creationId xmlns:a16="http://schemas.microsoft.com/office/drawing/2014/main" id="{1D2F54AB-388E-E978-CA47-0536425A96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Méthode</a:t>
            </a:r>
          </a:p>
        </p:txBody>
      </p:sp>
    </p:spTree>
    <p:extLst>
      <p:ext uri="{BB962C8B-B14F-4D97-AF65-F5344CB8AC3E}">
        <p14:creationId xmlns:p14="http://schemas.microsoft.com/office/powerpoint/2010/main" val="480992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BFDC-7339-A22C-FD08-D0172A29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86CBE0A-2FFC-1954-6F79-9D63C01A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5DA4FCC-6938-F211-40D0-D2A18CFBC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AA46CC32-8BF1-9C71-9628-B8A1CABB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9907EB-00E7-BE1A-FC19-BDFBD602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A202E8-873E-CBCC-9295-E8617057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12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134E943C-73CE-D88F-C950-2E00FF8BCFD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2540058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90D1-5DC1-FD49-F7BF-7B53D7EF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DD143AC-5283-47A8-FFCF-C7C1CACE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6E2F454D-AAE5-69D9-BD49-57B0BBFB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</a:t>
            </a:r>
            <a:r>
              <a:rPr lang="fr-FR" dirty="0" err="1"/>
              <a:t>Dataset</a:t>
            </a:r>
            <a:r>
              <a:rPr lang="fr-FR" dirty="0"/>
              <a:t> d’images dessinées </a:t>
            </a:r>
            <a:r>
              <a:rPr lang="fr-FR" b="1" dirty="0">
                <a:solidFill>
                  <a:schemeClr val="accent1"/>
                </a:solidFill>
              </a:rPr>
              <a:t>MNIST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60 000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/>
              <a:t>images d’entraînement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fr-FR" b="1" dirty="0">
                <a:solidFill>
                  <a:schemeClr val="accent1"/>
                </a:solidFill>
              </a:rPr>
              <a:t> 10 000</a:t>
            </a:r>
            <a:r>
              <a:rPr lang="fr-FR" dirty="0">
                <a:solidFill>
                  <a:schemeClr val="accent1"/>
                </a:solidFill>
              </a:rPr>
              <a:t> </a:t>
            </a:r>
            <a:r>
              <a:rPr lang="fr-FR" dirty="0"/>
              <a:t>images de test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D736B55-EA71-CA0E-7622-CD09AC59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D18592-2BEB-3679-8166-BD9D0255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E59CB8-CC77-BA13-4248-FD7577A7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13</a:t>
            </a:fld>
            <a:endParaRPr lang="fr-FR"/>
          </a:p>
        </p:txBody>
      </p:sp>
      <p:pic>
        <p:nvPicPr>
          <p:cNvPr id="2" name="Picture 2" descr="MNIST database - Wikipedia">
            <a:extLst>
              <a:ext uri="{FF2B5EF4-FFF2-40B4-BE49-F238E27FC236}">
                <a16:creationId xmlns:a16="http://schemas.microsoft.com/office/drawing/2014/main" id="{6B59FBFF-E9FB-6970-AA3F-5A04CB113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647" y="3095297"/>
            <a:ext cx="5644705" cy="280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re 6">
            <a:extLst>
              <a:ext uri="{FF2B5EF4-FFF2-40B4-BE49-F238E27FC236}">
                <a16:creationId xmlns:a16="http://schemas.microsoft.com/office/drawing/2014/main" id="{00D921F8-9A1D-287C-4EB8-40D0977528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3857256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DD0D-15D9-6F97-4F96-CC06805D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C87EF1B-16FF-04D0-D773-8633C40C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50097EB-F91E-C86F-53DD-8DA9C783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997"/>
            <a:ext cx="10515600" cy="526262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b="1" dirty="0" err="1">
                <a:solidFill>
                  <a:schemeClr val="accent1"/>
                </a:solidFill>
              </a:rPr>
              <a:t>Autoencodeur</a:t>
            </a:r>
            <a:r>
              <a:rPr lang="fr-FR" b="1" dirty="0">
                <a:solidFill>
                  <a:schemeClr val="accent1"/>
                </a:solidFill>
              </a:rPr>
              <a:t> </a:t>
            </a:r>
            <a:r>
              <a:rPr lang="fr-FR" b="1" dirty="0" err="1">
                <a:solidFill>
                  <a:schemeClr val="accent1"/>
                </a:solidFill>
              </a:rPr>
              <a:t>variationnel</a:t>
            </a:r>
            <a:endParaRPr lang="fr-F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sz="2800" dirty="0"/>
              <a:t>Facteur </a:t>
            </a:r>
            <a:r>
              <a:rPr lang="el-GR" sz="2800" b="1" dirty="0">
                <a:solidFill>
                  <a:schemeClr val="accent1"/>
                </a:solidFill>
              </a:rPr>
              <a:t>β</a:t>
            </a:r>
            <a:r>
              <a:rPr lang="fr-FR" sz="2800" dirty="0"/>
              <a:t> de démêlage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sz="2800" dirty="0"/>
              <a:t>Vecteur latent de taille </a:t>
            </a:r>
            <a:r>
              <a:rPr lang="fr-FR" sz="2800" b="1" dirty="0">
                <a:solidFill>
                  <a:schemeClr val="accent1"/>
                </a:solidFill>
              </a:rPr>
              <a:t>128</a:t>
            </a:r>
          </a:p>
          <a:p>
            <a:endParaRPr lang="fr-FR" sz="3600" b="1" dirty="0"/>
          </a:p>
          <a:p>
            <a:pPr marL="0" indent="0">
              <a:buNone/>
            </a:pPr>
            <a:r>
              <a:rPr lang="fr-FR" sz="2800" b="1" dirty="0">
                <a:solidFill>
                  <a:schemeClr val="accent1"/>
                </a:solidFill>
              </a:rPr>
              <a:t>Classifieur</a:t>
            </a:r>
            <a:endParaRPr lang="fr-FR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>
                <a:solidFill>
                  <a:schemeClr val="accent3">
                    <a:lumMod val="75000"/>
                  </a:schemeClr>
                </a:solidFill>
              </a:rPr>
              <a:t>99,29%</a:t>
            </a:r>
            <a:r>
              <a:rPr lang="fr-FR" dirty="0">
                <a:solidFill>
                  <a:schemeClr val="accent3"/>
                </a:solidFill>
              </a:rPr>
              <a:t> </a:t>
            </a:r>
            <a:r>
              <a:rPr lang="fr-FR" dirty="0"/>
              <a:t>de précision sur la base de données MNIST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>
                <a:solidFill>
                  <a:schemeClr val="accent5"/>
                </a:solidFill>
              </a:rPr>
              <a:t>99,26%</a:t>
            </a:r>
            <a:r>
              <a:rPr lang="fr-FR" dirty="0"/>
              <a:t> de certitude sur MNIST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8AEBC8D-A248-C058-4690-5121E230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1361D54-82F6-8B19-7302-1D7A7EBC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193E6E-0AED-FBB4-DBD2-EC43DDD9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14</a:t>
            </a:fld>
            <a:endParaRPr lang="fr-FR"/>
          </a:p>
        </p:txBody>
      </p:sp>
      <p:pic>
        <p:nvPicPr>
          <p:cNvPr id="3" name="Picture 2" descr="Model Architecture">
            <a:extLst>
              <a:ext uri="{FF2B5EF4-FFF2-40B4-BE49-F238E27FC236}">
                <a16:creationId xmlns:a16="http://schemas.microsoft.com/office/drawing/2014/main" id="{947AF9E3-34E5-17AC-E45D-70262AFE6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1731"/>
          <a:stretch/>
        </p:blipFill>
        <p:spPr bwMode="auto">
          <a:xfrm>
            <a:off x="838200" y="1488932"/>
            <a:ext cx="10515600" cy="238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6">
            <a:extLst>
              <a:ext uri="{FF2B5EF4-FFF2-40B4-BE49-F238E27FC236}">
                <a16:creationId xmlns:a16="http://schemas.microsoft.com/office/drawing/2014/main" id="{C026B160-3798-6BCD-E776-43F1D6B224B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4250686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8BBA-5DC8-5B4A-A8F3-9C0EB58F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A0A9395-7BA7-A3F6-DC26-D5BD5143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Prototypes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969FE2E-B66A-E9BE-160D-2D0D1F7C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3955C0-08E0-4226-D683-4046F2E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F936C0-3286-2986-556C-323230A1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15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F2EC033-9710-F02B-D639-31481DED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0"/>
          <a:stretch/>
        </p:blipFill>
        <p:spPr>
          <a:xfrm>
            <a:off x="6065838" y="1043978"/>
            <a:ext cx="5506720" cy="524458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EBD7DC6-95F6-31DF-426A-499D727D6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003" y="1005207"/>
            <a:ext cx="2097833" cy="5244582"/>
          </a:xfrm>
          <a:prstGeom prst="rect">
            <a:avLst/>
          </a:prstGeom>
        </p:spPr>
      </p:pic>
      <p:sp>
        <p:nvSpPr>
          <p:cNvPr id="15" name="Titre 6">
            <a:extLst>
              <a:ext uri="{FF2B5EF4-FFF2-40B4-BE49-F238E27FC236}">
                <a16:creationId xmlns:a16="http://schemas.microsoft.com/office/drawing/2014/main" id="{E8357A77-4F09-33E1-6F23-BEFB978801A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3865532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43C4-6325-479B-1303-9DD0B5BD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7105FAC-B2CD-D408-0191-390A8EAB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111F6F3-7452-99BB-FF28-0912016C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2805FE-82D5-4A37-8FE5-23271946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1FAD2-3C58-937E-C83F-11060295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16</a:t>
            </a:fld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0303172-5A12-466E-3E67-F29F5E47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60" y="1896785"/>
            <a:ext cx="9556755" cy="3822702"/>
          </a:xfrm>
          <a:prstGeom prst="rect">
            <a:avLst/>
          </a:prstGeom>
        </p:spPr>
      </p:pic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9FDE67DC-7295-F69F-6B8D-1E311C166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281782"/>
              </p:ext>
            </p:extLst>
          </p:nvPr>
        </p:nvGraphicFramePr>
        <p:xfrm>
          <a:off x="2105977" y="159198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25" name="ZoneTexte 24">
            <a:extLst>
              <a:ext uri="{FF2B5EF4-FFF2-40B4-BE49-F238E27FC236}">
                <a16:creationId xmlns:a16="http://schemas.microsoft.com/office/drawing/2014/main" id="{0ED5A11B-FDC8-64D8-0E57-EB779CF09319}"/>
              </a:ext>
            </a:extLst>
          </p:cNvPr>
          <p:cNvSpPr txBox="1"/>
          <p:nvPr/>
        </p:nvSpPr>
        <p:spPr>
          <a:xfrm>
            <a:off x="228600" y="158811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DE2E2A6-8D01-B3D7-2841-60665E3E80BF}"/>
              </a:ext>
            </a:extLst>
          </p:cNvPr>
          <p:cNvCxnSpPr>
            <a:cxnSpLocks/>
          </p:cNvCxnSpPr>
          <p:nvPr/>
        </p:nvCxnSpPr>
        <p:spPr>
          <a:xfrm>
            <a:off x="1503680" y="233807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191419B1-2259-1626-7731-C6B4BB758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1" y="1896785"/>
            <a:ext cx="955676" cy="3822702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AB4DA0EE-C235-5FE8-F3B5-B050183A932D}"/>
              </a:ext>
            </a:extLst>
          </p:cNvPr>
          <p:cNvCxnSpPr>
            <a:cxnSpLocks/>
          </p:cNvCxnSpPr>
          <p:nvPr/>
        </p:nvCxnSpPr>
        <p:spPr>
          <a:xfrm>
            <a:off x="1516382" y="327914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2BC00B80-0A66-3C4A-8B99-7BEA3E5FB6D1}"/>
              </a:ext>
            </a:extLst>
          </p:cNvPr>
          <p:cNvCxnSpPr>
            <a:cxnSpLocks/>
          </p:cNvCxnSpPr>
          <p:nvPr/>
        </p:nvCxnSpPr>
        <p:spPr>
          <a:xfrm>
            <a:off x="1503680" y="422021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CB9337A8-A62C-FB73-7A04-87A6E626DD8E}"/>
              </a:ext>
            </a:extLst>
          </p:cNvPr>
          <p:cNvCxnSpPr>
            <a:cxnSpLocks/>
          </p:cNvCxnSpPr>
          <p:nvPr/>
        </p:nvCxnSpPr>
        <p:spPr>
          <a:xfrm>
            <a:off x="1503680" y="513842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itre 6">
            <a:extLst>
              <a:ext uri="{FF2B5EF4-FFF2-40B4-BE49-F238E27FC236}">
                <a16:creationId xmlns:a16="http://schemas.microsoft.com/office/drawing/2014/main" id="{A9756E79-F805-00B9-C9AF-CAA548EA2B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167470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3367-A9E1-4A2C-CF07-C4685358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75E7584-8857-B898-AB55-C5C7D02D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Translation de chiffres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165EBA6-3796-D8F0-21A7-06CF0944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68455C-BC7D-5529-930A-997C83DE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C165D3-0C50-2F28-9BE7-0FDC7AE7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17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9E81D0E-8FD3-2CFB-85B8-DA07DC7578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"/>
          <a:stretch/>
        </p:blipFill>
        <p:spPr>
          <a:xfrm>
            <a:off x="6065838" y="983018"/>
            <a:ext cx="5506720" cy="528529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BC7DCC6-4F95-A36E-3EEC-76A1F7824544}"/>
              </a:ext>
            </a:extLst>
          </p:cNvPr>
          <p:cNvSpPr txBox="1"/>
          <p:nvPr/>
        </p:nvSpPr>
        <p:spPr>
          <a:xfrm>
            <a:off x="1044678" y="114644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74BF5FC-34BF-767D-7C82-64E075A92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97" y="1593671"/>
            <a:ext cx="4437839" cy="443783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29E2CE-05EC-B728-200E-29421CB98F95}"/>
              </a:ext>
            </a:extLst>
          </p:cNvPr>
          <p:cNvSpPr txBox="1"/>
          <p:nvPr/>
        </p:nvSpPr>
        <p:spPr>
          <a:xfrm>
            <a:off x="3689556" y="115135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8EC91774-3193-FCA4-EF21-1BC2CFA652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2762335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3026-3929-EB33-DD37-6913CAFF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6F92B5A3-8013-9F70-6BFE-29B7EDBC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6"/>
          <a:stretch/>
        </p:blipFill>
        <p:spPr>
          <a:xfrm>
            <a:off x="6066510" y="983409"/>
            <a:ext cx="5516208" cy="528529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8D7C43A-CB19-115C-59BB-DD58F63CFF1C}"/>
              </a:ext>
            </a:extLst>
          </p:cNvPr>
          <p:cNvSpPr txBox="1"/>
          <p:nvPr/>
        </p:nvSpPr>
        <p:spPr>
          <a:xfrm>
            <a:off x="3689556" y="115135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73384DB-AE4B-3664-A520-2AC13A6AD0EB}"/>
              </a:ext>
            </a:extLst>
          </p:cNvPr>
          <p:cNvSpPr txBox="1"/>
          <p:nvPr/>
        </p:nvSpPr>
        <p:spPr>
          <a:xfrm>
            <a:off x="1044678" y="114644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1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90AEA25-E3EA-CFF3-70A2-63DF7F35B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78" y="1593671"/>
            <a:ext cx="4422058" cy="4422058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C54878A-206F-74F1-3899-E1A113A8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Translation de chiffres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6096CD1-1DE0-80A5-CE0E-77682B72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943085-A3F2-8B06-B280-5089A689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48B5C0-E811-D1BD-AD6D-DA333F3C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18</a:t>
            </a:fld>
            <a:endParaRPr lang="fr-FR"/>
          </a:p>
        </p:txBody>
      </p:sp>
      <p:sp>
        <p:nvSpPr>
          <p:cNvPr id="15" name="Titre 6">
            <a:extLst>
              <a:ext uri="{FF2B5EF4-FFF2-40B4-BE49-F238E27FC236}">
                <a16:creationId xmlns:a16="http://schemas.microsoft.com/office/drawing/2014/main" id="{B3EFFC22-1E81-4BC7-7F63-12DA8018EA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3665680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4640-71EB-4AE9-F0A9-134E1FB6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7EE26B9-0D70-613F-D48A-B9FC1351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 de l’obscuration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3C81043-38DE-90DF-F981-84247384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ADB07B-A499-A680-66FB-ABF5B794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6FCBE0-6E78-ACD5-0773-C19A22E1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19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AE253B-F75E-5E28-750B-04047BED46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2"/>
          <a:stretch/>
        </p:blipFill>
        <p:spPr>
          <a:xfrm>
            <a:off x="1291171" y="1312702"/>
            <a:ext cx="6483000" cy="466407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7E1F2C2-FD9B-7829-5574-C994C6AA038D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86,77%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94,17%</a:t>
            </a:r>
          </a:p>
        </p:txBody>
      </p:sp>
      <p:sp>
        <p:nvSpPr>
          <p:cNvPr id="8" name="Titre 6">
            <a:extLst>
              <a:ext uri="{FF2B5EF4-FFF2-40B4-BE49-F238E27FC236}">
                <a16:creationId xmlns:a16="http://schemas.microsoft.com/office/drawing/2014/main" id="{51E3D2EC-7D52-7553-B80F-177AA34153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258994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E9A67-47CB-EDE8-5935-F7C43364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D66F4E8-F08B-7C99-F362-6F5ABB4C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Distribution de la certitude des prédictions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37E6D53-4BBB-68C3-6AE9-FD30604A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75A496-78CC-C972-7B17-5094479D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A371403-95F6-D683-3BA5-04CE32A9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20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A930BA-CDE7-FE64-B44E-6A3D7164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96"/>
          <a:stretch/>
        </p:blipFill>
        <p:spPr>
          <a:xfrm>
            <a:off x="1636303" y="1232772"/>
            <a:ext cx="8919394" cy="4882958"/>
          </a:xfrm>
          <a:prstGeom prst="rect">
            <a:avLst/>
          </a:prstGeom>
        </p:spPr>
      </p:pic>
      <p:sp>
        <p:nvSpPr>
          <p:cNvPr id="10" name="Titre 6">
            <a:extLst>
              <a:ext uri="{FF2B5EF4-FFF2-40B4-BE49-F238E27FC236}">
                <a16:creationId xmlns:a16="http://schemas.microsoft.com/office/drawing/2014/main" id="{0C76FF62-3E6C-11C5-AA5C-4F0DE28F06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3892062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D751-2B57-3DF1-E451-930EE53E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335CEEB-0FA2-A84F-BD12-B53B6801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3996FA1-5893-41D7-A129-55A3B4AD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C5EDAA-031F-96F9-9938-CE531BC6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6AEB51-B4B7-EBA6-4CCC-FF1C49BB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B9016B7-303E-8C6B-3CE6-77CE8746EC42}"/>
              </a:ext>
            </a:extLst>
          </p:cNvPr>
          <p:cNvSpPr txBox="1"/>
          <p:nvPr/>
        </p:nvSpPr>
        <p:spPr>
          <a:xfrm>
            <a:off x="250807" y="140523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667E065-8E4E-1536-5FEF-80418CCB092E}"/>
              </a:ext>
            </a:extLst>
          </p:cNvPr>
          <p:cNvCxnSpPr>
            <a:cxnSpLocks/>
          </p:cNvCxnSpPr>
          <p:nvPr/>
        </p:nvCxnSpPr>
        <p:spPr>
          <a:xfrm>
            <a:off x="1525887" y="2155190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90750EA-CCD1-CAD8-4DD9-D8983382E3F2}"/>
              </a:ext>
            </a:extLst>
          </p:cNvPr>
          <p:cNvCxnSpPr>
            <a:cxnSpLocks/>
          </p:cNvCxnSpPr>
          <p:nvPr/>
        </p:nvCxnSpPr>
        <p:spPr>
          <a:xfrm>
            <a:off x="1525887" y="4318188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2F17560D-576B-176A-2996-77407255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57" y="1712809"/>
            <a:ext cx="1035982" cy="103598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C4DF09F-C03D-386B-5740-05F07F1E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57" y="3894013"/>
            <a:ext cx="1035982" cy="103598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EAEBD3F-764A-9E1E-46E8-9C51C0171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967" y="1712809"/>
            <a:ext cx="9527537" cy="190550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C46268C-59FB-DF70-F828-8BAA180D8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967" y="3894013"/>
            <a:ext cx="9527536" cy="1905507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1110049-3B6C-BA4E-EA01-4FD2DB0DD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080100"/>
              </p:ext>
            </p:extLst>
          </p:nvPr>
        </p:nvGraphicFramePr>
        <p:xfrm>
          <a:off x="2128184" y="1409105"/>
          <a:ext cx="949832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832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49832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5" name="Titre 6">
            <a:extLst>
              <a:ext uri="{FF2B5EF4-FFF2-40B4-BE49-F238E27FC236}">
                <a16:creationId xmlns:a16="http://schemas.microsoft.com/office/drawing/2014/main" id="{0D48BE24-9D7D-F960-8F1A-34DC96CEAE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2230300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CCBF-360F-C24D-3583-E6AFCA31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53C4272-79E9-6D98-E7A1-EE828D64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1"/>
          <a:stretch/>
        </p:blipFill>
        <p:spPr>
          <a:xfrm>
            <a:off x="1291171" y="1312701"/>
            <a:ext cx="6483000" cy="4664076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ABF1683F-7E21-4431-F432-862D11F9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 de la </a:t>
            </a:r>
            <a:r>
              <a:rPr lang="fr-FR" dirty="0" err="1"/>
              <a:t>désobscuration</a:t>
            </a: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F27ECAF1-1D76-56FA-42F7-A625537F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814F94-FC46-C2D6-E374-A9063139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8243DB-5CCB-B677-8FB5-9EFD56A1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22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A6863F-E262-DFF7-A3BE-24395A2B2FF9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96,41%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97,54%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A186D016-0328-AC7E-0C46-E4A8376B55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Obscuration de chiffres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1803434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3478F-9562-85AA-49C3-5F30BA6B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5E202B-2CB6-337B-6696-FC3F5A05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1CCF1D63-E241-057D-32B4-329088093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F0245B8-6B87-51FA-9873-7D2FF99B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8F8019-569A-F1D1-202E-9F155E55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B04FFF-3C55-D7A8-55D7-61C5F085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23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2EE01DC1-2404-B7FD-9FB4-9A01EE5556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179303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85BF-7A11-7CC9-D774-4E2A7D09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B778238-3808-E1FC-4A63-D9582E11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 l’obscuration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D3802B52-8066-F30F-868B-7BD097F4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590F835-8E43-292E-BF27-8B3C92D0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BD3B5B-FC5A-CB42-5966-756E3784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24</a:t>
            </a:fld>
            <a:endParaRPr lang="fr-FR"/>
          </a:p>
        </p:txBody>
      </p:sp>
      <p:pic>
        <p:nvPicPr>
          <p:cNvPr id="21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3AC4C495-98AE-F7FB-3C6F-A2F225F36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010321"/>
            <a:ext cx="3111201" cy="1817779"/>
          </a:xfrm>
        </p:spPr>
      </p:pic>
      <p:pic>
        <p:nvPicPr>
          <p:cNvPr id="22" name="Image 21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E0F49821-835B-D4FD-13FB-32349EF24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010319"/>
            <a:ext cx="3111201" cy="181778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E61EE26-7B42-F8C9-620F-7029CCD152D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589485" y="2919209"/>
            <a:ext cx="1092233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rganigramme : Opération manuelle 25">
            <a:extLst>
              <a:ext uri="{FF2B5EF4-FFF2-40B4-BE49-F238E27FC236}">
                <a16:creationId xmlns:a16="http://schemas.microsoft.com/office/drawing/2014/main" id="{066EB7FD-67DF-56CA-85C1-27450F61FD68}"/>
              </a:ext>
            </a:extLst>
          </p:cNvPr>
          <p:cNvSpPr/>
          <p:nvPr/>
        </p:nvSpPr>
        <p:spPr>
          <a:xfrm>
            <a:off x="2478283" y="4094185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7" name="Organigramme : Opération manuelle 26">
            <a:extLst>
              <a:ext uri="{FF2B5EF4-FFF2-40B4-BE49-F238E27FC236}">
                <a16:creationId xmlns:a16="http://schemas.microsoft.com/office/drawing/2014/main" id="{72604A48-9E20-9D33-5908-0D4337625F7D}"/>
              </a:ext>
            </a:extLst>
          </p:cNvPr>
          <p:cNvSpPr/>
          <p:nvPr/>
        </p:nvSpPr>
        <p:spPr>
          <a:xfrm>
            <a:off x="6681718" y="4094185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00A1DB7-90FC-570B-1ABF-27440C68E160}"/>
              </a:ext>
            </a:extLst>
          </p:cNvPr>
          <p:cNvSpPr txBox="1"/>
          <p:nvPr/>
        </p:nvSpPr>
        <p:spPr>
          <a:xfrm>
            <a:off x="2651253" y="4720143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C00000"/>
                </a:solidFill>
              </a:rPr>
              <a:t>N	N	N</a:t>
            </a:r>
            <a:endParaRPr lang="fr-FR" sz="3600" u="sng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C7C49D6-2492-23F1-507B-64CFCBFFE315}"/>
              </a:ext>
            </a:extLst>
          </p:cNvPr>
          <p:cNvSpPr txBox="1"/>
          <p:nvPr/>
        </p:nvSpPr>
        <p:spPr>
          <a:xfrm>
            <a:off x="6854688" y="4720143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accent3">
                    <a:lumMod val="75000"/>
                  </a:schemeClr>
                </a:solidFill>
              </a:rPr>
              <a:t>P	P	P</a:t>
            </a:r>
            <a:endParaRPr lang="fr-FR" sz="3600" u="sng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B22A580-B331-4A3E-1B76-0E74BFC3C5B7}"/>
              </a:ext>
            </a:extLst>
          </p:cNvPr>
          <p:cNvSpPr txBox="1"/>
          <p:nvPr/>
        </p:nvSpPr>
        <p:spPr>
          <a:xfrm>
            <a:off x="3048000" y="1312702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4FAD8EA-CC44-ABC5-73FD-AB1503EB101E}"/>
              </a:ext>
            </a:extLst>
          </p:cNvPr>
          <p:cNvSpPr txBox="1"/>
          <p:nvPr/>
        </p:nvSpPr>
        <p:spPr>
          <a:xfrm>
            <a:off x="5189317" y="5366474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Falsifiés</a:t>
            </a:r>
            <a:endParaRPr lang="fr-FR" sz="3200" baseline="-25000" dirty="0">
              <a:solidFill>
                <a:schemeClr val="accent3">
                  <a:lumMod val="60000"/>
                  <a:lumOff val="40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D7D0E60-7F79-A17F-5F39-04BCA2BC05FC}"/>
              </a:ext>
            </a:extLst>
          </p:cNvPr>
          <p:cNvSpPr txBox="1"/>
          <p:nvPr/>
        </p:nvSpPr>
        <p:spPr>
          <a:xfrm>
            <a:off x="985882" y="5366473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rgbClr val="FF6565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Originaux</a:t>
            </a:r>
            <a:endParaRPr lang="fr-FR" sz="3200" baseline="-25000" dirty="0">
              <a:solidFill>
                <a:srgbClr val="FF6565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CA07E759-D059-966A-3C81-D8A1FA3F83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978599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9826-D9F5-9F95-39E3-2B8100AA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47AD1F7-5371-93AB-4136-2577B76C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Entraînement du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6BC0B2DF-0F17-4D67-7E21-43A20064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5EF65C-94C6-6137-B5C1-86AAE1E1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FA5AD1-1FDE-34DA-F964-8D35A455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25</a:t>
            </a:fld>
            <a:endParaRPr lang="fr-FR"/>
          </a:p>
        </p:txBody>
      </p:sp>
      <p:pic>
        <p:nvPicPr>
          <p:cNvPr id="125" name="Image 124">
            <a:extLst>
              <a:ext uri="{FF2B5EF4-FFF2-40B4-BE49-F238E27FC236}">
                <a16:creationId xmlns:a16="http://schemas.microsoft.com/office/drawing/2014/main" id="{37CF9DB3-D916-4537-2FC0-0F3DA5B2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1"/>
          <a:stretch/>
        </p:blipFill>
        <p:spPr>
          <a:xfrm>
            <a:off x="1797091" y="2861962"/>
            <a:ext cx="8597818" cy="828889"/>
          </a:xfrm>
          <a:prstGeom prst="rect">
            <a:avLst/>
          </a:prstGeom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88D28AF5-F761-5FAA-5065-B3CFF585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5677925" y="1464147"/>
            <a:ext cx="836149" cy="830997"/>
          </a:xfrm>
          <a:prstGeom prst="rect">
            <a:avLst/>
          </a:prstGeom>
        </p:spPr>
      </p:pic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E92572FB-1F9C-D599-1E82-E978B6D987E5}"/>
              </a:ext>
            </a:extLst>
          </p:cNvPr>
          <p:cNvCxnSpPr>
            <a:stCxn id="126" idx="2"/>
          </p:cNvCxnSpPr>
          <p:nvPr/>
        </p:nvCxnSpPr>
        <p:spPr>
          <a:xfrm flipH="1">
            <a:off x="2233914" y="2295144"/>
            <a:ext cx="3862086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93FF040B-44C5-CF2A-7CCB-5CF624541D4A}"/>
              </a:ext>
            </a:extLst>
          </p:cNvPr>
          <p:cNvCxnSpPr>
            <a:cxnSpLocks/>
          </p:cNvCxnSpPr>
          <p:nvPr/>
        </p:nvCxnSpPr>
        <p:spPr>
          <a:xfrm flipH="1">
            <a:off x="3136739" y="2295144"/>
            <a:ext cx="295926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0A93FA94-2E68-5D58-5619-60DBB19C5AC5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3946967" y="2295144"/>
            <a:ext cx="2149033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6090B6B4-F596-74A7-940A-288103A40634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4803494" y="2295144"/>
            <a:ext cx="1292506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A751A41B-1568-2870-2339-D3776E6EA413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5677925" y="2295144"/>
            <a:ext cx="418075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CC226554-2442-AF7C-30D1-597B00F65249}"/>
              </a:ext>
            </a:extLst>
          </p:cNvPr>
          <p:cNvCxnSpPr>
            <a:cxnSpLocks/>
            <a:stCxn id="126" idx="2"/>
          </p:cNvCxnSpPr>
          <p:nvPr/>
        </p:nvCxnSpPr>
        <p:spPr>
          <a:xfrm>
            <a:off x="6096000" y="2295144"/>
            <a:ext cx="436823" cy="554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6D97163B-C1C4-398B-93C0-00E9A30DFC5C}"/>
              </a:ext>
            </a:extLst>
          </p:cNvPr>
          <p:cNvCxnSpPr>
            <a:cxnSpLocks/>
          </p:cNvCxnSpPr>
          <p:nvPr/>
        </p:nvCxnSpPr>
        <p:spPr>
          <a:xfrm>
            <a:off x="6096000" y="2295144"/>
            <a:ext cx="1292505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>
            <a:extLst>
              <a:ext uri="{FF2B5EF4-FFF2-40B4-BE49-F238E27FC236}">
                <a16:creationId xmlns:a16="http://schemas.microsoft.com/office/drawing/2014/main" id="{F408614C-5C30-9363-BC36-7E19DA9D37A0}"/>
              </a:ext>
            </a:extLst>
          </p:cNvPr>
          <p:cNvCxnSpPr>
            <a:cxnSpLocks/>
          </p:cNvCxnSpPr>
          <p:nvPr/>
        </p:nvCxnSpPr>
        <p:spPr>
          <a:xfrm>
            <a:off x="6073001" y="2295144"/>
            <a:ext cx="217203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545FA18B-BD0B-0343-4751-F5F9EF34242B}"/>
              </a:ext>
            </a:extLst>
          </p:cNvPr>
          <p:cNvCxnSpPr>
            <a:cxnSpLocks/>
          </p:cNvCxnSpPr>
          <p:nvPr/>
        </p:nvCxnSpPr>
        <p:spPr>
          <a:xfrm>
            <a:off x="6061924" y="2295144"/>
            <a:ext cx="299333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24FB5134-233E-5551-6429-60F08565F1BE}"/>
              </a:ext>
            </a:extLst>
          </p:cNvPr>
          <p:cNvCxnSpPr>
            <a:cxnSpLocks/>
          </p:cNvCxnSpPr>
          <p:nvPr/>
        </p:nvCxnSpPr>
        <p:spPr>
          <a:xfrm>
            <a:off x="6073001" y="2295144"/>
            <a:ext cx="3885084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958F131-6BC0-2621-D104-18C8C70D9D4F}"/>
              </a:ext>
            </a:extLst>
          </p:cNvPr>
          <p:cNvSpPr txBox="1"/>
          <p:nvPr/>
        </p:nvSpPr>
        <p:spPr>
          <a:xfrm>
            <a:off x="1655180" y="364112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2BFE354-3AB9-719F-AF6F-B83EDD3D7D0D}"/>
              </a:ext>
            </a:extLst>
          </p:cNvPr>
          <p:cNvSpPr txBox="1"/>
          <p:nvPr/>
        </p:nvSpPr>
        <p:spPr>
          <a:xfrm>
            <a:off x="2472160" y="364112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EF91BC1-AF0F-FF09-A60D-406C8DBE6C73}"/>
              </a:ext>
            </a:extLst>
          </p:cNvPr>
          <p:cNvSpPr txBox="1"/>
          <p:nvPr/>
        </p:nvSpPr>
        <p:spPr>
          <a:xfrm>
            <a:off x="3368233" y="363141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3B8BED73-75A0-1A09-E1AB-B58ABAD1E91C}"/>
              </a:ext>
            </a:extLst>
          </p:cNvPr>
          <p:cNvSpPr txBox="1"/>
          <p:nvPr/>
        </p:nvSpPr>
        <p:spPr>
          <a:xfrm>
            <a:off x="4233319" y="364112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415D7CBF-91F4-0D15-C9F3-E2D0AB2B8B9D}"/>
              </a:ext>
            </a:extLst>
          </p:cNvPr>
          <p:cNvSpPr txBox="1"/>
          <p:nvPr/>
        </p:nvSpPr>
        <p:spPr>
          <a:xfrm>
            <a:off x="5150613" y="363141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6CBEAA10-F325-203A-7CDF-A197B2A7182F}"/>
              </a:ext>
            </a:extLst>
          </p:cNvPr>
          <p:cNvSpPr txBox="1"/>
          <p:nvPr/>
        </p:nvSpPr>
        <p:spPr>
          <a:xfrm>
            <a:off x="5990259" y="3644857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4AA168EB-5D07-34F6-2D97-CD1A4A2B505C}"/>
              </a:ext>
            </a:extLst>
          </p:cNvPr>
          <p:cNvSpPr txBox="1"/>
          <p:nvPr/>
        </p:nvSpPr>
        <p:spPr>
          <a:xfrm>
            <a:off x="6858075" y="363701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E9FD68B8-D0D0-204C-03AC-35EF065172B9}"/>
              </a:ext>
            </a:extLst>
          </p:cNvPr>
          <p:cNvSpPr txBox="1"/>
          <p:nvPr/>
        </p:nvSpPr>
        <p:spPr>
          <a:xfrm>
            <a:off x="7697721" y="364485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5642E75A-D834-3146-6F77-2CC5CA036453}"/>
              </a:ext>
            </a:extLst>
          </p:cNvPr>
          <p:cNvSpPr txBox="1"/>
          <p:nvPr/>
        </p:nvSpPr>
        <p:spPr>
          <a:xfrm>
            <a:off x="8562372" y="3635150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88187D93-B866-C08D-8986-D014AFA88671}"/>
              </a:ext>
            </a:extLst>
          </p:cNvPr>
          <p:cNvSpPr txBox="1"/>
          <p:nvPr/>
        </p:nvSpPr>
        <p:spPr>
          <a:xfrm>
            <a:off x="9409326" y="362170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55DECE19-3C11-1917-0888-B71DA4AC8A60}"/>
              </a:ext>
            </a:extLst>
          </p:cNvPr>
          <p:cNvSpPr txBox="1"/>
          <p:nvPr/>
        </p:nvSpPr>
        <p:spPr>
          <a:xfrm>
            <a:off x="186641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785A463F-64BE-F64D-ED14-4F131BF6DCB0}"/>
              </a:ext>
            </a:extLst>
          </p:cNvPr>
          <p:cNvSpPr txBox="1"/>
          <p:nvPr/>
        </p:nvSpPr>
        <p:spPr>
          <a:xfrm>
            <a:off x="268339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BCB21C0C-0930-FE46-A4F8-37D4300BBDE7}"/>
              </a:ext>
            </a:extLst>
          </p:cNvPr>
          <p:cNvSpPr txBox="1"/>
          <p:nvPr/>
        </p:nvSpPr>
        <p:spPr>
          <a:xfrm>
            <a:off x="357947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0A42AB4A-FDBF-D4C7-65B0-D065CA2D88D5}"/>
              </a:ext>
            </a:extLst>
          </p:cNvPr>
          <p:cNvSpPr txBox="1"/>
          <p:nvPr/>
        </p:nvSpPr>
        <p:spPr>
          <a:xfrm>
            <a:off x="443599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2E2D5B14-C38F-C054-4837-4CF6B6D5B1DF}"/>
              </a:ext>
            </a:extLst>
          </p:cNvPr>
          <p:cNvSpPr txBox="1"/>
          <p:nvPr/>
        </p:nvSpPr>
        <p:spPr>
          <a:xfrm>
            <a:off x="5307957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E8689398-E1BC-92FA-2294-45D23E91C03F}"/>
              </a:ext>
            </a:extLst>
          </p:cNvPr>
          <p:cNvSpPr txBox="1"/>
          <p:nvPr/>
        </p:nvSpPr>
        <p:spPr>
          <a:xfrm>
            <a:off x="6165326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0D5A505C-5556-6316-F665-C752E28F3445}"/>
              </a:ext>
            </a:extLst>
          </p:cNvPr>
          <p:cNvSpPr txBox="1"/>
          <p:nvPr/>
        </p:nvSpPr>
        <p:spPr>
          <a:xfrm>
            <a:off x="7021008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1271FBE0-19CF-3458-27A9-2A92D653621F}"/>
              </a:ext>
            </a:extLst>
          </p:cNvPr>
          <p:cNvSpPr txBox="1"/>
          <p:nvPr/>
        </p:nvSpPr>
        <p:spPr>
          <a:xfrm>
            <a:off x="787669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5E7AFE0A-4D6F-1EFA-171A-7FDA5ADF9610}"/>
              </a:ext>
            </a:extLst>
          </p:cNvPr>
          <p:cNvSpPr txBox="1"/>
          <p:nvPr/>
        </p:nvSpPr>
        <p:spPr>
          <a:xfrm>
            <a:off x="8773610" y="5507432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7880A00B-27A8-E3BF-4008-A617333123A3}"/>
              </a:ext>
            </a:extLst>
          </p:cNvPr>
          <p:cNvSpPr txBox="1"/>
          <p:nvPr/>
        </p:nvSpPr>
        <p:spPr>
          <a:xfrm>
            <a:off x="9610120" y="5508115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endParaRPr lang="fr-FR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57" name="Connecteur droit avec flèche 156">
            <a:extLst>
              <a:ext uri="{FF2B5EF4-FFF2-40B4-BE49-F238E27FC236}">
                <a16:creationId xmlns:a16="http://schemas.microsoft.com/office/drawing/2014/main" id="{E4996236-BBDE-897B-6B66-740742D3FBCF}"/>
              </a:ext>
            </a:extLst>
          </p:cNvPr>
          <p:cNvCxnSpPr>
            <a:stCxn id="137" idx="2"/>
            <a:endCxn id="147" idx="0"/>
          </p:cNvCxnSpPr>
          <p:nvPr/>
        </p:nvCxnSpPr>
        <p:spPr>
          <a:xfrm>
            <a:off x="2233914" y="4010454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7">
            <a:extLst>
              <a:ext uri="{FF2B5EF4-FFF2-40B4-BE49-F238E27FC236}">
                <a16:creationId xmlns:a16="http://schemas.microsoft.com/office/drawing/2014/main" id="{1E7D5C1F-2B09-2103-B9E7-61DC67823C2C}"/>
              </a:ext>
            </a:extLst>
          </p:cNvPr>
          <p:cNvCxnSpPr/>
          <p:nvPr/>
        </p:nvCxnSpPr>
        <p:spPr>
          <a:xfrm>
            <a:off x="3034497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avec flèche 158">
            <a:extLst>
              <a:ext uri="{FF2B5EF4-FFF2-40B4-BE49-F238E27FC236}">
                <a16:creationId xmlns:a16="http://schemas.microsoft.com/office/drawing/2014/main" id="{A9D9DEA4-C8AD-FBDA-B28B-F20B3957E1AB}"/>
              </a:ext>
            </a:extLst>
          </p:cNvPr>
          <p:cNvCxnSpPr/>
          <p:nvPr/>
        </p:nvCxnSpPr>
        <p:spPr>
          <a:xfrm>
            <a:off x="3946967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avec flèche 159">
            <a:extLst>
              <a:ext uri="{FF2B5EF4-FFF2-40B4-BE49-F238E27FC236}">
                <a16:creationId xmlns:a16="http://schemas.microsoft.com/office/drawing/2014/main" id="{85AF8175-6110-D578-3D38-3AA3538BAE82}"/>
              </a:ext>
            </a:extLst>
          </p:cNvPr>
          <p:cNvCxnSpPr/>
          <p:nvPr/>
        </p:nvCxnSpPr>
        <p:spPr>
          <a:xfrm>
            <a:off x="4803494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158A5920-5C31-DDB8-FE7F-6C4F1E26045F}"/>
              </a:ext>
            </a:extLst>
          </p:cNvPr>
          <p:cNvCxnSpPr/>
          <p:nvPr/>
        </p:nvCxnSpPr>
        <p:spPr>
          <a:xfrm>
            <a:off x="5677925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AD91A913-F7C8-75BF-459E-2D49923A7FC3}"/>
              </a:ext>
            </a:extLst>
          </p:cNvPr>
          <p:cNvCxnSpPr/>
          <p:nvPr/>
        </p:nvCxnSpPr>
        <p:spPr>
          <a:xfrm>
            <a:off x="6532823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avec flèche 162">
            <a:extLst>
              <a:ext uri="{FF2B5EF4-FFF2-40B4-BE49-F238E27FC236}">
                <a16:creationId xmlns:a16="http://schemas.microsoft.com/office/drawing/2014/main" id="{4FEA1C44-4C27-98EA-08B5-F4A1BF02680E}"/>
              </a:ext>
            </a:extLst>
          </p:cNvPr>
          <p:cNvCxnSpPr/>
          <p:nvPr/>
        </p:nvCxnSpPr>
        <p:spPr>
          <a:xfrm>
            <a:off x="7388505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avec flèche 163">
            <a:extLst>
              <a:ext uri="{FF2B5EF4-FFF2-40B4-BE49-F238E27FC236}">
                <a16:creationId xmlns:a16="http://schemas.microsoft.com/office/drawing/2014/main" id="{5C19509A-9FD0-B037-03D7-3429DAFF6BE2}"/>
              </a:ext>
            </a:extLst>
          </p:cNvPr>
          <p:cNvCxnSpPr/>
          <p:nvPr/>
        </p:nvCxnSpPr>
        <p:spPr>
          <a:xfrm>
            <a:off x="8245032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DAE2B2BD-54BB-5CE7-1673-9D4BCCF2EC01}"/>
              </a:ext>
            </a:extLst>
          </p:cNvPr>
          <p:cNvCxnSpPr/>
          <p:nvPr/>
        </p:nvCxnSpPr>
        <p:spPr>
          <a:xfrm>
            <a:off x="9138211" y="402163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avec flèche 165">
            <a:extLst>
              <a:ext uri="{FF2B5EF4-FFF2-40B4-BE49-F238E27FC236}">
                <a16:creationId xmlns:a16="http://schemas.microsoft.com/office/drawing/2014/main" id="{7C356500-66F6-A576-B5DF-AE47F493771A}"/>
              </a:ext>
            </a:extLst>
          </p:cNvPr>
          <p:cNvCxnSpPr/>
          <p:nvPr/>
        </p:nvCxnSpPr>
        <p:spPr>
          <a:xfrm>
            <a:off x="9977374" y="399104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rganigramme : Opération manuelle 166">
            <a:extLst>
              <a:ext uri="{FF2B5EF4-FFF2-40B4-BE49-F238E27FC236}">
                <a16:creationId xmlns:a16="http://schemas.microsoft.com/office/drawing/2014/main" id="{2617A85A-5AD3-1E69-DAA3-8B131D19B687}"/>
              </a:ext>
            </a:extLst>
          </p:cNvPr>
          <p:cNvSpPr/>
          <p:nvPr/>
        </p:nvSpPr>
        <p:spPr>
          <a:xfrm>
            <a:off x="1866417" y="4361490"/>
            <a:ext cx="852849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pic>
        <p:nvPicPr>
          <p:cNvPr id="168" name="Image 167">
            <a:extLst>
              <a:ext uri="{FF2B5EF4-FFF2-40B4-BE49-F238E27FC236}">
                <a16:creationId xmlns:a16="http://schemas.microsoft.com/office/drawing/2014/main" id="{26FC06A5-7F96-106A-A68A-0EBD8834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1562" r="7" b="-1"/>
          <a:stretch/>
        </p:blipFill>
        <p:spPr>
          <a:xfrm>
            <a:off x="7337926" y="1464146"/>
            <a:ext cx="836149" cy="830997"/>
          </a:xfrm>
          <a:prstGeom prst="rect">
            <a:avLst/>
          </a:prstGeom>
        </p:spPr>
      </p:pic>
      <p:sp>
        <p:nvSpPr>
          <p:cNvPr id="169" name="ZoneTexte 168">
            <a:extLst>
              <a:ext uri="{FF2B5EF4-FFF2-40B4-BE49-F238E27FC236}">
                <a16:creationId xmlns:a16="http://schemas.microsoft.com/office/drawing/2014/main" id="{BA261EF8-BAB0-2541-5EAE-7E00AF5B402A}"/>
              </a:ext>
            </a:extLst>
          </p:cNvPr>
          <p:cNvSpPr txBox="1"/>
          <p:nvPr/>
        </p:nvSpPr>
        <p:spPr>
          <a:xfrm>
            <a:off x="6386418" y="131405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74" name="Titre 6">
            <a:extLst>
              <a:ext uri="{FF2B5EF4-FFF2-40B4-BE49-F238E27FC236}">
                <a16:creationId xmlns:a16="http://schemas.microsoft.com/office/drawing/2014/main" id="{66D13F1D-B094-F941-E37D-F72B22BDAD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1336961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798D-831C-341D-0441-8D0D5C02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CE62B88-67B7-05B9-54AC-4DF7AA8C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18EAA7D-A170-07E4-EE5B-1457A425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C3AA34-D024-63BA-C2E3-34435FDE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47B545-5E22-1C04-5AD6-34C7CE03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26</a:t>
            </a:fld>
            <a:endParaRPr lang="fr-FR"/>
          </a:p>
        </p:txBody>
      </p:sp>
      <p:pic>
        <p:nvPicPr>
          <p:cNvPr id="21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23C0996-E597-D77B-8EBE-B98EFBAB7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183419"/>
            <a:ext cx="3111201" cy="1817779"/>
          </a:xfrm>
        </p:spPr>
      </p:pic>
      <p:pic>
        <p:nvPicPr>
          <p:cNvPr id="22" name="Image 21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8581CF22-1758-00EE-7128-FDF115DD1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183417"/>
            <a:ext cx="3111201" cy="1817780"/>
          </a:xfrm>
          <a:prstGeom prst="rect">
            <a:avLst/>
          </a:prstGeom>
        </p:spPr>
      </p:pic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A62AD1FF-039E-E104-2818-FC43FEEFEC4B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589485" y="3092307"/>
            <a:ext cx="1092233" cy="2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rganigramme : Opération manuelle 25">
            <a:extLst>
              <a:ext uri="{FF2B5EF4-FFF2-40B4-BE49-F238E27FC236}">
                <a16:creationId xmlns:a16="http://schemas.microsoft.com/office/drawing/2014/main" id="{825B76F3-D2B1-3B93-CF3E-3AB0CF963A61}"/>
              </a:ext>
            </a:extLst>
          </p:cNvPr>
          <p:cNvSpPr/>
          <p:nvPr/>
        </p:nvSpPr>
        <p:spPr>
          <a:xfrm>
            <a:off x="2478283" y="4267283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7" name="Organigramme : Opération manuelle 26">
            <a:extLst>
              <a:ext uri="{FF2B5EF4-FFF2-40B4-BE49-F238E27FC236}">
                <a16:creationId xmlns:a16="http://schemas.microsoft.com/office/drawing/2014/main" id="{F9B1E542-8A64-19D2-2891-B2A4B37D7577}"/>
              </a:ext>
            </a:extLst>
          </p:cNvPr>
          <p:cNvSpPr/>
          <p:nvPr/>
        </p:nvSpPr>
        <p:spPr>
          <a:xfrm>
            <a:off x="6681718" y="4267283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3F6CC64-C934-0F8A-21BA-0935F3BD74EB}"/>
              </a:ext>
            </a:extLst>
          </p:cNvPr>
          <p:cNvSpPr txBox="1"/>
          <p:nvPr/>
        </p:nvSpPr>
        <p:spPr>
          <a:xfrm>
            <a:off x="2651253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03E2F5F-E2BE-1590-5E17-EC7D500A4766}"/>
              </a:ext>
            </a:extLst>
          </p:cNvPr>
          <p:cNvSpPr txBox="1"/>
          <p:nvPr/>
        </p:nvSpPr>
        <p:spPr>
          <a:xfrm>
            <a:off x="6854688" y="4893241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5DABCB6-FFE9-CBF5-1DDF-C6A74BC271AD}"/>
              </a:ext>
            </a:extLst>
          </p:cNvPr>
          <p:cNvSpPr txBox="1"/>
          <p:nvPr/>
        </p:nvSpPr>
        <p:spPr>
          <a:xfrm>
            <a:off x="3048000" y="1485800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Obscuration</a:t>
            </a:r>
            <a:endParaRPr lang="fr-FR" sz="3200" b="1" baseline="-25000" dirty="0">
              <a:solidFill>
                <a:schemeClr val="accent4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re 6">
            <a:extLst>
              <a:ext uri="{FF2B5EF4-FFF2-40B4-BE49-F238E27FC236}">
                <a16:creationId xmlns:a16="http://schemas.microsoft.com/office/drawing/2014/main" id="{C1E33775-AF95-6852-61AF-77D99EDB9A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756427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A0EB-FA74-1C22-808F-D4854CF9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5590F7A-3D47-B15C-03D6-BE9DE5B7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Entraînement du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BA99835-BE20-A316-CBA6-AA5183B0E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BE0795-0787-ED7E-62BB-A37B6804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FF871B-29D9-AF14-0BA6-921C7C72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27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D877EDA-EDCA-C043-F13E-B9F64661E9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r="90275" b="-1"/>
          <a:stretch/>
        </p:blipFill>
        <p:spPr>
          <a:xfrm>
            <a:off x="4728801" y="1473828"/>
            <a:ext cx="836149" cy="8213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33EB2A6-CA6B-D2F0-AD42-F377BEFA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6388802" y="1473827"/>
            <a:ext cx="836149" cy="8213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0105F46-3181-CDAA-5BCC-11EDD00C2C60}"/>
              </a:ext>
            </a:extLst>
          </p:cNvPr>
          <p:cNvSpPr txBox="1"/>
          <p:nvPr/>
        </p:nvSpPr>
        <p:spPr>
          <a:xfrm>
            <a:off x="5437294" y="131405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A5A62E9-00B6-5FF9-E07B-3294A1CD3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2232651" y="3065543"/>
            <a:ext cx="836149" cy="83099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1676157-F8C3-1459-6F75-E7C77BC8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3892652" y="3075224"/>
            <a:ext cx="836149" cy="82131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8FE7763-1BE2-5161-0915-54F9F9A53C46}"/>
              </a:ext>
            </a:extLst>
          </p:cNvPr>
          <p:cNvSpPr txBox="1"/>
          <p:nvPr/>
        </p:nvSpPr>
        <p:spPr>
          <a:xfrm>
            <a:off x="2941144" y="2915448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8310B3-98F6-2EAA-A8AE-005ACA96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1" r="90275"/>
          <a:stretch/>
        </p:blipFill>
        <p:spPr>
          <a:xfrm>
            <a:off x="7224951" y="3065543"/>
            <a:ext cx="836149" cy="8309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F16B6C4-A885-D9EF-D615-3DC0E0CA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t="2709" r="7" b="-2"/>
          <a:stretch/>
        </p:blipFill>
        <p:spPr>
          <a:xfrm>
            <a:off x="8884952" y="3075224"/>
            <a:ext cx="836149" cy="82131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02D88CC4-3E25-702C-D41C-B1E0236D2C86}"/>
              </a:ext>
            </a:extLst>
          </p:cNvPr>
          <p:cNvSpPr txBox="1"/>
          <p:nvPr/>
        </p:nvSpPr>
        <p:spPr>
          <a:xfrm>
            <a:off x="7933444" y="2915447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3C04FCD-7D53-7D51-BDD1-D7C0A661C750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 flipH="1">
            <a:off x="2650726" y="2295144"/>
            <a:ext cx="2496150" cy="770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1EDA230-BC51-336C-0B12-BF2001EDD0E2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4310727" y="2295144"/>
            <a:ext cx="836149" cy="78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8F52913-3AAC-F6B6-2102-21A0B59E0A7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6819173" y="2281965"/>
            <a:ext cx="823853" cy="783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9E056EA-9315-3842-92E5-B84AC114767E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6806877" y="2295143"/>
            <a:ext cx="2496150" cy="780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rganigramme : Opération manuelle 19">
            <a:extLst>
              <a:ext uri="{FF2B5EF4-FFF2-40B4-BE49-F238E27FC236}">
                <a16:creationId xmlns:a16="http://schemas.microsoft.com/office/drawing/2014/main" id="{60515131-9000-C91F-47CA-09439310AB7E}"/>
              </a:ext>
            </a:extLst>
          </p:cNvPr>
          <p:cNvSpPr/>
          <p:nvPr/>
        </p:nvSpPr>
        <p:spPr>
          <a:xfrm>
            <a:off x="2232650" y="4471205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29F236CB-7CEC-4BAE-7541-9E03B6E16253}"/>
              </a:ext>
            </a:extLst>
          </p:cNvPr>
          <p:cNvSpPr/>
          <p:nvPr/>
        </p:nvSpPr>
        <p:spPr>
          <a:xfrm>
            <a:off x="7241978" y="4471205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4E91062-BC1A-6992-F782-C88837D58136}"/>
              </a:ext>
            </a:extLst>
          </p:cNvPr>
          <p:cNvSpPr txBox="1"/>
          <p:nvPr/>
        </p:nvSpPr>
        <p:spPr>
          <a:xfrm>
            <a:off x="2283228" y="535796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0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3B4BFC8-FD70-27EF-789D-EAF09DCE1FD9}"/>
              </a:ext>
            </a:extLst>
          </p:cNvPr>
          <p:cNvSpPr txBox="1"/>
          <p:nvPr/>
        </p:nvSpPr>
        <p:spPr>
          <a:xfrm>
            <a:off x="3980007" y="5362032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0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8218402-4D9B-5B1A-7C01-66A965A24777}"/>
              </a:ext>
            </a:extLst>
          </p:cNvPr>
          <p:cNvSpPr txBox="1"/>
          <p:nvPr/>
        </p:nvSpPr>
        <p:spPr>
          <a:xfrm>
            <a:off x="7275530" y="535796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9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B205F72-FB6D-3DDC-151B-696A9E46AECB}"/>
              </a:ext>
            </a:extLst>
          </p:cNvPr>
          <p:cNvSpPr txBox="1"/>
          <p:nvPr/>
        </p:nvSpPr>
        <p:spPr>
          <a:xfrm>
            <a:off x="8935529" y="5373617"/>
            <a:ext cx="73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9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C4B41AE-82A4-9786-42A4-B0339B27941C}"/>
              </a:ext>
            </a:extLst>
          </p:cNvPr>
          <p:cNvCxnSpPr>
            <a:cxnSpLocks/>
            <a:stCxn id="32" idx="2"/>
            <a:endCxn id="22" idx="0"/>
          </p:cNvCxnSpPr>
          <p:nvPr/>
        </p:nvCxnSpPr>
        <p:spPr>
          <a:xfrm>
            <a:off x="2650725" y="4233703"/>
            <a:ext cx="0" cy="112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953579F-CC98-C519-E68B-9060C5374B08}"/>
              </a:ext>
            </a:extLst>
          </p:cNvPr>
          <p:cNvCxnSpPr>
            <a:cxnSpLocks/>
            <a:stCxn id="33" idx="2"/>
            <a:endCxn id="23" idx="0"/>
          </p:cNvCxnSpPr>
          <p:nvPr/>
        </p:nvCxnSpPr>
        <p:spPr>
          <a:xfrm>
            <a:off x="4337463" y="4255080"/>
            <a:ext cx="10041" cy="1106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EFA8BC40-F328-7B2B-6D9C-7798E85468BF}"/>
              </a:ext>
            </a:extLst>
          </p:cNvPr>
          <p:cNvCxnSpPr>
            <a:cxnSpLocks/>
            <a:stCxn id="34" idx="2"/>
            <a:endCxn id="24" idx="0"/>
          </p:cNvCxnSpPr>
          <p:nvPr/>
        </p:nvCxnSpPr>
        <p:spPr>
          <a:xfrm>
            <a:off x="7643025" y="4255080"/>
            <a:ext cx="2" cy="110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5EC0C77-D158-C790-9DD7-81F653AE8DF4}"/>
              </a:ext>
            </a:extLst>
          </p:cNvPr>
          <p:cNvCxnSpPr>
            <a:cxnSpLocks/>
            <a:stCxn id="35" idx="2"/>
            <a:endCxn id="25" idx="0"/>
          </p:cNvCxnSpPr>
          <p:nvPr/>
        </p:nvCxnSpPr>
        <p:spPr>
          <a:xfrm>
            <a:off x="9303026" y="4255080"/>
            <a:ext cx="0" cy="1118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C068C687-9007-2ED3-9BAB-9B819E3B1D0C}"/>
              </a:ext>
            </a:extLst>
          </p:cNvPr>
          <p:cNvSpPr txBox="1"/>
          <p:nvPr/>
        </p:nvSpPr>
        <p:spPr>
          <a:xfrm>
            <a:off x="2071991" y="3864371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C37B47C-9E5D-D984-23BB-50DDC48776FC}"/>
              </a:ext>
            </a:extLst>
          </p:cNvPr>
          <p:cNvSpPr txBox="1"/>
          <p:nvPr/>
        </p:nvSpPr>
        <p:spPr>
          <a:xfrm>
            <a:off x="3758729" y="388574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CC110F8-63A8-3C76-E87A-4625C4A299DC}"/>
              </a:ext>
            </a:extLst>
          </p:cNvPr>
          <p:cNvSpPr txBox="1"/>
          <p:nvPr/>
        </p:nvSpPr>
        <p:spPr>
          <a:xfrm>
            <a:off x="7064291" y="388574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1008960-1482-EE1A-6E68-4396DFCD648E}"/>
              </a:ext>
            </a:extLst>
          </p:cNvPr>
          <p:cNvSpPr txBox="1"/>
          <p:nvPr/>
        </p:nvSpPr>
        <p:spPr>
          <a:xfrm>
            <a:off x="8724292" y="388574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46" name="Titre 6">
            <a:extLst>
              <a:ext uri="{FF2B5EF4-FFF2-40B4-BE49-F238E27FC236}">
                <a16:creationId xmlns:a16="http://schemas.microsoft.com/office/drawing/2014/main" id="{1B89C2DC-7EB1-677B-D1D9-1AF3CA5B45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Méthode</a:t>
            </a:r>
          </a:p>
        </p:txBody>
      </p:sp>
    </p:spTree>
    <p:extLst>
      <p:ext uri="{BB962C8B-B14F-4D97-AF65-F5344CB8AC3E}">
        <p14:creationId xmlns:p14="http://schemas.microsoft.com/office/powerpoint/2010/main" val="3648753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D3F1-AF8E-0AA9-3013-D3EA1374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516B2A0-DD10-91C9-361D-F4CAB60E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52102F7-0444-8482-1663-543C630E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Obscuration de chiffres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dirty="0"/>
              <a:t>Attaque (et défense)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Méthode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2"/>
                </a:solidFill>
              </a:rPr>
              <a:t>	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/>
              <a:t>Résultats expérimentaux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➔</a:t>
            </a:r>
            <a:r>
              <a:rPr lang="fr-FR" b="1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Conclusion et perspectives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AA204A9-B7E2-7DF2-6900-7D9D6536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A2C838-1978-7C57-BAD2-8906CB54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EF0371-8E8F-58FA-E6F7-539A0DA1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28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68B66CE1-1695-CDE3-0C3B-A2DA025B4A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Table des matières</a:t>
            </a:r>
          </a:p>
        </p:txBody>
      </p:sp>
    </p:spTree>
    <p:extLst>
      <p:ext uri="{BB962C8B-B14F-4D97-AF65-F5344CB8AC3E}">
        <p14:creationId xmlns:p14="http://schemas.microsoft.com/office/powerpoint/2010/main" val="917468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9353-1F30-4EE1-F897-1A54B748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04A8E6D-4083-8D34-7197-879FC9C3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29570D0-E612-2118-9265-3262F227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2F652A-063F-A8E8-4EE8-3D06F4AE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213836-CB9E-EBC9-BE68-9D972A3D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29</a:t>
            </a:fld>
            <a:endParaRPr lang="fr-FR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DB64B887-E729-BA31-A2A9-0AE4B7A3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28" y="1648984"/>
            <a:ext cx="10614340" cy="4245736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6F71B032-4A49-2762-D0F7-02F3DD9F9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1641529"/>
            <a:ext cx="1064578" cy="4258312"/>
          </a:xfrm>
          <a:prstGeom prst="rect">
            <a:avLst/>
          </a:prstGeom>
        </p:spPr>
      </p:pic>
      <p:graphicFrame>
        <p:nvGraphicFramePr>
          <p:cNvPr id="35" name="Tableau 34">
            <a:extLst>
              <a:ext uri="{FF2B5EF4-FFF2-40B4-BE49-F238E27FC236}">
                <a16:creationId xmlns:a16="http://schemas.microsoft.com/office/drawing/2014/main" id="{A51F1885-A431-3128-680F-3B02AA818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246110"/>
              </p:ext>
            </p:extLst>
          </p:nvPr>
        </p:nvGraphicFramePr>
        <p:xfrm>
          <a:off x="1600200" y="1316572"/>
          <a:ext cx="1054354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354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1054354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4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36" name="ZoneTexte 35">
            <a:extLst>
              <a:ext uri="{FF2B5EF4-FFF2-40B4-BE49-F238E27FC236}">
                <a16:creationId xmlns:a16="http://schemas.microsoft.com/office/drawing/2014/main" id="{274DA53D-89F2-84B3-928A-E7D8E06A3EA4}"/>
              </a:ext>
            </a:extLst>
          </p:cNvPr>
          <p:cNvSpPr txBox="1"/>
          <p:nvPr/>
        </p:nvSpPr>
        <p:spPr>
          <a:xfrm>
            <a:off x="-247490" y="1312702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EC1243FC-B509-88F3-98F2-C2207E788DAB}"/>
              </a:ext>
            </a:extLst>
          </p:cNvPr>
          <p:cNvCxnSpPr>
            <a:cxnSpLocks/>
          </p:cNvCxnSpPr>
          <p:nvPr/>
        </p:nvCxnSpPr>
        <p:spPr>
          <a:xfrm>
            <a:off x="1054667" y="2023329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8D2A2A19-F4FF-0CBB-90CA-22F6593C2D54}"/>
              </a:ext>
            </a:extLst>
          </p:cNvPr>
          <p:cNvCxnSpPr>
            <a:cxnSpLocks/>
          </p:cNvCxnSpPr>
          <p:nvPr/>
        </p:nvCxnSpPr>
        <p:spPr>
          <a:xfrm>
            <a:off x="1054667" y="3082384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ACDC12DE-391C-6F10-74E6-434E2D606234}"/>
              </a:ext>
            </a:extLst>
          </p:cNvPr>
          <p:cNvCxnSpPr>
            <a:cxnSpLocks/>
          </p:cNvCxnSpPr>
          <p:nvPr/>
        </p:nvCxnSpPr>
        <p:spPr>
          <a:xfrm>
            <a:off x="1023226" y="4111945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FFE089C3-C23D-FCFE-BDB8-7186162BEAAA}"/>
              </a:ext>
            </a:extLst>
          </p:cNvPr>
          <p:cNvCxnSpPr>
            <a:cxnSpLocks/>
          </p:cNvCxnSpPr>
          <p:nvPr/>
        </p:nvCxnSpPr>
        <p:spPr>
          <a:xfrm>
            <a:off x="1023226" y="5148143"/>
            <a:ext cx="591819" cy="0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itre 6">
            <a:extLst>
              <a:ext uri="{FF2B5EF4-FFF2-40B4-BE49-F238E27FC236}">
                <a16:creationId xmlns:a16="http://schemas.microsoft.com/office/drawing/2014/main" id="{E72F8FDD-EA41-78E3-3426-91C5CCDEF5D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723311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10B4-F65C-5FF5-0FCA-C2571FD6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3C3216AE-902E-580D-9307-3B3F9C95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5"/>
          <a:stretch/>
        </p:blipFill>
        <p:spPr>
          <a:xfrm>
            <a:off x="1291172" y="1311817"/>
            <a:ext cx="6433002" cy="4664960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ECBF9633-128D-A5FE-9984-36450D48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dans la translation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33E54F9-9257-38E7-9EB3-1C931EBB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DC306C-0653-AE7A-903E-62414DD85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2809E5-6015-B09B-796B-F6A4BB60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30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EFDEF9-BC7A-7956-4CFB-AFC98D1F53BE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99,84%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99,95%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3ABB52FF-E24B-3F81-8931-5374027B96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448600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261E-CDA4-4D45-C828-25E839C8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CFCFECD-CA99-9EE8-08C2-FC7A209C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72"/>
          <a:stretch/>
        </p:blipFill>
        <p:spPr>
          <a:xfrm>
            <a:off x="1291172" y="1312700"/>
            <a:ext cx="6433002" cy="4664077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803B31C4-45D8-BD3C-B11E-5D8DDDED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9FDE76E2-3AE2-3BE6-DD54-1571E52F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F8A816-71D3-601C-D0EC-210EDFAA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D67717-A5D1-B6A3-5F18-E6776AD4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31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DD203F-59A5-6367-CECC-F5E826BE95AC}"/>
              </a:ext>
            </a:extLst>
          </p:cNvPr>
          <p:cNvSpPr txBox="1"/>
          <p:nvPr/>
        </p:nvSpPr>
        <p:spPr>
          <a:xfrm>
            <a:off x="7774171" y="3051014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3">
                    <a:lumMod val="75000"/>
                  </a:schemeClr>
                </a:solidFill>
              </a:rPr>
              <a:t>71,75%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5"/>
                </a:solidFill>
              </a:rPr>
              <a:t>87,24%</a:t>
            </a: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CE243984-75D0-CC85-EFAE-F49AE70F66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Attaque (et défense) : Résultats expérimentaux</a:t>
            </a:r>
          </a:p>
        </p:txBody>
      </p:sp>
    </p:spTree>
    <p:extLst>
      <p:ext uri="{BB962C8B-B14F-4D97-AF65-F5344CB8AC3E}">
        <p14:creationId xmlns:p14="http://schemas.microsoft.com/office/powerpoint/2010/main" val="1389068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B8AA-A232-A2AC-E80F-D9FF0119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FCA8C41-749D-3A16-D2F9-C04AAB75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7A839F9-FA79-DD99-0D46-D3CFD83A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Efficace 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Obscuration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~86% de précision de classification classe cible et ~12% classe non-source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Invisible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Réversible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~94% de précision de classification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Attaquable (analyse des traces) :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Forte reconnaissance des traces de la classe source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~72% de précision de classification 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b="1" dirty="0">
                <a:solidFill>
                  <a:schemeClr val="accent2"/>
                </a:solidFill>
              </a:rPr>
              <a:t> ➔ </a:t>
            </a:r>
            <a:r>
              <a:rPr lang="fr-FR" dirty="0"/>
              <a:t>Détectable</a:t>
            </a:r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sz="2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~100% de précision de classification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2F77FC7-7DDB-512E-E37A-31D53CF6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0A57BA-5B52-3203-59CE-C63CF800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01C984-0A65-4B91-4C36-00357C59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32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696EEB5B-14CC-585D-0BB5-FA4D2B6B43E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5656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A0E32-6EDF-278C-7485-AC7B4407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B7146E3-D270-00AE-C50F-D0D7E539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BC76E70-B379-23AD-AF35-9A149A9F9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Méthode de chiffrement</a:t>
            </a:r>
            <a:r>
              <a:rPr lang="fr-FR" dirty="0"/>
              <a:t> : intégration d’une clé, choix du vecteur de translation, d’un angle et d’un ratio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Défense : </a:t>
            </a:r>
            <a:r>
              <a:rPr lang="fr-FR" dirty="0"/>
              <a:t>suppression des traces dans la translation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7CF51C1-EAE0-6A54-D16D-561F2A9A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21EB10-67EB-F137-CFD8-EF5C3AF5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FBF3B9-549A-4E80-1310-C80C0A1D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33</a:t>
            </a:fld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B1CAA01-61D0-860B-DB24-595CFAAAAFFF}"/>
              </a:ext>
            </a:extLst>
          </p:cNvPr>
          <p:cNvSpPr/>
          <p:nvPr/>
        </p:nvSpPr>
        <p:spPr>
          <a:xfrm rot="21248098">
            <a:off x="3555560" y="2496166"/>
            <a:ext cx="2240978" cy="16698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69F3CA7-F827-C7E6-28EB-6F3F0D3476D5}"/>
              </a:ext>
            </a:extLst>
          </p:cNvPr>
          <p:cNvSpPr/>
          <p:nvPr/>
        </p:nvSpPr>
        <p:spPr>
          <a:xfrm rot="3925294">
            <a:off x="6248333" y="2894475"/>
            <a:ext cx="1830449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riangle isocèle 9">
            <a:extLst>
              <a:ext uri="{FF2B5EF4-FFF2-40B4-BE49-F238E27FC236}">
                <a16:creationId xmlns:a16="http://schemas.microsoft.com/office/drawing/2014/main" id="{52AAAA65-E74C-AC7C-6B48-E231382A6379}"/>
              </a:ext>
            </a:extLst>
          </p:cNvPr>
          <p:cNvSpPr/>
          <p:nvPr/>
        </p:nvSpPr>
        <p:spPr>
          <a:xfrm rot="16735455">
            <a:off x="5797206" y="2423108"/>
            <a:ext cx="671886" cy="3120070"/>
          </a:xfrm>
          <a:prstGeom prst="triangle">
            <a:avLst/>
          </a:prstGeom>
          <a:solidFill>
            <a:srgbClr val="15608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C8696C6-00C3-FE6A-8571-9CCDB5C1914D}"/>
              </a:ext>
            </a:extLst>
          </p:cNvPr>
          <p:cNvSpPr/>
          <p:nvPr/>
        </p:nvSpPr>
        <p:spPr>
          <a:xfrm>
            <a:off x="4620003" y="3260488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4A618A2-A417-A847-9BC0-1D3E2FCC2C84}"/>
              </a:ext>
            </a:extLst>
          </p:cNvPr>
          <p:cNvSpPr/>
          <p:nvPr/>
        </p:nvSpPr>
        <p:spPr>
          <a:xfrm>
            <a:off x="7107267" y="3656810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5AA54B1-1892-7174-B8DB-10CF7392367E}"/>
              </a:ext>
            </a:extLst>
          </p:cNvPr>
          <p:cNvCxnSpPr>
            <a:cxnSpLocks/>
          </p:cNvCxnSpPr>
          <p:nvPr/>
        </p:nvCxnSpPr>
        <p:spPr>
          <a:xfrm flipH="1" flipV="1">
            <a:off x="4701815" y="3336469"/>
            <a:ext cx="2487264" cy="396322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66D6CFE1-4C31-7236-EF9C-2FB8691C7CFA}"/>
              </a:ext>
            </a:extLst>
          </p:cNvPr>
          <p:cNvSpPr/>
          <p:nvPr/>
        </p:nvSpPr>
        <p:spPr>
          <a:xfrm>
            <a:off x="6925622" y="4008257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4F0B5EB9-DA5C-313D-A363-D9BF7BE643C8}"/>
              </a:ext>
            </a:extLst>
          </p:cNvPr>
          <p:cNvSpPr/>
          <p:nvPr/>
        </p:nvSpPr>
        <p:spPr>
          <a:xfrm>
            <a:off x="4438358" y="3613823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5A59DD2-3724-5EC7-E75E-BE493C89ADD8}"/>
              </a:ext>
            </a:extLst>
          </p:cNvPr>
          <p:cNvCxnSpPr>
            <a:cxnSpLocks/>
          </p:cNvCxnSpPr>
          <p:nvPr/>
        </p:nvCxnSpPr>
        <p:spPr>
          <a:xfrm flipH="1" flipV="1">
            <a:off x="4557326" y="3733460"/>
            <a:ext cx="2487264" cy="396322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re 6">
            <a:extLst>
              <a:ext uri="{FF2B5EF4-FFF2-40B4-BE49-F238E27FC236}">
                <a16:creationId xmlns:a16="http://schemas.microsoft.com/office/drawing/2014/main" id="{6182F406-B565-C5C3-8A81-DE2CEDC7A80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2660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6C67-5209-4668-0A9A-16D83267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486433A-219C-72FA-8C4D-8CE65BED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149DB84-99FF-005D-DE9C-F9641AB44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Empoisonnement</a:t>
            </a:r>
            <a:r>
              <a:rPr lang="fr-FR" dirty="0"/>
              <a:t> : tromper le classifieur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58699A7-7CE7-F28A-9A19-B2273EF1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3C9DAC-7A45-F14A-DA4C-42FF2AA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9F70D2-86AB-1164-98BC-3C9AD6E1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34</a:t>
            </a:fld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5A28EFB-0A94-A9BD-6CE2-1C88A22F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71" y="2089363"/>
            <a:ext cx="10062258" cy="3826297"/>
          </a:xfrm>
          <a:prstGeom prst="rect">
            <a:avLst/>
          </a:prstGeom>
        </p:spPr>
      </p:pic>
      <p:sp>
        <p:nvSpPr>
          <p:cNvPr id="18" name="Titre 6">
            <a:extLst>
              <a:ext uri="{FF2B5EF4-FFF2-40B4-BE49-F238E27FC236}">
                <a16:creationId xmlns:a16="http://schemas.microsoft.com/office/drawing/2014/main" id="{C24351C3-5459-6692-6A7F-A3F1258C613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98638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F61D-F075-8697-85AF-E6298E52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D3F01A5-E9B9-0C0C-8C88-FFA7073A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24528D3-374F-3A81-6356-2C1B3B7BB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713720" cy="4749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 </a:t>
            </a:r>
            <a:r>
              <a:rPr lang="fr-FR" b="1" dirty="0"/>
              <a:t>CVAE </a:t>
            </a:r>
            <a:r>
              <a:rPr lang="fr-FR" dirty="0"/>
              <a:t>(VAE conditionnel) : découplage du style (trace?) et de la classe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EB89DF46-C088-9F4F-05FA-F3AE3DAF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4CD815-7188-CDF8-4710-9A45D3BE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5EA89F-B5A9-E62F-7C4E-33891079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35</a:t>
            </a:fld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93348AF-28EF-E29B-83B7-E9B1754DDC02}"/>
              </a:ext>
            </a:extLst>
          </p:cNvPr>
          <p:cNvGrpSpPr/>
          <p:nvPr/>
        </p:nvGrpSpPr>
        <p:grpSpPr>
          <a:xfrm>
            <a:off x="3701938" y="2074728"/>
            <a:ext cx="4761759" cy="1792973"/>
            <a:chOff x="975609" y="2760081"/>
            <a:chExt cx="4761759" cy="179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6C58E8-7592-0977-0D69-BFB163629B6C}"/>
                </a:ext>
              </a:extLst>
            </p:cNvPr>
            <p:cNvSpPr/>
            <p:nvPr/>
          </p:nvSpPr>
          <p:spPr>
            <a:xfrm>
              <a:off x="975609" y="2768005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</a:t>
              </a:r>
            </a:p>
          </p:txBody>
        </p:sp>
        <p:sp>
          <p:nvSpPr>
            <p:cNvPr id="10" name="Trapèze 9">
              <a:extLst>
                <a:ext uri="{FF2B5EF4-FFF2-40B4-BE49-F238E27FC236}">
                  <a16:creationId xmlns:a16="http://schemas.microsoft.com/office/drawing/2014/main" id="{81E05982-504A-43FD-4D49-EFFD57430853}"/>
                </a:ext>
              </a:extLst>
            </p:cNvPr>
            <p:cNvSpPr/>
            <p:nvPr/>
          </p:nvSpPr>
          <p:spPr>
            <a:xfrm rot="5400000">
              <a:off x="2107825" y="3142034"/>
              <a:ext cx="1202877" cy="449457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E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5D6B0B-D5B3-8F55-AB68-07788412B5DE}"/>
                </a:ext>
              </a:extLst>
            </p:cNvPr>
            <p:cNvSpPr/>
            <p:nvPr/>
          </p:nvSpPr>
          <p:spPr>
            <a:xfrm>
              <a:off x="3259843" y="3125246"/>
              <a:ext cx="166929" cy="4866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CA3059C-2BE2-4F85-9C21-4CF2915ADAC7}"/>
                </a:ext>
              </a:extLst>
            </p:cNvPr>
            <p:cNvSpPr txBox="1"/>
            <p:nvPr/>
          </p:nvSpPr>
          <p:spPr>
            <a:xfrm>
              <a:off x="2950129" y="2760081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z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FC497C17-0849-A65B-20B9-09D75713DFDD}"/>
                </a:ext>
              </a:extLst>
            </p:cNvPr>
            <p:cNvCxnSpPr>
              <a:cxnSpLocks/>
              <a:stCxn id="10" idx="0"/>
              <a:endCxn id="11" idx="1"/>
            </p:cNvCxnSpPr>
            <p:nvPr/>
          </p:nvCxnSpPr>
          <p:spPr>
            <a:xfrm>
              <a:off x="2933992" y="3366763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8CA51A04-EA46-09C4-7EE5-D6E793243894}"/>
                </a:ext>
              </a:extLst>
            </p:cNvPr>
            <p:cNvSpPr txBox="1"/>
            <p:nvPr/>
          </p:nvSpPr>
          <p:spPr>
            <a:xfrm>
              <a:off x="2947901" y="4183722"/>
              <a:ext cx="799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Consolas" panose="020B0609020204030204" pitchFamily="49" charset="0"/>
                  <a:cs typeface="Cascadia Code" panose="020B0609020000020004" pitchFamily="49" charset="0"/>
                </a:rPr>
                <a:t>y</a:t>
              </a:r>
              <a:endParaRPr lang="fr-FR" baseline="-25000" dirty="0">
                <a:latin typeface="Consolas" panose="020B06090202040302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5B7624-C75D-FE35-2689-5FE077CA66BD}"/>
                </a:ext>
              </a:extLst>
            </p:cNvPr>
            <p:cNvSpPr/>
            <p:nvPr/>
          </p:nvSpPr>
          <p:spPr>
            <a:xfrm>
              <a:off x="3264080" y="3746817"/>
              <a:ext cx="166929" cy="486634"/>
            </a:xfrm>
            <a:prstGeom prst="rect">
              <a:avLst/>
            </a:prstGeom>
            <a:solidFill>
              <a:srgbClr val="ECF1C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Trapèze 15">
              <a:extLst>
                <a:ext uri="{FF2B5EF4-FFF2-40B4-BE49-F238E27FC236}">
                  <a16:creationId xmlns:a16="http://schemas.microsoft.com/office/drawing/2014/main" id="{E6E31840-6C63-2AA7-02A1-1874FE9EE3FF}"/>
                </a:ext>
              </a:extLst>
            </p:cNvPr>
            <p:cNvSpPr/>
            <p:nvPr/>
          </p:nvSpPr>
          <p:spPr>
            <a:xfrm rot="16200000">
              <a:off x="3221259" y="3454223"/>
              <a:ext cx="1518217" cy="447953"/>
            </a:xfrm>
            <a:prstGeom prst="trapezoid">
              <a:avLst>
                <a:gd name="adj" fmla="val 7859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D</a:t>
              </a:r>
              <a:endParaRPr lang="fr-FR" dirty="0">
                <a:latin typeface="Consolas" panose="020B060902020403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AADBB0E-A1C0-433C-1E8D-101A5ADAAC51}"/>
                </a:ext>
              </a:extLst>
            </p:cNvPr>
            <p:cNvSpPr/>
            <p:nvPr/>
          </p:nvSpPr>
          <p:spPr>
            <a:xfrm>
              <a:off x="4537172" y="3090422"/>
              <a:ext cx="1200196" cy="120019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Consolas" panose="020B0609020204030204" pitchFamily="49" charset="0"/>
                  <a:cs typeface="Cascadia Code" panose="020B0609020000020004" pitchFamily="49" charset="0"/>
                </a:rPr>
                <a:t>I’</a:t>
              </a:r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EAD229BE-DDB6-9D1D-41BB-E0B2ED89192D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3654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D220CCEC-C837-E3F8-928E-2663EB102B25}"/>
                </a:ext>
              </a:extLst>
            </p:cNvPr>
            <p:cNvCxnSpPr>
              <a:cxnSpLocks/>
            </p:cNvCxnSpPr>
            <p:nvPr/>
          </p:nvCxnSpPr>
          <p:spPr>
            <a:xfrm>
              <a:off x="3425168" y="3990134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35FFA4F7-0EB1-8E45-55B0-3AAD29C5A2D4}"/>
                </a:ext>
              </a:extLst>
            </p:cNvPr>
            <p:cNvCxnSpPr>
              <a:cxnSpLocks/>
            </p:cNvCxnSpPr>
            <p:nvPr/>
          </p:nvCxnSpPr>
          <p:spPr>
            <a:xfrm>
              <a:off x="2168100" y="3363621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0E24CBD3-A10D-B91D-7FD5-95B431FE0F38}"/>
                </a:ext>
              </a:extLst>
            </p:cNvPr>
            <p:cNvCxnSpPr>
              <a:cxnSpLocks/>
            </p:cNvCxnSpPr>
            <p:nvPr/>
          </p:nvCxnSpPr>
          <p:spPr>
            <a:xfrm>
              <a:off x="4211321" y="3685610"/>
              <a:ext cx="325851" cy="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B419E630-A6BC-2443-5030-6C2081F9D413}"/>
              </a:ext>
            </a:extLst>
          </p:cNvPr>
          <p:cNvGrpSpPr/>
          <p:nvPr/>
        </p:nvGrpSpPr>
        <p:grpSpPr>
          <a:xfrm>
            <a:off x="1294669" y="3873414"/>
            <a:ext cx="9544588" cy="2391861"/>
            <a:chOff x="1510181" y="4243728"/>
            <a:chExt cx="9171638" cy="2298400"/>
          </a:xfrm>
        </p:grpSpPr>
        <p:pic>
          <p:nvPicPr>
            <p:cNvPr id="24" name="Image 23" descr="Une image contenant diagramme, texte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FE979361-6244-BC1E-BA93-A2D653E29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0181" y="4249218"/>
              <a:ext cx="4585819" cy="2292910"/>
            </a:xfrm>
            <a:prstGeom prst="rect">
              <a:avLst/>
            </a:prstGeom>
          </p:spPr>
        </p:pic>
        <p:pic>
          <p:nvPicPr>
            <p:cNvPr id="25" name="Image 24" descr="Une image contenant texte, diagramme, Tracé, ligne&#10;&#10;Le contenu généré par l’IA peut être incorrect.">
              <a:extLst>
                <a:ext uri="{FF2B5EF4-FFF2-40B4-BE49-F238E27FC236}">
                  <a16:creationId xmlns:a16="http://schemas.microsoft.com/office/drawing/2014/main" id="{2ED6E4A2-FA52-652E-E6A0-155666054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4243728"/>
              <a:ext cx="4585819" cy="2292910"/>
            </a:xfrm>
            <a:prstGeom prst="rect">
              <a:avLst/>
            </a:prstGeom>
          </p:spPr>
        </p:pic>
      </p:grpSp>
      <p:sp>
        <p:nvSpPr>
          <p:cNvPr id="26" name="Titre 6">
            <a:extLst>
              <a:ext uri="{FF2B5EF4-FFF2-40B4-BE49-F238E27FC236}">
                <a16:creationId xmlns:a16="http://schemas.microsoft.com/office/drawing/2014/main" id="{862113BF-3310-8004-05FB-D52FD10928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69252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46E0-7DE6-8915-A45C-BD75C967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5DBC549-1985-1463-27A8-3A6C5BF9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49F9100-C24E-465A-7107-F0F2D0E0A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740"/>
            <a:ext cx="10515600" cy="48439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en-US" sz="2800" b="1" i="1" dirty="0"/>
              <a:t> </a:t>
            </a:r>
            <a:r>
              <a:rPr lang="en-US" sz="2800" i="1" dirty="0"/>
              <a:t>β-VAE: Learning Basic Visual Concepts with a Constrained Variational Framework</a:t>
            </a:r>
          </a:p>
          <a:p>
            <a:pPr marL="0" indent="0">
              <a:buNone/>
            </a:pPr>
            <a:r>
              <a:rPr lang="fr-FR" sz="2400" b="1" i="0" dirty="0">
                <a:effectLst/>
                <a:latin typeface="Arial" panose="020B0604020202020204" pitchFamily="34" charset="0"/>
              </a:rPr>
              <a:t>Irina Higgins, </a:t>
            </a:r>
            <a:r>
              <a:rPr lang="fr-FR" sz="2400" b="1" i="0" dirty="0" err="1">
                <a:effectLst/>
                <a:latin typeface="Arial" panose="020B0604020202020204" pitchFamily="34" charset="0"/>
              </a:rPr>
              <a:t>Loic</a:t>
            </a:r>
            <a:r>
              <a:rPr lang="fr-FR" sz="2400" b="1" i="0" dirty="0">
                <a:effectLst/>
                <a:latin typeface="Arial" panose="020B0604020202020204" pitchFamily="34" charset="0"/>
              </a:rPr>
              <a:t> </a:t>
            </a:r>
            <a:r>
              <a:rPr lang="fr-FR" sz="2400" b="1" i="0" dirty="0" err="1">
                <a:effectLst/>
                <a:latin typeface="Arial" panose="020B0604020202020204" pitchFamily="34" charset="0"/>
              </a:rPr>
              <a:t>Matthey</a:t>
            </a:r>
            <a:r>
              <a:rPr lang="fr-FR" sz="2400" b="1" i="0" dirty="0">
                <a:effectLst/>
                <a:latin typeface="Arial" panose="020B0604020202020204" pitchFamily="34" charset="0"/>
              </a:rPr>
              <a:t>, Arka Pal, Christopher Burgess, Xavier </a:t>
            </a:r>
            <a:r>
              <a:rPr lang="fr-FR" sz="2400" b="1" i="0" dirty="0" err="1">
                <a:effectLst/>
                <a:latin typeface="Arial" panose="020B0604020202020204" pitchFamily="34" charset="0"/>
              </a:rPr>
              <a:t>Glorot</a:t>
            </a:r>
            <a:r>
              <a:rPr lang="fr-FR" sz="2400" b="1" i="0" dirty="0">
                <a:effectLst/>
                <a:latin typeface="Arial" panose="020B0604020202020204" pitchFamily="34" charset="0"/>
              </a:rPr>
              <a:t>,</a:t>
            </a:r>
            <a:br>
              <a:rPr lang="fr-FR" sz="2400" b="1" dirty="0"/>
            </a:br>
            <a:r>
              <a:rPr lang="fr-FR" sz="2400" b="1" i="0" dirty="0">
                <a:effectLst/>
                <a:latin typeface="Arial" panose="020B0604020202020204" pitchFamily="34" charset="0"/>
              </a:rPr>
              <a:t>Matthew </a:t>
            </a:r>
            <a:r>
              <a:rPr lang="fr-FR" sz="2400" b="1" i="0" dirty="0" err="1">
                <a:effectLst/>
                <a:latin typeface="Arial" panose="020B0604020202020204" pitchFamily="34" charset="0"/>
              </a:rPr>
              <a:t>Botvinick</a:t>
            </a:r>
            <a:r>
              <a:rPr lang="fr-FR" sz="2400" b="1" i="0" dirty="0">
                <a:effectLst/>
                <a:latin typeface="Arial" panose="020B0604020202020204" pitchFamily="34" charset="0"/>
              </a:rPr>
              <a:t>, Shakir Mohamed, Alexander </a:t>
            </a:r>
            <a:r>
              <a:rPr lang="fr-FR" sz="2400" b="1" i="0" dirty="0" err="1">
                <a:effectLst/>
                <a:latin typeface="Arial" panose="020B0604020202020204" pitchFamily="34" charset="0"/>
              </a:rPr>
              <a:t>Lerchner</a:t>
            </a:r>
            <a:endParaRPr lang="fr-FR" sz="2400" b="1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0" i="0" dirty="0">
                <a:effectLst/>
                <a:latin typeface="Arial" panose="020B0604020202020204" pitchFamily="34" charset="0"/>
              </a:rPr>
              <a:t>International Conference on Learning Representations (ICLR), 2017</a:t>
            </a:r>
            <a:endParaRPr lang="fr-FR" sz="1800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fr-F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en-US" sz="2800" b="1" i="1" dirty="0"/>
              <a:t> </a:t>
            </a:r>
            <a:r>
              <a:rPr lang="en-US" sz="2800" i="1" dirty="0"/>
              <a:t>Transferable Adversarial Patches : A Potential Threat for Real-World Computer Vision Algorithms</a:t>
            </a:r>
          </a:p>
          <a:p>
            <a:pPr marL="0" indent="0">
              <a:buNone/>
            </a:pPr>
            <a:r>
              <a:rPr lang="en-US" sz="2400" b="1" dirty="0"/>
              <a:t>Pol </a:t>
            </a:r>
            <a:r>
              <a:rPr lang="en-US" sz="2400" b="1" dirty="0" err="1"/>
              <a:t>Labarbarie</a:t>
            </a:r>
            <a:endParaRPr lang="en-US" sz="2400" b="1" dirty="0"/>
          </a:p>
          <a:p>
            <a:pPr marL="0" indent="0">
              <a:buNone/>
            </a:pPr>
            <a:r>
              <a:rPr lang="fr-FR" sz="1800" dirty="0"/>
              <a:t>PhD </a:t>
            </a:r>
            <a:r>
              <a:rPr lang="fr-FR" sz="1800" dirty="0" err="1"/>
              <a:t>Thesis</a:t>
            </a:r>
            <a:r>
              <a:rPr lang="fr-FR" sz="1800" dirty="0"/>
              <a:t>, </a:t>
            </a:r>
            <a:r>
              <a:rPr lang="fr-FR" sz="1800" dirty="0" err="1"/>
              <a:t>Milad</a:t>
            </a:r>
            <a:r>
              <a:rPr lang="fr-FR" sz="1800" dirty="0"/>
              <a:t> Informatique Université Paris-Saclay, 2024</a:t>
            </a:r>
            <a:endParaRPr lang="en-US" sz="18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fr-FR" b="1" dirty="0">
                <a:solidFill>
                  <a:schemeClr val="accent4"/>
                </a:solidFill>
              </a:rPr>
              <a:t>➔</a:t>
            </a:r>
            <a:r>
              <a:rPr lang="en-US" sz="2800" b="1" i="1" dirty="0"/>
              <a:t> </a:t>
            </a:r>
            <a:r>
              <a:rPr lang="en-US" sz="2800" i="1" dirty="0"/>
              <a:t>Learning Disentangled Representations With Semi-Supervised Deep Generative Models</a:t>
            </a:r>
          </a:p>
          <a:p>
            <a:pPr marL="0" indent="0">
              <a:buNone/>
            </a:pPr>
            <a:r>
              <a:rPr lang="en-US" sz="2400" b="1" dirty="0"/>
              <a:t>N. Siddharth, Brooks Paige, Jan-Willem van de </a:t>
            </a:r>
            <a:r>
              <a:rPr lang="en-US" sz="2400" b="1" dirty="0" err="1"/>
              <a:t>Meent</a:t>
            </a:r>
            <a:r>
              <a:rPr lang="en-US" sz="2400" b="1" dirty="0"/>
              <a:t>, Alban </a:t>
            </a:r>
            <a:r>
              <a:rPr lang="en-US" sz="2400" b="1" dirty="0" err="1"/>
              <a:t>Desmaison</a:t>
            </a:r>
            <a:r>
              <a:rPr lang="en-US" sz="2400" b="1" dirty="0"/>
              <a:t>, Noah D. Goodman, </a:t>
            </a:r>
            <a:r>
              <a:rPr lang="en-US" sz="2400" b="1" dirty="0" err="1"/>
              <a:t>Pushmeet</a:t>
            </a:r>
            <a:r>
              <a:rPr lang="en-US" sz="2400" b="1" dirty="0"/>
              <a:t> Kohli, Frank Wood, Philip H. S. Torr. L</a:t>
            </a:r>
          </a:p>
          <a:p>
            <a:pPr marL="0" indent="0">
              <a:buNone/>
            </a:pPr>
            <a:r>
              <a:rPr lang="en-US" sz="1800" dirty="0"/>
              <a:t>31</a:t>
            </a:r>
            <a:r>
              <a:rPr lang="en-US" sz="1800" baseline="30000" dirty="0"/>
              <a:t>st</a:t>
            </a:r>
            <a:r>
              <a:rPr lang="en-US" sz="1800" dirty="0"/>
              <a:t> Conference on Neural Information Processing Systems (NIPS), </a:t>
            </a:r>
            <a:r>
              <a:rPr lang="fr-FR" sz="1800" dirty="0"/>
              <a:t>2017</a:t>
            </a:r>
            <a:endParaRPr lang="fr-FR" sz="2000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687CF2C-E21F-C347-9A31-FBC2B6FF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24/03/2025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977DCC-3845-2372-1EF8-B0553CAD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Valentin NOYÉ - Projet COMPROMIS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8660AB-5864-3AAD-D61D-F6D62C5B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768B-64F3-4AB0-8153-7A58661CE1D3}" type="slidenum">
              <a:rPr lang="fr-FR" smtClean="0"/>
              <a:t>36</a:t>
            </a:fld>
            <a:endParaRPr lang="fr-FR"/>
          </a:p>
        </p:txBody>
      </p:sp>
      <p:sp>
        <p:nvSpPr>
          <p:cNvPr id="2" name="Titre 6">
            <a:extLst>
              <a:ext uri="{FF2B5EF4-FFF2-40B4-BE49-F238E27FC236}">
                <a16:creationId xmlns:a16="http://schemas.microsoft.com/office/drawing/2014/main" id="{77EE4CB0-7E97-7904-1E00-4B4656A1DF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36360" cy="262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fr-FR" sz="1400" b="0" dirty="0">
                <a:solidFill>
                  <a:schemeClr val="bg2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61085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Sillage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1407</Words>
  <Application>Microsoft Office PowerPoint</Application>
  <PresentationFormat>Grand écran</PresentationFormat>
  <Paragraphs>481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4" baseType="lpstr">
      <vt:lpstr>Aptos</vt:lpstr>
      <vt:lpstr>Arial</vt:lpstr>
      <vt:lpstr>Bahnschrift</vt:lpstr>
      <vt:lpstr>Calibri</vt:lpstr>
      <vt:lpstr>Cascadia Code</vt:lpstr>
      <vt:lpstr>Consolas</vt:lpstr>
      <vt:lpstr>Corbel</vt:lpstr>
      <vt:lpstr>Thème Office</vt:lpstr>
      <vt:lpstr>Obscuration de chiffres dans des images par translation de vecteurs latents</vt:lpstr>
      <vt:lpstr>Contexte</vt:lpstr>
      <vt:lpstr>Solution</vt:lpstr>
      <vt:lpstr>Sommaire</vt:lpstr>
      <vt:lpstr>Sommaire</vt:lpstr>
      <vt:lpstr>Calcul des vecteurs de translation</vt:lpstr>
      <vt:lpstr>Obscuration</vt:lpstr>
      <vt:lpstr>Étape d’obscuration</vt:lpstr>
      <vt:lpstr>Étape de désobscuration</vt:lpstr>
      <vt:lpstr>Désobscuration</vt:lpstr>
      <vt:lpstr>Évaluation de l’obscuration (classification)</vt:lpstr>
      <vt:lpstr>Sommaire</vt:lpstr>
      <vt:lpstr>Dataset</vt:lpstr>
      <vt:lpstr>Modèles</vt:lpstr>
      <vt:lpstr>Prototypes</vt:lpstr>
      <vt:lpstr>Obscuration</vt:lpstr>
      <vt:lpstr>Translation de chiffres</vt:lpstr>
      <vt:lpstr>Translation de chiffres</vt:lpstr>
      <vt:lpstr>Classification de l’obscuration</vt:lpstr>
      <vt:lpstr>Distribution de la certitude des prédictions</vt:lpstr>
      <vt:lpstr>Désobscuration</vt:lpstr>
      <vt:lpstr>Classification de la désobscuration</vt:lpstr>
      <vt:lpstr>Sommaire</vt:lpstr>
      <vt:lpstr>Détection de l’obscuration</vt:lpstr>
      <vt:lpstr>Entraînement du classifieur</vt:lpstr>
      <vt:lpstr>Reconnaissance de la classe source (traces)</vt:lpstr>
      <vt:lpstr>Entraînement du classifieur</vt:lpstr>
      <vt:lpstr>Sommaire</vt:lpstr>
      <vt:lpstr>Reconnaissance de la classe source (traces)</vt:lpstr>
      <vt:lpstr>Reconnaissance de la classe source dans la translation (traces)</vt:lpstr>
      <vt:lpstr>Reconnaissance de la classe source (traces)</vt:lpstr>
      <vt:lpstr>Conclusion</vt:lpstr>
      <vt:lpstr>Perspectives</vt:lpstr>
      <vt:lpstr>Perspectives</vt:lpstr>
      <vt:lpstr>Perspectives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Noye</dc:creator>
  <cp:lastModifiedBy>Valentin Noye</cp:lastModifiedBy>
  <cp:revision>282</cp:revision>
  <dcterms:created xsi:type="dcterms:W3CDTF">2025-03-10T09:58:43Z</dcterms:created>
  <dcterms:modified xsi:type="dcterms:W3CDTF">2025-03-10T16:02:16Z</dcterms:modified>
</cp:coreProperties>
</file>