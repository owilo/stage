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75" r:id="rId4"/>
    <p:sldId id="280" r:id="rId5"/>
    <p:sldId id="298" r:id="rId6"/>
    <p:sldId id="299" r:id="rId7"/>
    <p:sldId id="300" r:id="rId8"/>
    <p:sldId id="301" r:id="rId9"/>
    <p:sldId id="302" r:id="rId10"/>
    <p:sldId id="274" r:id="rId11"/>
    <p:sldId id="281" r:id="rId12"/>
    <p:sldId id="279" r:id="rId13"/>
    <p:sldId id="287" r:id="rId14"/>
    <p:sldId id="264" r:id="rId15"/>
    <p:sldId id="271" r:id="rId16"/>
    <p:sldId id="284" r:id="rId17"/>
    <p:sldId id="270" r:id="rId18"/>
    <p:sldId id="286" r:id="rId19"/>
    <p:sldId id="285" r:id="rId20"/>
    <p:sldId id="263" r:id="rId21"/>
    <p:sldId id="289" r:id="rId22"/>
    <p:sldId id="291" r:id="rId23"/>
    <p:sldId id="293" r:id="rId24"/>
    <p:sldId id="295" r:id="rId25"/>
    <p:sldId id="288" r:id="rId26"/>
    <p:sldId id="265" r:id="rId27"/>
    <p:sldId id="296" r:id="rId28"/>
    <p:sldId id="268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6DDCED-2AB4-4C6B-A36F-4D868C2E1EFE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AB9A20-D30B-425E-BEF8-7F223E1D48C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2405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AB9A20-D30B-425E-BEF8-7F223E1D48C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0843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D24D8-9D3D-13BC-4388-8FE627715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25565DB-B8C6-4E18-7C02-88C77A6317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C4E8227-41F5-F84F-1BB6-76CD56A99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9D5F242-42A1-C7F4-47C0-457B18F5A1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AB9A20-D30B-425E-BEF8-7F223E1D48C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09002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58BBD6-204F-4D96-1847-1009721C9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AAE7385-9C52-556B-E8AC-676DD06AC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696B82-CB51-5AAD-A68E-ED4A30FA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C87D81-E4CF-6AD5-29E5-A80073B9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303858-EEE7-9AC5-657F-354CDD4DB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975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F6AF51-20E6-4AF9-5D07-C018F090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F9230E-154C-9210-DC2E-90595CD3E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9BB303-F9D9-2255-2212-480A48A4D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6C26BF-0393-B8FE-385D-A5DB3974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F8FAE9-054B-8164-CF8F-74CBC777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4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9993BD-2828-99CA-6C18-17B57600C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EB4FE1-F8EC-AAD6-5E5E-3EF42D86D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2B6502-CE99-AE87-783E-4D1A5DE3A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0AA4B9-B0E7-ECC4-C23B-A0C8B83E1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99DC9-C96A-E638-D0F2-6F7BBF831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6454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234C1-5F5F-9142-6F72-CCA423B85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F1D5F8-67AD-8860-EC09-32310BFDF2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0A1FCF-EFC4-EEFB-9518-4AB4928B3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7318933-74C4-9E0F-0CB0-5EE6F97CA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266D67-4D8C-FE5B-63C1-0DAE7E4BF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CB3347-ED1E-266C-561F-3B4B99E27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257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12A816-E571-7588-B8A4-562D7D6AA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244516-0A76-1211-47E6-F0348CB38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A5D8872-F887-9C54-56B0-4EA9B247AB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41A9378-C80F-86C6-4DE9-F9065279D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BB5F498-34EA-B5DC-AB8D-16D78FCAFE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B7C31A8-975E-86BB-6CAB-9CFE75634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7348D8C-B3BE-1272-F7D2-6C55417B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5DFA37-E772-A967-AAF3-B70F5738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683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AC8BB1-6E48-96E1-CA56-B276FCA6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03AD145-4328-4CEE-5DD7-9FD4C49F5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A789A72-6C22-D2CC-D5DC-5C77F248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6CCCE5-2F7A-0FDE-E97F-82AD00802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613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E89DE27-D622-1ADE-853A-5DD9C4F68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6532452-7721-EF4B-F0E0-0D86D1CDB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33AD80A-F71E-7C1B-B9D7-72C30255C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339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8A6699-7E37-8C4F-01C2-F8CB03103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478760-C8EA-4AFD-4A2A-F1DA10869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895B982-4EE7-3A4D-C061-7A722D49E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295876-89BD-61E8-7775-E92D2DAE1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0A65AD-CE31-3238-9DE2-5727B84F9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F5A45A-2B16-4F11-BE86-F13E7855E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5121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304917-7587-BE3C-3A3C-B3032F066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9FAD061-00C2-C842-9BEA-15A87D05B8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6A10F09-832D-7EF2-B296-BA1794A34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CBDFB6-E26A-12CE-1E7A-A29440BC7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5AB8467-55E7-6F5A-9DA0-058639067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AADCCD2-4982-172B-B745-351A03A57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65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090C9F-4E54-C9FE-C81F-090A110D6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420BC42-F5EF-E91A-FBF8-A39E24883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C6FB9F-23D9-D886-B0E3-C94F83F56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53F324-EB02-A0BF-70ED-54CE53B95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9B9E1-3D9B-300E-FCCE-7A00D06EF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70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225DA12-DBF2-8D9D-9197-C02FCB7306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5EAAF2-A1DF-58F0-1B2B-6FF6904A0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9812CF-9F89-5DDE-CE90-01211F60F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7BA7B9-738A-9211-AC45-1B09699A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97956F-72B1-9441-CE55-7199F3ACB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4730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1FC58B-4780-7F51-5DE6-93B0C4692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2847C3-B07D-2F7A-97F3-916215C5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4A70FE-F51B-7E16-F13C-A9BD1B5C1E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B83883-7D35-4165-90D1-08F5B397DD95}" type="datetimeFigureOut">
              <a:rPr lang="fr-FR" smtClean="0"/>
              <a:t>04/03/2025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E454F0-27A9-6668-2678-E4A3EE8C7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4CBC7F-61EB-39D5-9189-ED0195522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96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B3D578-2BDE-CA5B-4393-5A7CF6D9B3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Obscuration de contenu numérique dans une image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72F4B9F-CFA1-7FF3-619F-FB929CAB3C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Valentin Noyé </a:t>
            </a:r>
          </a:p>
        </p:txBody>
      </p:sp>
    </p:spTree>
    <p:extLst>
      <p:ext uri="{BB962C8B-B14F-4D97-AF65-F5344CB8AC3E}">
        <p14:creationId xmlns:p14="http://schemas.microsoft.com/office/powerpoint/2010/main" val="3692854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54AB-8FB3-16D0-B202-4E370425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F26C3A-62AD-9897-387A-317871456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F79BCE3-B738-6926-9A88-9720A3271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Protection des données</a:t>
            </a:r>
            <a:r>
              <a:rPr lang="fr-FR" dirty="0"/>
              <a:t>, de la vie privée</a:t>
            </a:r>
          </a:p>
          <a:p>
            <a:r>
              <a:rPr lang="fr-FR" dirty="0"/>
              <a:t>Importance de l’information dans les médias visuels </a:t>
            </a:r>
          </a:p>
          <a:p>
            <a:r>
              <a:rPr lang="fr-FR" dirty="0"/>
              <a:t>Obscuration </a:t>
            </a:r>
            <a:r>
              <a:rPr lang="fr-FR" b="1" dirty="0"/>
              <a:t>réversible</a:t>
            </a:r>
            <a:r>
              <a:rPr lang="fr-FR" dirty="0"/>
              <a:t> à partir d’une clé</a:t>
            </a:r>
          </a:p>
          <a:p>
            <a:r>
              <a:rPr lang="fr-FR" dirty="0"/>
              <a:t>Bonne</a:t>
            </a:r>
            <a:r>
              <a:rPr lang="fr-FR" b="1" dirty="0"/>
              <a:t> fidélité visuelle</a:t>
            </a:r>
            <a:r>
              <a:rPr lang="fr-FR" dirty="0"/>
              <a:t> et </a:t>
            </a:r>
            <a:r>
              <a:rPr lang="fr-FR" b="1" dirty="0"/>
              <a:t>invisible</a:t>
            </a:r>
          </a:p>
        </p:txBody>
      </p:sp>
      <p:pic>
        <p:nvPicPr>
          <p:cNvPr id="1028" name="Picture 4" descr="Plaque d'immatriculation : voici la technique rapide pour la flouter !">
            <a:extLst>
              <a:ext uri="{FF2B5EF4-FFF2-40B4-BE49-F238E27FC236}">
                <a16:creationId xmlns:a16="http://schemas.microsoft.com/office/drawing/2014/main" id="{DF052E8D-ED3B-754C-C24A-F8FA7583E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044" y="4203905"/>
            <a:ext cx="3593912" cy="1973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1085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9738F-08F1-4627-856B-76F322F4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BCB90DE-1C27-2546-963A-20A41C831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</a:t>
            </a:r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800F019-0540-9596-637D-FBE58B859D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65" y="2520112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55F43A82-C663-42E8-3834-02DB6AC39E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520110"/>
            <a:ext cx="3111201" cy="1817780"/>
          </a:xfrm>
          <a:prstGeom prst="rect">
            <a:avLst/>
          </a:prstGeom>
        </p:spPr>
      </p:pic>
      <p:pic>
        <p:nvPicPr>
          <p:cNvPr id="6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5A1E8B95-9AE8-F457-8E70-FA48E11A4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834" y="2520111"/>
            <a:ext cx="3111201" cy="1817779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CB88524-6E3A-D7AE-5227-80D7AB2E6AA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3448166" y="3429000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1C3C877-D99B-0767-F315-AA8C4140771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51600" y="3429000"/>
            <a:ext cx="1092234" cy="1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 2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504DAEFD-FB55-FFA5-1950-1FE7588E16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831" y="2627762"/>
            <a:ext cx="585940" cy="585940"/>
          </a:xfrm>
          <a:prstGeom prst="rect">
            <a:avLst/>
          </a:prstGeom>
        </p:spPr>
      </p:pic>
      <p:pic>
        <p:nvPicPr>
          <p:cNvPr id="8" name="Image 7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A1273A7F-38DD-CFC7-79BA-C991DB2378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5275" y="2627762"/>
            <a:ext cx="585940" cy="58594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BA6251F5-F834-9F95-6CEC-F3EA3D0D71C2}"/>
              </a:ext>
            </a:extLst>
          </p:cNvPr>
          <p:cNvSpPr txBox="1"/>
          <p:nvPr/>
        </p:nvSpPr>
        <p:spPr>
          <a:xfrm>
            <a:off x="2542241" y="4337890"/>
            <a:ext cx="2865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cs typeface="Cascadia Code" panose="020B0609020000020004" pitchFamily="49" charset="0"/>
              </a:rPr>
              <a:t>Obscuration</a:t>
            </a:r>
            <a:endParaRPr lang="fr-FR" sz="3200" baseline="-25000" dirty="0">
              <a:cs typeface="Cascadia Code" panose="020B0609020000020004" pitchFamily="49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B01AE18-024D-2FED-DCC0-8D1780C64C2D}"/>
              </a:ext>
            </a:extLst>
          </p:cNvPr>
          <p:cNvSpPr txBox="1"/>
          <p:nvPr/>
        </p:nvSpPr>
        <p:spPr>
          <a:xfrm>
            <a:off x="6755685" y="4337890"/>
            <a:ext cx="2865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 err="1">
                <a:cs typeface="Cascadia Code" panose="020B0609020000020004" pitchFamily="49" charset="0"/>
              </a:rPr>
              <a:t>Désobscuration</a:t>
            </a:r>
            <a:endParaRPr lang="fr-FR" sz="3200" baseline="-25000" dirty="0"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5107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59C39-9BC5-BE51-A987-864709510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455AE13-BA44-7E91-AAA0-EEB8193AE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FR" dirty="0"/>
              <a:t>Méthode d’obscuration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CE98A7F-01DE-2A4D-66CB-0D04F63E1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10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FD70E-5F5B-D5C5-CC3A-7AF667849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3D09D66-783D-E507-9E62-092FB43A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Pipeline d’obscuration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F2CAD4-D4E3-080D-5230-9B395A0D85E7}"/>
              </a:ext>
            </a:extLst>
          </p:cNvPr>
          <p:cNvSpPr/>
          <p:nvPr/>
        </p:nvSpPr>
        <p:spPr>
          <a:xfrm>
            <a:off x="741400" y="2060186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</a:p>
        </p:txBody>
      </p:sp>
      <p:sp>
        <p:nvSpPr>
          <p:cNvPr id="10" name="Trapèze 9">
            <a:extLst>
              <a:ext uri="{FF2B5EF4-FFF2-40B4-BE49-F238E27FC236}">
                <a16:creationId xmlns:a16="http://schemas.microsoft.com/office/drawing/2014/main" id="{7661B166-E7EF-27D2-0A79-78BC8A5BB988}"/>
              </a:ext>
            </a:extLst>
          </p:cNvPr>
          <p:cNvSpPr/>
          <p:nvPr/>
        </p:nvSpPr>
        <p:spPr>
          <a:xfrm rot="5400000">
            <a:off x="2023562" y="2475320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</a:t>
            </a:r>
            <a:endParaRPr lang="fr-FR" dirty="0"/>
          </a:p>
        </p:txBody>
      </p:sp>
      <p:sp>
        <p:nvSpPr>
          <p:cNvPr id="13" name="Trapèze 12">
            <a:extLst>
              <a:ext uri="{FF2B5EF4-FFF2-40B4-BE49-F238E27FC236}">
                <a16:creationId xmlns:a16="http://schemas.microsoft.com/office/drawing/2014/main" id="{506C1B58-DD0B-C755-580E-7808089214DD}"/>
              </a:ext>
            </a:extLst>
          </p:cNvPr>
          <p:cNvSpPr/>
          <p:nvPr/>
        </p:nvSpPr>
        <p:spPr>
          <a:xfrm rot="16200000">
            <a:off x="3445470" y="2475320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</a:t>
            </a:r>
            <a:endParaRPr lang="fr-FR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C14A4F-4B99-9CEC-7DCD-E00C72EE1C08}"/>
              </a:ext>
            </a:extLst>
          </p:cNvPr>
          <p:cNvSpPr/>
          <p:nvPr/>
        </p:nvSpPr>
        <p:spPr>
          <a:xfrm>
            <a:off x="3301474" y="2453729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541BBE-0527-D19A-8E16-52F0376764ED}"/>
              </a:ext>
            </a:extLst>
          </p:cNvPr>
          <p:cNvSpPr/>
          <p:nvPr/>
        </p:nvSpPr>
        <p:spPr>
          <a:xfrm>
            <a:off x="4725840" y="2053316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I’</a:t>
            </a:r>
            <a:endParaRPr lang="fr-FR" sz="3600" baseline="30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rapèze 16">
            <a:extLst>
              <a:ext uri="{FF2B5EF4-FFF2-40B4-BE49-F238E27FC236}">
                <a16:creationId xmlns:a16="http://schemas.microsoft.com/office/drawing/2014/main" id="{8FF3432A-827D-4048-1294-914B7A67F4B6}"/>
              </a:ext>
            </a:extLst>
          </p:cNvPr>
          <p:cNvSpPr/>
          <p:nvPr/>
        </p:nvSpPr>
        <p:spPr>
          <a:xfrm rot="5400000">
            <a:off x="6008002" y="2463368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</a:t>
            </a:r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828061-CACD-C6E3-81DA-C556CF1C9290}"/>
              </a:ext>
            </a:extLst>
          </p:cNvPr>
          <p:cNvSpPr/>
          <p:nvPr/>
        </p:nvSpPr>
        <p:spPr>
          <a:xfrm>
            <a:off x="4725839" y="4394439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E1C6D-7FCA-BD52-DA14-80828B6A9A72}"/>
              </a:ext>
            </a:extLst>
          </p:cNvPr>
          <p:cNvSpPr/>
          <p:nvPr/>
        </p:nvSpPr>
        <p:spPr>
          <a:xfrm>
            <a:off x="7288368" y="4788876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626C5C-F838-D456-28CF-394590A2175C}"/>
              </a:ext>
            </a:extLst>
          </p:cNvPr>
          <p:cNvSpPr/>
          <p:nvPr/>
        </p:nvSpPr>
        <p:spPr>
          <a:xfrm>
            <a:off x="7288369" y="2441777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Trapèze 21">
            <a:extLst>
              <a:ext uri="{FF2B5EF4-FFF2-40B4-BE49-F238E27FC236}">
                <a16:creationId xmlns:a16="http://schemas.microsoft.com/office/drawing/2014/main" id="{4A421AFA-01B3-4682-605B-629561CB783E}"/>
              </a:ext>
            </a:extLst>
          </p:cNvPr>
          <p:cNvSpPr/>
          <p:nvPr/>
        </p:nvSpPr>
        <p:spPr>
          <a:xfrm rot="16200000">
            <a:off x="8741041" y="2470240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</a:t>
            </a:r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6C090FB-5A0A-87C5-8511-D6D25A58A8A8}"/>
              </a:ext>
            </a:extLst>
          </p:cNvPr>
          <p:cNvSpPr/>
          <p:nvPr/>
        </p:nvSpPr>
        <p:spPr>
          <a:xfrm>
            <a:off x="10026445" y="2046444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I’’</a:t>
            </a:r>
          </a:p>
        </p:txBody>
      </p:sp>
      <p:sp>
        <p:nvSpPr>
          <p:cNvPr id="24" name="Trapèze 23">
            <a:extLst>
              <a:ext uri="{FF2B5EF4-FFF2-40B4-BE49-F238E27FC236}">
                <a16:creationId xmlns:a16="http://schemas.microsoft.com/office/drawing/2014/main" id="{F027D5BA-F862-DAFF-90BA-E092410A251C}"/>
              </a:ext>
            </a:extLst>
          </p:cNvPr>
          <p:cNvSpPr/>
          <p:nvPr/>
        </p:nvSpPr>
        <p:spPr>
          <a:xfrm rot="5400000">
            <a:off x="6007999" y="4809571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</a:t>
            </a:r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5217A8D9-0799-91F1-9ED6-84D5B3975644}"/>
              </a:ext>
            </a:extLst>
          </p:cNvPr>
          <p:cNvSpPr txBox="1"/>
          <p:nvPr/>
        </p:nvSpPr>
        <p:spPr>
          <a:xfrm>
            <a:off x="2995196" y="3018209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F1ABC56-BCF1-57F4-BE3E-4166D5F97E14}"/>
              </a:ext>
            </a:extLst>
          </p:cNvPr>
          <p:cNvSpPr txBox="1"/>
          <p:nvPr/>
        </p:nvSpPr>
        <p:spPr>
          <a:xfrm>
            <a:off x="6982091" y="2986310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I’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D9F65592-5654-3711-2EF2-CC52F16E3576}"/>
              </a:ext>
            </a:extLst>
          </p:cNvPr>
          <p:cNvSpPr txBox="1"/>
          <p:nvPr/>
        </p:nvSpPr>
        <p:spPr>
          <a:xfrm>
            <a:off x="6982090" y="5327356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77F8D92-982D-7028-C950-1952EC387F46}"/>
              </a:ext>
            </a:extLst>
          </p:cNvPr>
          <p:cNvSpPr txBox="1"/>
          <p:nvPr/>
        </p:nvSpPr>
        <p:spPr>
          <a:xfrm>
            <a:off x="653237" y="3387541"/>
            <a:ext cx="1503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Image de test </a:t>
            </a:r>
            <a:r>
              <a:rPr lang="fr-FR" b="1" dirty="0">
                <a:cs typeface="Cascadia Code" panose="020B0609020000020004" pitchFamily="49" charset="0"/>
              </a:rPr>
              <a:t>source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0C6894F1-5F2C-C4B0-0626-73A50A925E6E}"/>
              </a:ext>
            </a:extLst>
          </p:cNvPr>
          <p:cNvSpPr txBox="1"/>
          <p:nvPr/>
        </p:nvSpPr>
        <p:spPr>
          <a:xfrm>
            <a:off x="4496788" y="5720002"/>
            <a:ext cx="1785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Image de test </a:t>
            </a:r>
            <a:r>
              <a:rPr lang="fr-FR" b="1" dirty="0">
                <a:cs typeface="Cascadia Code" panose="020B0609020000020004" pitchFamily="49" charset="0"/>
              </a:rPr>
              <a:t>obscurée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9C11EF5-F66A-2051-B6B1-65A0BFE2D6D6}"/>
              </a:ext>
            </a:extLst>
          </p:cNvPr>
          <p:cNvSpPr txBox="1"/>
          <p:nvPr/>
        </p:nvSpPr>
        <p:spPr>
          <a:xfrm>
            <a:off x="9938282" y="3380671"/>
            <a:ext cx="1503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Image de test </a:t>
            </a:r>
            <a:r>
              <a:rPr lang="fr-FR" b="1" dirty="0">
                <a:cs typeface="Cascadia Code" panose="020B0609020000020004" pitchFamily="49" charset="0"/>
              </a:rPr>
              <a:t>reconstruite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433C81C3-8F23-12E9-1EC1-1A531A46F170}"/>
              </a:ext>
            </a:extLst>
          </p:cNvPr>
          <p:cNvCxnSpPr>
            <a:stCxn id="2" idx="3"/>
            <a:endCxn id="10" idx="2"/>
          </p:cNvCxnSpPr>
          <p:nvPr/>
        </p:nvCxnSpPr>
        <p:spPr>
          <a:xfrm flipV="1">
            <a:off x="2068755" y="2722970"/>
            <a:ext cx="369939" cy="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8A33B1A1-2D93-B1C0-255E-DF3205015277}"/>
              </a:ext>
            </a:extLst>
          </p:cNvPr>
          <p:cNvCxnSpPr>
            <a:stCxn id="10" idx="0"/>
            <a:endCxn id="15" idx="1"/>
          </p:cNvCxnSpPr>
          <p:nvPr/>
        </p:nvCxnSpPr>
        <p:spPr>
          <a:xfrm flipV="1">
            <a:off x="2933993" y="2722969"/>
            <a:ext cx="36748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B1078E6-0E18-EBBE-A478-337E260AF56A}"/>
              </a:ext>
            </a:extLst>
          </p:cNvPr>
          <p:cNvCxnSpPr>
            <a:stCxn id="15" idx="3"/>
            <a:endCxn id="13" idx="0"/>
          </p:cNvCxnSpPr>
          <p:nvPr/>
        </p:nvCxnSpPr>
        <p:spPr>
          <a:xfrm>
            <a:off x="3488205" y="2722969"/>
            <a:ext cx="3723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D3C113B6-8502-EA87-F366-65F56579D897}"/>
              </a:ext>
            </a:extLst>
          </p:cNvPr>
          <p:cNvCxnSpPr>
            <a:stCxn id="13" idx="2"/>
            <a:endCxn id="16" idx="1"/>
          </p:cNvCxnSpPr>
          <p:nvPr/>
        </p:nvCxnSpPr>
        <p:spPr>
          <a:xfrm flipV="1">
            <a:off x="4355901" y="2716994"/>
            <a:ext cx="369939" cy="59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2A4B8B5D-2791-52EE-CE24-EEBB99AF558F}"/>
              </a:ext>
            </a:extLst>
          </p:cNvPr>
          <p:cNvCxnSpPr>
            <a:stCxn id="16" idx="3"/>
            <a:endCxn id="17" idx="2"/>
          </p:cNvCxnSpPr>
          <p:nvPr/>
        </p:nvCxnSpPr>
        <p:spPr>
          <a:xfrm flipV="1">
            <a:off x="6053195" y="2711018"/>
            <a:ext cx="369939" cy="5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961553D2-94A8-6E74-3985-D8CE76537539}"/>
              </a:ext>
            </a:extLst>
          </p:cNvPr>
          <p:cNvCxnSpPr>
            <a:stCxn id="17" idx="0"/>
            <a:endCxn id="21" idx="1"/>
          </p:cNvCxnSpPr>
          <p:nvPr/>
        </p:nvCxnSpPr>
        <p:spPr>
          <a:xfrm flipV="1">
            <a:off x="6918433" y="2711017"/>
            <a:ext cx="3699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85E64A5-CA9E-5575-E893-448D3AD9FBFE}"/>
              </a:ext>
            </a:extLst>
          </p:cNvPr>
          <p:cNvCxnSpPr>
            <a:stCxn id="21" idx="3"/>
            <a:endCxn id="22" idx="0"/>
          </p:cNvCxnSpPr>
          <p:nvPr/>
        </p:nvCxnSpPr>
        <p:spPr>
          <a:xfrm>
            <a:off x="7475100" y="2711017"/>
            <a:ext cx="1681073" cy="6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8C99C646-3D3A-4313-D4CE-28301446916D}"/>
              </a:ext>
            </a:extLst>
          </p:cNvPr>
          <p:cNvCxnSpPr>
            <a:stCxn id="22" idx="2"/>
            <a:endCxn id="23" idx="1"/>
          </p:cNvCxnSpPr>
          <p:nvPr/>
        </p:nvCxnSpPr>
        <p:spPr>
          <a:xfrm flipV="1">
            <a:off x="9651472" y="2710122"/>
            <a:ext cx="374973" cy="7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29B82F12-E71A-316C-EEF4-D65B478EC1E1}"/>
              </a:ext>
            </a:extLst>
          </p:cNvPr>
          <p:cNvCxnSpPr>
            <a:cxnSpLocks/>
          </p:cNvCxnSpPr>
          <p:nvPr/>
        </p:nvCxnSpPr>
        <p:spPr>
          <a:xfrm>
            <a:off x="8249265" y="2723864"/>
            <a:ext cx="0" cy="23342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D135C4ED-9101-59BC-7204-ABD3B80CCC2B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7475099" y="5058116"/>
            <a:ext cx="7741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53F368E3-B3CF-6BC7-242D-8ED8E02C4F83}"/>
              </a:ext>
            </a:extLst>
          </p:cNvPr>
          <p:cNvCxnSpPr>
            <a:stCxn id="20" idx="1"/>
            <a:endCxn id="24" idx="0"/>
          </p:cNvCxnSpPr>
          <p:nvPr/>
        </p:nvCxnSpPr>
        <p:spPr>
          <a:xfrm flipH="1" flipV="1">
            <a:off x="6918430" y="5057221"/>
            <a:ext cx="369938" cy="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E0328EDF-1357-6C4D-1DBB-794ABC936806}"/>
              </a:ext>
            </a:extLst>
          </p:cNvPr>
          <p:cNvCxnSpPr>
            <a:stCxn id="24" idx="2"/>
            <a:endCxn id="18" idx="3"/>
          </p:cNvCxnSpPr>
          <p:nvPr/>
        </p:nvCxnSpPr>
        <p:spPr>
          <a:xfrm flipH="1">
            <a:off x="6053194" y="5057221"/>
            <a:ext cx="369937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EBA52D2C-4517-6654-9DE6-B37C0FBB416C}"/>
              </a:ext>
            </a:extLst>
          </p:cNvPr>
          <p:cNvSpPr txBox="1"/>
          <p:nvPr/>
        </p:nvSpPr>
        <p:spPr>
          <a:xfrm>
            <a:off x="8249265" y="3704681"/>
            <a:ext cx="1586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cs typeface="Cascadia Code" panose="020B0609020000020004" pitchFamily="49" charset="0"/>
              </a:rPr>
              <a:t>Translation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490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0705-6276-88EC-DEE9-8B1861705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F3D12FE-D133-0DAE-97D1-BF229C13E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Calcul des vecteurs de translation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9A6014-799D-3D94-4F8B-AA3F61714D05}"/>
              </a:ext>
            </a:extLst>
          </p:cNvPr>
          <p:cNvSpPr/>
          <p:nvPr/>
        </p:nvSpPr>
        <p:spPr>
          <a:xfrm>
            <a:off x="741400" y="2060186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fr-FR" sz="3600" baseline="30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endParaRPr lang="fr-FR" sz="3600" baseline="-25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rapèze 9">
            <a:extLst>
              <a:ext uri="{FF2B5EF4-FFF2-40B4-BE49-F238E27FC236}">
                <a16:creationId xmlns:a16="http://schemas.microsoft.com/office/drawing/2014/main" id="{01D65206-36FD-72D1-9D6F-AC2A5DC1960B}"/>
              </a:ext>
            </a:extLst>
          </p:cNvPr>
          <p:cNvSpPr/>
          <p:nvPr/>
        </p:nvSpPr>
        <p:spPr>
          <a:xfrm rot="5400000">
            <a:off x="2023562" y="2475320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</a:t>
            </a:r>
            <a:endParaRPr lang="fr-FR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39A186-8EAF-5B81-6D17-FB4C5970D96F}"/>
              </a:ext>
            </a:extLst>
          </p:cNvPr>
          <p:cNvSpPr/>
          <p:nvPr/>
        </p:nvSpPr>
        <p:spPr>
          <a:xfrm>
            <a:off x="3301474" y="2453729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8DFCC761-DDB5-4FEB-F56E-334058A415AB}"/>
              </a:ext>
            </a:extLst>
          </p:cNvPr>
          <p:cNvSpPr txBox="1"/>
          <p:nvPr/>
        </p:nvSpPr>
        <p:spPr>
          <a:xfrm>
            <a:off x="2995196" y="3018209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fr-FR" baseline="30000" dirty="0"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4F7FA77-3210-2607-8E12-C818A2D22922}"/>
              </a:ext>
            </a:extLst>
          </p:cNvPr>
          <p:cNvSpPr txBox="1"/>
          <p:nvPr/>
        </p:nvSpPr>
        <p:spPr>
          <a:xfrm>
            <a:off x="539754" y="5494792"/>
            <a:ext cx="17306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Image d’entraînement de la classe </a:t>
            </a:r>
            <a:r>
              <a:rPr lang="fr-FR" b="1" dirty="0">
                <a:cs typeface="Cascadia Code" panose="020B0609020000020004" pitchFamily="49" charset="0"/>
              </a:rPr>
              <a:t>c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FA2027-0633-8C8E-95F9-C44FE9A7FD01}"/>
              </a:ext>
            </a:extLst>
          </p:cNvPr>
          <p:cNvSpPr/>
          <p:nvPr/>
        </p:nvSpPr>
        <p:spPr>
          <a:xfrm>
            <a:off x="741399" y="4169229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fr-FR" sz="3600" baseline="30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</a:t>
            </a:r>
            <a:endParaRPr lang="fr-FR" sz="36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rapèze 4">
            <a:extLst>
              <a:ext uri="{FF2B5EF4-FFF2-40B4-BE49-F238E27FC236}">
                <a16:creationId xmlns:a16="http://schemas.microsoft.com/office/drawing/2014/main" id="{E6A91BC8-D7D1-4F71-2E75-6C63EED98F54}"/>
              </a:ext>
            </a:extLst>
          </p:cNvPr>
          <p:cNvSpPr/>
          <p:nvPr/>
        </p:nvSpPr>
        <p:spPr>
          <a:xfrm rot="5400000">
            <a:off x="2023562" y="4584361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</a:t>
            </a: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12DD8C-C301-583A-4725-49D9A48BE749}"/>
              </a:ext>
            </a:extLst>
          </p:cNvPr>
          <p:cNvSpPr/>
          <p:nvPr/>
        </p:nvSpPr>
        <p:spPr>
          <a:xfrm>
            <a:off x="3301474" y="4562770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DF62661-909D-B082-035D-4323BF24609D}"/>
              </a:ext>
            </a:extLst>
          </p:cNvPr>
          <p:cNvSpPr txBox="1"/>
          <p:nvPr/>
        </p:nvSpPr>
        <p:spPr>
          <a:xfrm>
            <a:off x="2995196" y="5101250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fr-FR" baseline="30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</a:t>
            </a:r>
            <a:endParaRPr lang="fr-FR" baseline="30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387AA0-717F-D4E3-5139-744A4B864680}"/>
              </a:ext>
            </a:extLst>
          </p:cNvPr>
          <p:cNvSpPr/>
          <p:nvPr/>
        </p:nvSpPr>
        <p:spPr>
          <a:xfrm>
            <a:off x="4512539" y="2451939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1BD1A9D-099C-9859-DC2D-47F7F1BFFDFC}"/>
              </a:ext>
            </a:extLst>
          </p:cNvPr>
          <p:cNvSpPr txBox="1"/>
          <p:nvPr/>
        </p:nvSpPr>
        <p:spPr>
          <a:xfrm>
            <a:off x="4206261" y="2986149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endParaRPr lang="fr-FR" baseline="30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rapèze 18">
            <a:extLst>
              <a:ext uri="{FF2B5EF4-FFF2-40B4-BE49-F238E27FC236}">
                <a16:creationId xmlns:a16="http://schemas.microsoft.com/office/drawing/2014/main" id="{D3F9F45E-33B6-F967-A981-A72D1391EE10}"/>
              </a:ext>
            </a:extLst>
          </p:cNvPr>
          <p:cNvSpPr/>
          <p:nvPr/>
        </p:nvSpPr>
        <p:spPr>
          <a:xfrm rot="16200000">
            <a:off x="4649042" y="2473529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</a:t>
            </a:r>
            <a:endParaRPr lang="fr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7FF9003-AF65-F817-CBF1-5647E93205D5}"/>
              </a:ext>
            </a:extLst>
          </p:cNvPr>
          <p:cNvSpPr/>
          <p:nvPr/>
        </p:nvSpPr>
        <p:spPr>
          <a:xfrm>
            <a:off x="5932983" y="2058396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endParaRPr lang="fr-FR" sz="3600" baseline="-25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E8A659A-F76B-49D0-BF48-487907C60D54}"/>
              </a:ext>
            </a:extLst>
          </p:cNvPr>
          <p:cNvSpPr txBox="1"/>
          <p:nvPr/>
        </p:nvSpPr>
        <p:spPr>
          <a:xfrm>
            <a:off x="5844820" y="3383960"/>
            <a:ext cx="1503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Prototype</a:t>
            </a:r>
          </a:p>
          <a:p>
            <a:pPr algn="ctr"/>
            <a:r>
              <a:rPr lang="fr-FR" dirty="0">
                <a:cs typeface="Cascadia Code" panose="020B0609020000020004" pitchFamily="49" charset="0"/>
              </a:rPr>
              <a:t>classe </a:t>
            </a:r>
            <a:r>
              <a:rPr lang="fr-FR" b="1" dirty="0">
                <a:cs typeface="Cascadia Code" panose="020B0609020000020004" pitchFamily="49" charset="0"/>
              </a:rPr>
              <a:t>c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7DAE5E-0528-1A1E-6A75-4062B157FAFD}"/>
              </a:ext>
            </a:extLst>
          </p:cNvPr>
          <p:cNvSpPr/>
          <p:nvPr/>
        </p:nvSpPr>
        <p:spPr>
          <a:xfrm>
            <a:off x="9796036" y="2451939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CBC9AA78-8CBD-84A4-F447-DCA016A152ED}"/>
              </a:ext>
            </a:extLst>
          </p:cNvPr>
          <p:cNvSpPr txBox="1"/>
          <p:nvPr/>
        </p:nvSpPr>
        <p:spPr>
          <a:xfrm>
            <a:off x="9489758" y="2986149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c2</a:t>
            </a:r>
            <a:endParaRPr lang="fr-FR" baseline="30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485C50-1925-3A81-5148-FA3F39C2D72F}"/>
              </a:ext>
            </a:extLst>
          </p:cNvPr>
          <p:cNvSpPr/>
          <p:nvPr/>
        </p:nvSpPr>
        <p:spPr>
          <a:xfrm>
            <a:off x="10958890" y="2451939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750CB13-9DFB-98B2-2AD5-355E713E4F82}"/>
              </a:ext>
            </a:extLst>
          </p:cNvPr>
          <p:cNvSpPr txBox="1"/>
          <p:nvPr/>
        </p:nvSpPr>
        <p:spPr>
          <a:xfrm>
            <a:off x="10652612" y="2986149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c1</a:t>
            </a:r>
            <a:endParaRPr lang="fr-FR" baseline="30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B82AC6-A5DB-C795-9FF9-CC7048A43EA7}"/>
              </a:ext>
            </a:extLst>
          </p:cNvPr>
          <p:cNvSpPr/>
          <p:nvPr/>
        </p:nvSpPr>
        <p:spPr>
          <a:xfrm>
            <a:off x="8632959" y="2451939"/>
            <a:ext cx="186731" cy="5384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95CD63D-6845-56A2-DF4E-DF37E3D261DF}"/>
              </a:ext>
            </a:extLst>
          </p:cNvPr>
          <p:cNvCxnSpPr/>
          <p:nvPr/>
        </p:nvCxnSpPr>
        <p:spPr>
          <a:xfrm flipV="1">
            <a:off x="7640320" y="1521002"/>
            <a:ext cx="0" cy="4897120"/>
          </a:xfrm>
          <a:prstGeom prst="line">
            <a:avLst/>
          </a:prstGeom>
          <a:ln w="28575"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F0CB8DC5-DE34-AE51-4784-3167151F344F}"/>
              </a:ext>
            </a:extLst>
          </p:cNvPr>
          <p:cNvSpPr txBox="1"/>
          <p:nvPr/>
        </p:nvSpPr>
        <p:spPr>
          <a:xfrm>
            <a:off x="741400" y="1597459"/>
            <a:ext cx="6518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Calcul du centroïde de la classe </a:t>
            </a:r>
            <a:r>
              <a:rPr lang="fr-FR" b="1" dirty="0"/>
              <a:t>c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DFD8F35-6043-CFEA-72E2-41433F03E148}"/>
              </a:ext>
            </a:extLst>
          </p:cNvPr>
          <p:cNvSpPr txBox="1"/>
          <p:nvPr/>
        </p:nvSpPr>
        <p:spPr>
          <a:xfrm>
            <a:off x="8177505" y="1561004"/>
            <a:ext cx="3368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Calcul de la translation entre les classes </a:t>
            </a:r>
            <a:r>
              <a:rPr lang="fr-FR" b="1" dirty="0"/>
              <a:t>c</a:t>
            </a:r>
            <a:r>
              <a:rPr lang="fr-FR" b="1" baseline="-25000" dirty="0"/>
              <a:t>1</a:t>
            </a:r>
            <a:r>
              <a:rPr lang="fr-FR" dirty="0"/>
              <a:t> et </a:t>
            </a:r>
            <a:r>
              <a:rPr lang="fr-FR" b="1" dirty="0"/>
              <a:t>c</a:t>
            </a:r>
            <a:r>
              <a:rPr lang="fr-FR" b="1" baseline="-25000" dirty="0"/>
              <a:t>2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75C76961-8FA2-9261-106E-218BAD52965A}"/>
              </a:ext>
            </a:extLst>
          </p:cNvPr>
          <p:cNvSpPr txBox="1"/>
          <p:nvPr/>
        </p:nvSpPr>
        <p:spPr>
          <a:xfrm>
            <a:off x="8284374" y="2986149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c1→c2</a:t>
            </a:r>
            <a:endParaRPr lang="fr-FR" baseline="30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Est égal à 46">
            <a:extLst>
              <a:ext uri="{FF2B5EF4-FFF2-40B4-BE49-F238E27FC236}">
                <a16:creationId xmlns:a16="http://schemas.microsoft.com/office/drawing/2014/main" id="{19E2A679-193F-901A-F3FC-6DFB6D0C82AA}"/>
              </a:ext>
            </a:extLst>
          </p:cNvPr>
          <p:cNvSpPr/>
          <p:nvPr/>
        </p:nvSpPr>
        <p:spPr>
          <a:xfrm>
            <a:off x="9086667" y="2487271"/>
            <a:ext cx="445400" cy="463546"/>
          </a:xfrm>
          <a:prstGeom prst="mathEqual">
            <a:avLst>
              <a:gd name="adj1" fmla="val 12561"/>
              <a:gd name="adj2" fmla="val 1176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9" name="Signe Moins 48">
            <a:extLst>
              <a:ext uri="{FF2B5EF4-FFF2-40B4-BE49-F238E27FC236}">
                <a16:creationId xmlns:a16="http://schemas.microsoft.com/office/drawing/2014/main" id="{3B43EEB9-0698-CFF2-D3F7-98FDF1F5E8E0}"/>
              </a:ext>
            </a:extLst>
          </p:cNvPr>
          <p:cNvSpPr/>
          <p:nvPr/>
        </p:nvSpPr>
        <p:spPr>
          <a:xfrm>
            <a:off x="10265048" y="2615017"/>
            <a:ext cx="411560" cy="235644"/>
          </a:xfrm>
          <a:prstGeom prst="mathMinus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E73210D-E8E7-1DE8-F19D-6C4421719BDB}"/>
              </a:ext>
            </a:extLst>
          </p:cNvPr>
          <p:cNvSpPr/>
          <p:nvPr/>
        </p:nvSpPr>
        <p:spPr>
          <a:xfrm>
            <a:off x="9272680" y="4169229"/>
            <a:ext cx="186731" cy="5384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33CC834-4081-FA66-9521-9F99F737D6FD}"/>
              </a:ext>
            </a:extLst>
          </p:cNvPr>
          <p:cNvSpPr/>
          <p:nvPr/>
        </p:nvSpPr>
        <p:spPr>
          <a:xfrm>
            <a:off x="10265048" y="4169229"/>
            <a:ext cx="186731" cy="5384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7883FBF6-3183-0C81-B9B3-28EB138B3D18}"/>
              </a:ext>
            </a:extLst>
          </p:cNvPr>
          <p:cNvSpPr txBox="1"/>
          <p:nvPr/>
        </p:nvSpPr>
        <p:spPr>
          <a:xfrm>
            <a:off x="8284374" y="5771791"/>
            <a:ext cx="3368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Matrice de vecteurs de translation</a:t>
            </a:r>
            <a:endParaRPr lang="fr-FR" b="1" baseline="-25000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7437CE6-8CE0-B81D-F0C8-B07AB768332A}"/>
              </a:ext>
            </a:extLst>
          </p:cNvPr>
          <p:cNvSpPr/>
          <p:nvPr/>
        </p:nvSpPr>
        <p:spPr>
          <a:xfrm>
            <a:off x="9272680" y="5128465"/>
            <a:ext cx="186731" cy="5384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1CB23EC0-2E9C-7E82-5112-EF3D2BE07DDC}"/>
              </a:ext>
            </a:extLst>
          </p:cNvPr>
          <p:cNvSpPr txBox="1"/>
          <p:nvPr/>
        </p:nvSpPr>
        <p:spPr>
          <a:xfrm>
            <a:off x="8880098" y="3869739"/>
            <a:ext cx="971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0</a:t>
            </a:r>
            <a:endParaRPr lang="fr-FR" b="1" baseline="-25000" dirty="0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478D12D-A2B3-DE9F-F0A5-32D2D96C43B8}"/>
              </a:ext>
            </a:extLst>
          </p:cNvPr>
          <p:cNvSpPr txBox="1"/>
          <p:nvPr/>
        </p:nvSpPr>
        <p:spPr>
          <a:xfrm>
            <a:off x="9872466" y="3869739"/>
            <a:ext cx="971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9</a:t>
            </a:r>
            <a:endParaRPr lang="fr-FR" b="1" baseline="-25000" dirty="0"/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2B672E20-70E5-6120-25AC-8FEB11B3023E}"/>
              </a:ext>
            </a:extLst>
          </p:cNvPr>
          <p:cNvSpPr txBox="1"/>
          <p:nvPr/>
        </p:nvSpPr>
        <p:spPr>
          <a:xfrm>
            <a:off x="8300787" y="4253803"/>
            <a:ext cx="971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0</a:t>
            </a:r>
            <a:endParaRPr lang="fr-FR" b="1" baseline="-25000" dirty="0"/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FB1284C-52EF-BFB1-A437-B2465B54D781}"/>
              </a:ext>
            </a:extLst>
          </p:cNvPr>
          <p:cNvSpPr txBox="1"/>
          <p:nvPr/>
        </p:nvSpPr>
        <p:spPr>
          <a:xfrm>
            <a:off x="8300787" y="5222063"/>
            <a:ext cx="971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9</a:t>
            </a:r>
            <a:endParaRPr lang="fr-FR" b="1" baseline="-25000" dirty="0"/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E02FF217-BEEE-C1F0-BC90-3F531B84828D}"/>
              </a:ext>
            </a:extLst>
          </p:cNvPr>
          <p:cNvSpPr txBox="1"/>
          <p:nvPr/>
        </p:nvSpPr>
        <p:spPr>
          <a:xfrm>
            <a:off x="8188196" y="3710853"/>
            <a:ext cx="3368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Source</a:t>
            </a:r>
            <a:endParaRPr lang="fr-FR" b="1" baseline="-25000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00B37DE7-368E-81C8-4C4A-3A7B5BD75C3F}"/>
              </a:ext>
            </a:extLst>
          </p:cNvPr>
          <p:cNvSpPr txBox="1"/>
          <p:nvPr/>
        </p:nvSpPr>
        <p:spPr>
          <a:xfrm>
            <a:off x="8742392" y="4304157"/>
            <a:ext cx="400110" cy="11906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fr-FR" sz="1400" dirty="0"/>
              <a:t>Cible</a:t>
            </a:r>
            <a:endParaRPr lang="fr-FR" b="1" baseline="-25000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0442A8F4-08C5-5007-A878-B1AFFF6E66D6}"/>
              </a:ext>
            </a:extLst>
          </p:cNvPr>
          <p:cNvSpPr txBox="1"/>
          <p:nvPr/>
        </p:nvSpPr>
        <p:spPr>
          <a:xfrm>
            <a:off x="9398839" y="3808107"/>
            <a:ext cx="971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…</a:t>
            </a:r>
            <a:endParaRPr lang="fr-FR" b="1" baseline="-25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FD3B1D1E-2154-5F0C-5C43-C82565501D1C}"/>
              </a:ext>
            </a:extLst>
          </p:cNvPr>
          <p:cNvSpPr txBox="1"/>
          <p:nvPr/>
        </p:nvSpPr>
        <p:spPr>
          <a:xfrm>
            <a:off x="8835319" y="4489062"/>
            <a:ext cx="461665" cy="79808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…</a:t>
            </a:r>
            <a:endParaRPr lang="fr-FR" b="1" baseline="-25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9" name="Accolade fermante 68">
            <a:extLst>
              <a:ext uri="{FF2B5EF4-FFF2-40B4-BE49-F238E27FC236}">
                <a16:creationId xmlns:a16="http://schemas.microsoft.com/office/drawing/2014/main" id="{498D0C89-2860-C597-4C0D-A5029470976E}"/>
              </a:ext>
            </a:extLst>
          </p:cNvPr>
          <p:cNvSpPr/>
          <p:nvPr/>
        </p:nvSpPr>
        <p:spPr>
          <a:xfrm rot="5400000">
            <a:off x="9719790" y="1890922"/>
            <a:ext cx="338346" cy="3314164"/>
          </a:xfrm>
          <a:prstGeom prst="rightBrace">
            <a:avLst>
              <a:gd name="adj1" fmla="val 74920"/>
              <a:gd name="adj2" fmla="val 50000"/>
            </a:avLst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974485F-93EB-FDD2-D16B-4C99C7403DAD}"/>
              </a:ext>
            </a:extLst>
          </p:cNvPr>
          <p:cNvSpPr txBox="1"/>
          <p:nvPr/>
        </p:nvSpPr>
        <p:spPr>
          <a:xfrm>
            <a:off x="859997" y="3385751"/>
            <a:ext cx="861774" cy="79808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fr-FR" sz="4400" dirty="0">
                <a:solidFill>
                  <a:schemeClr val="bg1">
                    <a:lumMod val="75000"/>
                  </a:schemeClr>
                </a:solidFill>
              </a:rPr>
              <a:t>…</a:t>
            </a:r>
            <a:endParaRPr lang="fr-FR" sz="4400" b="1" baseline="-250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54274E66-E757-8344-05FF-F13050C6267E}"/>
              </a:ext>
            </a:extLst>
          </p:cNvPr>
          <p:cNvCxnSpPr>
            <a:stCxn id="2" idx="3"/>
            <a:endCxn id="10" idx="2"/>
          </p:cNvCxnSpPr>
          <p:nvPr/>
        </p:nvCxnSpPr>
        <p:spPr>
          <a:xfrm flipV="1">
            <a:off x="2068755" y="2722970"/>
            <a:ext cx="369939" cy="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440BFE01-7779-1551-6A27-D49CEFB7D057}"/>
              </a:ext>
            </a:extLst>
          </p:cNvPr>
          <p:cNvCxnSpPr>
            <a:stCxn id="3" idx="3"/>
            <a:endCxn id="5" idx="2"/>
          </p:cNvCxnSpPr>
          <p:nvPr/>
        </p:nvCxnSpPr>
        <p:spPr>
          <a:xfrm flipV="1">
            <a:off x="2068754" y="4832011"/>
            <a:ext cx="369940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50371AB5-55EF-DE86-ABDD-E15EC3FA63E4}"/>
              </a:ext>
            </a:extLst>
          </p:cNvPr>
          <p:cNvCxnSpPr>
            <a:stCxn id="10" idx="0"/>
            <a:endCxn id="15" idx="1"/>
          </p:cNvCxnSpPr>
          <p:nvPr/>
        </p:nvCxnSpPr>
        <p:spPr>
          <a:xfrm flipV="1">
            <a:off x="2933993" y="2722969"/>
            <a:ext cx="36748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D269ACFA-E152-83B7-B7C4-DD2A60A74B8D}"/>
              </a:ext>
            </a:extLst>
          </p:cNvPr>
          <p:cNvCxnSpPr>
            <a:stCxn id="15" idx="3"/>
            <a:endCxn id="9" idx="1"/>
          </p:cNvCxnSpPr>
          <p:nvPr/>
        </p:nvCxnSpPr>
        <p:spPr>
          <a:xfrm flipV="1">
            <a:off x="3488205" y="2721179"/>
            <a:ext cx="1024334" cy="17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2E352A91-6FE8-9553-8C1B-2B2D9EE883F0}"/>
              </a:ext>
            </a:extLst>
          </p:cNvPr>
          <p:cNvCxnSpPr>
            <a:stCxn id="9" idx="3"/>
            <a:endCxn id="19" idx="0"/>
          </p:cNvCxnSpPr>
          <p:nvPr/>
        </p:nvCxnSpPr>
        <p:spPr>
          <a:xfrm flipV="1">
            <a:off x="4699270" y="2721178"/>
            <a:ext cx="36490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7F133ECE-B0D4-C9A4-9790-CF2B5385FC4A}"/>
              </a:ext>
            </a:extLst>
          </p:cNvPr>
          <p:cNvCxnSpPr>
            <a:stCxn id="19" idx="2"/>
            <a:endCxn id="25" idx="1"/>
          </p:cNvCxnSpPr>
          <p:nvPr/>
        </p:nvCxnSpPr>
        <p:spPr>
          <a:xfrm>
            <a:off x="5559473" y="2721178"/>
            <a:ext cx="373510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FCF9B2A8-999D-DDAB-429A-DAAF05898217}"/>
              </a:ext>
            </a:extLst>
          </p:cNvPr>
          <p:cNvCxnSpPr>
            <a:stCxn id="5" idx="0"/>
            <a:endCxn id="6" idx="1"/>
          </p:cNvCxnSpPr>
          <p:nvPr/>
        </p:nvCxnSpPr>
        <p:spPr>
          <a:xfrm flipV="1">
            <a:off x="2933993" y="4832010"/>
            <a:ext cx="36748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7CFF27E-3F36-5823-10F0-609045639068}"/>
              </a:ext>
            </a:extLst>
          </p:cNvPr>
          <p:cNvCxnSpPr/>
          <p:nvPr/>
        </p:nvCxnSpPr>
        <p:spPr>
          <a:xfrm>
            <a:off x="3982065" y="2721178"/>
            <a:ext cx="0" cy="21108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2FBA79EA-39C4-9E27-329F-DF3F4ECDE9CE}"/>
              </a:ext>
            </a:extLst>
          </p:cNvPr>
          <p:cNvCxnSpPr>
            <a:stCxn id="6" idx="3"/>
          </p:cNvCxnSpPr>
          <p:nvPr/>
        </p:nvCxnSpPr>
        <p:spPr>
          <a:xfrm>
            <a:off x="3488205" y="4832010"/>
            <a:ext cx="4938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ZoneTexte 47">
            <a:extLst>
              <a:ext uri="{FF2B5EF4-FFF2-40B4-BE49-F238E27FC236}">
                <a16:creationId xmlns:a16="http://schemas.microsoft.com/office/drawing/2014/main" id="{E5B4AD4F-D79F-D05A-B6E8-F652BF4F5516}"/>
              </a:ext>
            </a:extLst>
          </p:cNvPr>
          <p:cNvSpPr txBox="1"/>
          <p:nvPr/>
        </p:nvSpPr>
        <p:spPr>
          <a:xfrm>
            <a:off x="3995383" y="3730269"/>
            <a:ext cx="1586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cs typeface="Cascadia Code" panose="020B0609020000020004" pitchFamily="49" charset="0"/>
              </a:rPr>
              <a:t>Moyenne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1859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BF989-4206-90BF-42C3-72869CF52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EA6BC3AC-DBAD-BD50-75E6-60BC3975B9D9}"/>
              </a:ext>
            </a:extLst>
          </p:cNvPr>
          <p:cNvSpPr/>
          <p:nvPr/>
        </p:nvSpPr>
        <p:spPr>
          <a:xfrm rot="851835">
            <a:off x="1223788" y="1961008"/>
            <a:ext cx="2880852" cy="177963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6FAB013B-8A66-3BB4-9565-E8A77C5BC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Obscuration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FD3863B-7078-99DE-C3A1-6E894654686A}"/>
              </a:ext>
            </a:extLst>
          </p:cNvPr>
          <p:cNvSpPr/>
          <p:nvPr/>
        </p:nvSpPr>
        <p:spPr>
          <a:xfrm rot="20017351">
            <a:off x="2366539" y="3918203"/>
            <a:ext cx="2317936" cy="22085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713FB6E-D216-DE82-BDBF-D88043322479}"/>
              </a:ext>
            </a:extLst>
          </p:cNvPr>
          <p:cNvSpPr/>
          <p:nvPr/>
        </p:nvSpPr>
        <p:spPr>
          <a:xfrm rot="3925294">
            <a:off x="3707203" y="2934261"/>
            <a:ext cx="3811777" cy="167663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27DB15EF-0CB8-6A5C-CB80-42D631F60696}"/>
              </a:ext>
            </a:extLst>
          </p:cNvPr>
          <p:cNvSpPr/>
          <p:nvPr/>
        </p:nvSpPr>
        <p:spPr>
          <a:xfrm>
            <a:off x="2582402" y="2776161"/>
            <a:ext cx="163624" cy="16362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D76CDD7E-C003-3222-7DF4-890E5A4A31DE}"/>
              </a:ext>
            </a:extLst>
          </p:cNvPr>
          <p:cNvSpPr/>
          <p:nvPr/>
        </p:nvSpPr>
        <p:spPr>
          <a:xfrm>
            <a:off x="5531279" y="3726426"/>
            <a:ext cx="163624" cy="16362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A9AA5D1C-A857-D4F3-69CB-DBBFDCDD30AC}"/>
              </a:ext>
            </a:extLst>
          </p:cNvPr>
          <p:cNvSpPr/>
          <p:nvPr/>
        </p:nvSpPr>
        <p:spPr>
          <a:xfrm>
            <a:off x="3443695" y="4966584"/>
            <a:ext cx="163624" cy="16362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8ECD9570-14F4-328A-E1A2-6E02DA632C89}"/>
              </a:ext>
            </a:extLst>
          </p:cNvPr>
          <p:cNvCxnSpPr>
            <a:cxnSpLocks/>
          </p:cNvCxnSpPr>
          <p:nvPr/>
        </p:nvCxnSpPr>
        <p:spPr>
          <a:xfrm>
            <a:off x="2664214" y="2863129"/>
            <a:ext cx="2952873" cy="953921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igne de multiplication 23">
            <a:extLst>
              <a:ext uri="{FF2B5EF4-FFF2-40B4-BE49-F238E27FC236}">
                <a16:creationId xmlns:a16="http://schemas.microsoft.com/office/drawing/2014/main" id="{08ADFBBF-BA48-953D-8C12-77DCD71352F2}"/>
              </a:ext>
            </a:extLst>
          </p:cNvPr>
          <p:cNvSpPr/>
          <p:nvPr/>
        </p:nvSpPr>
        <p:spPr>
          <a:xfrm>
            <a:off x="5477471" y="4163422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Signe de multiplication 22">
            <a:extLst>
              <a:ext uri="{FF2B5EF4-FFF2-40B4-BE49-F238E27FC236}">
                <a16:creationId xmlns:a16="http://schemas.microsoft.com/office/drawing/2014/main" id="{C7395C17-55B3-89BF-E5D8-EEE8FD36C5AB}"/>
              </a:ext>
            </a:extLst>
          </p:cNvPr>
          <p:cNvSpPr/>
          <p:nvPr/>
        </p:nvSpPr>
        <p:spPr>
          <a:xfrm>
            <a:off x="2528903" y="3215118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8EB061C9-3475-227A-B77F-34BAE34A74AD}"/>
              </a:ext>
            </a:extLst>
          </p:cNvPr>
          <p:cNvCxnSpPr>
            <a:cxnSpLocks/>
          </p:cNvCxnSpPr>
          <p:nvPr/>
        </p:nvCxnSpPr>
        <p:spPr>
          <a:xfrm>
            <a:off x="2647871" y="3332125"/>
            <a:ext cx="2948877" cy="950265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25EDEDF2-E505-DD1E-B05B-C1A5CEE3C3D7}"/>
              </a:ext>
            </a:extLst>
          </p:cNvPr>
          <p:cNvSpPr txBox="1"/>
          <p:nvPr/>
        </p:nvSpPr>
        <p:spPr>
          <a:xfrm>
            <a:off x="3846555" y="3373872"/>
            <a:ext cx="7992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1→3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B809F22-EF81-C273-38AE-74BF7D0A926A}"/>
              </a:ext>
            </a:extLst>
          </p:cNvPr>
          <p:cNvSpPr txBox="1"/>
          <p:nvPr/>
        </p:nvSpPr>
        <p:spPr>
          <a:xfrm>
            <a:off x="2083335" y="2420797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2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D0514675-19A3-D791-EB91-A21C762778BF}"/>
              </a:ext>
            </a:extLst>
          </p:cNvPr>
          <p:cNvSpPr txBox="1"/>
          <p:nvPr/>
        </p:nvSpPr>
        <p:spPr>
          <a:xfrm>
            <a:off x="5403014" y="3415078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C425E6-ACD0-BBD6-6F8F-D17433472BF0}"/>
              </a:ext>
            </a:extLst>
          </p:cNvPr>
          <p:cNvSpPr txBox="1"/>
          <p:nvPr/>
        </p:nvSpPr>
        <p:spPr>
          <a:xfrm>
            <a:off x="3214881" y="5116060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endParaRPr lang="fr-FR" baseline="30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886B0CC6-7553-8A0F-C9E6-F232617A7686}"/>
              </a:ext>
            </a:extLst>
          </p:cNvPr>
          <p:cNvSpPr txBox="1"/>
          <p:nvPr/>
        </p:nvSpPr>
        <p:spPr>
          <a:xfrm>
            <a:off x="1967554" y="2997935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I’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14BD343C-8FEA-E4BB-C7A4-26317A061951}"/>
              </a:ext>
            </a:extLst>
          </p:cNvPr>
          <p:cNvSpPr txBox="1"/>
          <p:nvPr/>
        </p:nvSpPr>
        <p:spPr>
          <a:xfrm>
            <a:off x="5403170" y="4295806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4835114-5DC4-4E9B-046D-E25F23425E59}"/>
              </a:ext>
            </a:extLst>
          </p:cNvPr>
          <p:cNvSpPr txBox="1"/>
          <p:nvPr/>
        </p:nvSpPr>
        <p:spPr>
          <a:xfrm>
            <a:off x="759612" y="3531698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Classe 1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04BC534F-7724-B71E-0CB3-860A3CB07C26}"/>
              </a:ext>
            </a:extLst>
          </p:cNvPr>
          <p:cNvSpPr txBox="1"/>
          <p:nvPr/>
        </p:nvSpPr>
        <p:spPr>
          <a:xfrm>
            <a:off x="5559771" y="5556166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Classe 3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4E1C1BB-DC3B-8639-1650-2CCC649A0A1D}"/>
              </a:ext>
            </a:extLst>
          </p:cNvPr>
          <p:cNvSpPr txBox="1"/>
          <p:nvPr/>
        </p:nvSpPr>
        <p:spPr>
          <a:xfrm>
            <a:off x="2702191" y="6099001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Classe 2</a:t>
            </a:r>
            <a:endParaRPr lang="fr-FR" baseline="30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4215F5E4-74C3-EC66-0128-1821F363B1A2}"/>
              </a:ext>
            </a:extLst>
          </p:cNvPr>
          <p:cNvSpPr txBox="1"/>
          <p:nvPr/>
        </p:nvSpPr>
        <p:spPr>
          <a:xfrm>
            <a:off x="7654297" y="2514129"/>
            <a:ext cx="3473259" cy="260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Formule de la translation de la classe </a:t>
            </a:r>
            <a:r>
              <a:rPr lang="fr-FR" sz="2000" b="1" dirty="0">
                <a:solidFill>
                  <a:schemeClr val="accent2"/>
                </a:solidFill>
              </a:rPr>
              <a:t>1</a:t>
            </a:r>
            <a:r>
              <a:rPr lang="fr-FR" sz="2000" dirty="0"/>
              <a:t> vers la classe </a:t>
            </a:r>
            <a:r>
              <a:rPr lang="fr-FR" sz="2000" b="1" dirty="0">
                <a:solidFill>
                  <a:schemeClr val="accent6"/>
                </a:solidFill>
              </a:rPr>
              <a:t>3</a:t>
            </a:r>
            <a:r>
              <a:rPr lang="fr-FR" sz="2000" dirty="0"/>
              <a:t> :</a:t>
            </a:r>
            <a:endParaRPr lang="fr-FR" sz="2000" b="1" dirty="0"/>
          </a:p>
          <a:p>
            <a:pPr algn="ctr"/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sz="3200" baseline="-25000" dirty="0">
                <a:solidFill>
                  <a:schemeClr val="accent6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V</a:t>
            </a:r>
            <a:r>
              <a:rPr lang="fr-FR" sz="3200" baseline="-25000" dirty="0">
                <a:solidFill>
                  <a:schemeClr val="accent2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I’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+ V</a:t>
            </a:r>
            <a:r>
              <a:rPr lang="fr-FR" sz="3200" baseline="-25000" dirty="0">
                <a:solidFill>
                  <a:schemeClr val="accent2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fr-FR" sz="3200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→</a:t>
            </a:r>
            <a:r>
              <a:rPr lang="fr-FR" sz="3200" baseline="-25000" dirty="0">
                <a:solidFill>
                  <a:schemeClr val="accent6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</a:p>
          <a:p>
            <a:pPr algn="ctr"/>
            <a:endParaRPr lang="fr-FR" sz="2000" baseline="-25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endParaRPr lang="fr-FR" sz="2000" dirty="0"/>
          </a:p>
          <a:p>
            <a:pPr algn="ctr"/>
            <a:r>
              <a:rPr lang="fr-FR" sz="2000" dirty="0"/>
              <a:t>Les classes source et cible sont connues</a:t>
            </a:r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6189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8F895-C4A5-9CCA-0469-9CBD547C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3AECF73-1324-8A8C-AB33-FE62563E9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Pipeline de </a:t>
            </a: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désobscuration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5C4785-4FEF-6E22-46B4-8E52E97B0BF6}"/>
              </a:ext>
            </a:extLst>
          </p:cNvPr>
          <p:cNvSpPr/>
          <p:nvPr/>
        </p:nvSpPr>
        <p:spPr>
          <a:xfrm>
            <a:off x="2000209" y="4392647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428E7A-AE8D-BE79-E344-25E62F176BB6}"/>
              </a:ext>
            </a:extLst>
          </p:cNvPr>
          <p:cNvSpPr/>
          <p:nvPr/>
        </p:nvSpPr>
        <p:spPr>
          <a:xfrm>
            <a:off x="4725840" y="2053316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12" name="Trapèze 11">
            <a:extLst>
              <a:ext uri="{FF2B5EF4-FFF2-40B4-BE49-F238E27FC236}">
                <a16:creationId xmlns:a16="http://schemas.microsoft.com/office/drawing/2014/main" id="{46F6EFC1-6108-82A7-8512-5C9A9B97BEB3}"/>
              </a:ext>
            </a:extLst>
          </p:cNvPr>
          <p:cNvSpPr/>
          <p:nvPr/>
        </p:nvSpPr>
        <p:spPr>
          <a:xfrm rot="5400000">
            <a:off x="6008002" y="2463368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</a:t>
            </a:r>
            <a:endParaRPr lang="fr-F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9C9D7-BB1D-FFB5-EE1B-A6B37E7540B8}"/>
              </a:ext>
            </a:extLst>
          </p:cNvPr>
          <p:cNvSpPr/>
          <p:nvPr/>
        </p:nvSpPr>
        <p:spPr>
          <a:xfrm>
            <a:off x="4725839" y="4394439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Î</a:t>
            </a:r>
            <a:endParaRPr lang="fr-FR" sz="3600" baseline="-25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44CBDF-B724-92F9-FF9C-381CE342D55F}"/>
              </a:ext>
            </a:extLst>
          </p:cNvPr>
          <p:cNvSpPr/>
          <p:nvPr/>
        </p:nvSpPr>
        <p:spPr>
          <a:xfrm>
            <a:off x="7288368" y="4788876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7F856-72DB-1F4A-781B-BE5A457F4B04}"/>
              </a:ext>
            </a:extLst>
          </p:cNvPr>
          <p:cNvSpPr/>
          <p:nvPr/>
        </p:nvSpPr>
        <p:spPr>
          <a:xfrm>
            <a:off x="7288369" y="2441777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Trapèze 25">
            <a:extLst>
              <a:ext uri="{FF2B5EF4-FFF2-40B4-BE49-F238E27FC236}">
                <a16:creationId xmlns:a16="http://schemas.microsoft.com/office/drawing/2014/main" id="{F33A0396-2AD1-6549-6F80-75AB215EB22A}"/>
              </a:ext>
            </a:extLst>
          </p:cNvPr>
          <p:cNvSpPr/>
          <p:nvPr/>
        </p:nvSpPr>
        <p:spPr>
          <a:xfrm rot="16200000">
            <a:off x="8741041" y="2470240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</a:t>
            </a:r>
            <a:endParaRPr lang="fr-FR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B09B6-9AD5-CB10-277B-0357D150E4E9}"/>
              </a:ext>
            </a:extLst>
          </p:cNvPr>
          <p:cNvSpPr/>
          <p:nvPr/>
        </p:nvSpPr>
        <p:spPr>
          <a:xfrm>
            <a:off x="10026445" y="2046444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T’</a:t>
            </a:r>
            <a:endParaRPr lang="fr-FR" sz="36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rapèze 27">
            <a:extLst>
              <a:ext uri="{FF2B5EF4-FFF2-40B4-BE49-F238E27FC236}">
                <a16:creationId xmlns:a16="http://schemas.microsoft.com/office/drawing/2014/main" id="{15259130-DE2C-EE2D-D07C-18ACAAF93CCE}"/>
              </a:ext>
            </a:extLst>
          </p:cNvPr>
          <p:cNvSpPr/>
          <p:nvPr/>
        </p:nvSpPr>
        <p:spPr>
          <a:xfrm rot="5400000">
            <a:off x="6007999" y="4809571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</a:t>
            </a:r>
            <a:endParaRPr lang="fr-FR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0FAF0101-8742-ADD1-5252-84670818F8D2}"/>
              </a:ext>
            </a:extLst>
          </p:cNvPr>
          <p:cNvSpPr txBox="1"/>
          <p:nvPr/>
        </p:nvSpPr>
        <p:spPr>
          <a:xfrm>
            <a:off x="6982091" y="2986310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T’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CC95A55E-CCB8-9B1C-2BA7-4DD4ECD59EC9}"/>
              </a:ext>
            </a:extLst>
          </p:cNvPr>
          <p:cNvSpPr txBox="1"/>
          <p:nvPr/>
        </p:nvSpPr>
        <p:spPr>
          <a:xfrm>
            <a:off x="6982090" y="5327356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  <a:r>
              <a:rPr lang="fr-FR" baseline="30000" dirty="0">
                <a:latin typeface="Cascadia Code" panose="020B0609020000020004" pitchFamily="49" charset="0"/>
                <a:cs typeface="Cascadia Code" panose="020B0609020000020004" pitchFamily="49" charset="0"/>
              </a:rPr>
              <a:t>-1</a:t>
            </a:r>
            <a:endParaRPr lang="fr-FR" baseline="-25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5067D5D0-51AE-F12D-721C-BE35032BC6E4}"/>
              </a:ext>
            </a:extLst>
          </p:cNvPr>
          <p:cNvSpPr txBox="1"/>
          <p:nvPr/>
        </p:nvSpPr>
        <p:spPr>
          <a:xfrm>
            <a:off x="1912045" y="5720002"/>
            <a:ext cx="15036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Image de test </a:t>
            </a:r>
            <a:r>
              <a:rPr lang="fr-FR" b="1" dirty="0">
                <a:cs typeface="Cascadia Code" panose="020B0609020000020004" pitchFamily="49" charset="0"/>
              </a:rPr>
              <a:t>source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0910860E-3B6C-88D4-6184-D9E339B9129F}"/>
              </a:ext>
            </a:extLst>
          </p:cNvPr>
          <p:cNvSpPr txBox="1"/>
          <p:nvPr/>
        </p:nvSpPr>
        <p:spPr>
          <a:xfrm>
            <a:off x="4496788" y="5720002"/>
            <a:ext cx="1785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cs typeface="Cascadia Code" panose="020B0609020000020004" pitchFamily="49" charset="0"/>
              </a:rPr>
              <a:t>Image de test </a:t>
            </a:r>
            <a:r>
              <a:rPr lang="fr-FR" b="1" dirty="0" err="1">
                <a:cs typeface="Cascadia Code" panose="020B0609020000020004" pitchFamily="49" charset="0"/>
              </a:rPr>
              <a:t>désobscurée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0C12E3D-E83B-198C-2F9C-5D014CB2A08F}"/>
              </a:ext>
            </a:extLst>
          </p:cNvPr>
          <p:cNvSpPr txBox="1"/>
          <p:nvPr/>
        </p:nvSpPr>
        <p:spPr>
          <a:xfrm>
            <a:off x="3327564" y="4271494"/>
            <a:ext cx="1398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b="0" i="0" dirty="0">
                <a:solidFill>
                  <a:schemeClr val="bg2">
                    <a:lumMod val="75000"/>
                  </a:schemeClr>
                </a:solidFill>
                <a:effectLst/>
              </a:rPr>
              <a:t>≈</a:t>
            </a:r>
            <a:endParaRPr lang="fr-FR" sz="9600" baseline="-25000" dirty="0">
              <a:solidFill>
                <a:schemeClr val="bg2">
                  <a:lumMod val="75000"/>
                </a:schemeClr>
              </a:solidFill>
              <a:cs typeface="Cascadia Code" panose="020B0609020000020004" pitchFamily="49" charset="0"/>
            </a:endParaRP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25C6EBF-C927-BBFC-65C5-1EB060E03AF1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933700" y="2716994"/>
            <a:ext cx="1792140" cy="0"/>
          </a:xfrm>
          <a:prstGeom prst="straightConnector1">
            <a:avLst/>
          </a:prstGeom>
          <a:ln w="635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C10D2600-5EA0-F99C-F3C4-8D2CD4A09167}"/>
              </a:ext>
            </a:extLst>
          </p:cNvPr>
          <p:cNvCxnSpPr>
            <a:cxnSpLocks/>
          </p:cNvCxnSpPr>
          <p:nvPr/>
        </p:nvCxnSpPr>
        <p:spPr>
          <a:xfrm>
            <a:off x="2518451" y="2716992"/>
            <a:ext cx="415249" cy="0"/>
          </a:xfrm>
          <a:prstGeom prst="line">
            <a:avLst/>
          </a:prstGeom>
          <a:ln w="63500">
            <a:solidFill>
              <a:schemeClr val="accent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ZoneTexte 50">
            <a:extLst>
              <a:ext uri="{FF2B5EF4-FFF2-40B4-BE49-F238E27FC236}">
                <a16:creationId xmlns:a16="http://schemas.microsoft.com/office/drawing/2014/main" id="{E245E774-0E2B-D6A5-DFD5-C7949A5C23F1}"/>
              </a:ext>
            </a:extLst>
          </p:cNvPr>
          <p:cNvSpPr txBox="1"/>
          <p:nvPr/>
        </p:nvSpPr>
        <p:spPr>
          <a:xfrm>
            <a:off x="567896" y="2465353"/>
            <a:ext cx="1946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2400" b="1" dirty="0">
                <a:solidFill>
                  <a:schemeClr val="accent1">
                    <a:lumMod val="75000"/>
                  </a:schemeClr>
                </a:solidFill>
                <a:cs typeface="Cascadia Code" panose="020B0609020000020004" pitchFamily="49" charset="0"/>
              </a:rPr>
              <a:t>Obscuration</a:t>
            </a:r>
            <a:endParaRPr lang="fr-FR" sz="3200" b="1" baseline="-25000" dirty="0">
              <a:solidFill>
                <a:schemeClr val="accent1">
                  <a:lumMod val="75000"/>
                </a:schemeClr>
              </a:solidFill>
              <a:cs typeface="Cascadia Code" panose="020B0609020000020004" pitchFamily="49" charset="0"/>
            </a:endParaRPr>
          </a:p>
        </p:txBody>
      </p: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47AB50F9-1DB5-024D-FF36-F00BE8357520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 flipV="1">
            <a:off x="6053195" y="2711018"/>
            <a:ext cx="369939" cy="5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8E265092-523C-63FB-2F4F-906A0B88B9B2}"/>
              </a:ext>
            </a:extLst>
          </p:cNvPr>
          <p:cNvCxnSpPr>
            <a:cxnSpLocks/>
            <a:stCxn id="12" idx="0"/>
            <a:endCxn id="25" idx="1"/>
          </p:cNvCxnSpPr>
          <p:nvPr/>
        </p:nvCxnSpPr>
        <p:spPr>
          <a:xfrm flipV="1">
            <a:off x="6918433" y="2711017"/>
            <a:ext cx="3699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C95CC553-95B7-1A54-5E16-9D6309D27829}"/>
              </a:ext>
            </a:extLst>
          </p:cNvPr>
          <p:cNvCxnSpPr>
            <a:cxnSpLocks/>
            <a:stCxn id="25" idx="3"/>
            <a:endCxn id="26" idx="0"/>
          </p:cNvCxnSpPr>
          <p:nvPr/>
        </p:nvCxnSpPr>
        <p:spPr>
          <a:xfrm>
            <a:off x="7475100" y="2711017"/>
            <a:ext cx="1681073" cy="6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9718F54D-4DD8-13E3-1026-A4AEE970529D}"/>
              </a:ext>
            </a:extLst>
          </p:cNvPr>
          <p:cNvCxnSpPr>
            <a:cxnSpLocks/>
            <a:stCxn id="26" idx="2"/>
            <a:endCxn id="27" idx="1"/>
          </p:cNvCxnSpPr>
          <p:nvPr/>
        </p:nvCxnSpPr>
        <p:spPr>
          <a:xfrm flipV="1">
            <a:off x="9651472" y="2710122"/>
            <a:ext cx="374973" cy="7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5B617B52-E987-51A6-1A4C-69A435120E3F}"/>
              </a:ext>
            </a:extLst>
          </p:cNvPr>
          <p:cNvCxnSpPr>
            <a:cxnSpLocks/>
            <a:stCxn id="28" idx="2"/>
            <a:endCxn id="14" idx="3"/>
          </p:cNvCxnSpPr>
          <p:nvPr/>
        </p:nvCxnSpPr>
        <p:spPr>
          <a:xfrm flipH="1">
            <a:off x="6053194" y="5057221"/>
            <a:ext cx="369937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403498B3-0909-6B98-1FEF-F2EF34EAFC48}"/>
              </a:ext>
            </a:extLst>
          </p:cNvPr>
          <p:cNvCxnSpPr>
            <a:cxnSpLocks/>
            <a:stCxn id="19" idx="1"/>
            <a:endCxn id="28" idx="0"/>
          </p:cNvCxnSpPr>
          <p:nvPr/>
        </p:nvCxnSpPr>
        <p:spPr>
          <a:xfrm flipH="1" flipV="1">
            <a:off x="6918430" y="5057221"/>
            <a:ext cx="369938" cy="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BC73EDB5-624F-AB8D-547F-91597A6EA732}"/>
              </a:ext>
            </a:extLst>
          </p:cNvPr>
          <p:cNvCxnSpPr>
            <a:cxnSpLocks/>
          </p:cNvCxnSpPr>
          <p:nvPr/>
        </p:nvCxnSpPr>
        <p:spPr>
          <a:xfrm>
            <a:off x="8249265" y="2723864"/>
            <a:ext cx="0" cy="23342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E121EA21-81AA-33DB-27D8-057EFEF6917E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7475099" y="5058116"/>
            <a:ext cx="7741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ZoneTexte 78">
            <a:extLst>
              <a:ext uri="{FF2B5EF4-FFF2-40B4-BE49-F238E27FC236}">
                <a16:creationId xmlns:a16="http://schemas.microsoft.com/office/drawing/2014/main" id="{CBF7F945-4236-967B-D8D3-D9547D28A83A}"/>
              </a:ext>
            </a:extLst>
          </p:cNvPr>
          <p:cNvSpPr txBox="1"/>
          <p:nvPr/>
        </p:nvSpPr>
        <p:spPr>
          <a:xfrm>
            <a:off x="8252245" y="3567824"/>
            <a:ext cx="1586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cs typeface="Cascadia Code" panose="020B0609020000020004" pitchFamily="49" charset="0"/>
              </a:rPr>
              <a:t>Translation inverse</a:t>
            </a:r>
            <a:endParaRPr lang="fr-FR" b="1" baseline="-25000" dirty="0"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684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0672-9294-3BA4-6937-42ADBD63A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E49A6C1D-0E06-F81A-4597-BF9336470399}"/>
              </a:ext>
            </a:extLst>
          </p:cNvPr>
          <p:cNvSpPr/>
          <p:nvPr/>
        </p:nvSpPr>
        <p:spPr>
          <a:xfrm rot="851835">
            <a:off x="1223788" y="1961008"/>
            <a:ext cx="2880852" cy="177963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4114BB71-2283-CA1E-1D57-897E6914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  <a:br>
              <a:rPr lang="fr-FR" dirty="0"/>
            </a:b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Désobscuration</a:t>
            </a:r>
            <a:endParaRPr lang="fr-F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4C0F56D-7545-A838-4DED-7ABB3A05AAE5}"/>
              </a:ext>
            </a:extLst>
          </p:cNvPr>
          <p:cNvSpPr/>
          <p:nvPr/>
        </p:nvSpPr>
        <p:spPr>
          <a:xfrm rot="20017351">
            <a:off x="2366539" y="3918203"/>
            <a:ext cx="2317936" cy="22085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7867FC16-5A9E-97CB-7BE1-1494F7E3E9E2}"/>
              </a:ext>
            </a:extLst>
          </p:cNvPr>
          <p:cNvSpPr/>
          <p:nvPr/>
        </p:nvSpPr>
        <p:spPr>
          <a:xfrm rot="3925294">
            <a:off x="3707203" y="2934261"/>
            <a:ext cx="3811777" cy="167663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E8CD7DA1-AF4E-C21F-A667-7C7C5AB72164}"/>
              </a:ext>
            </a:extLst>
          </p:cNvPr>
          <p:cNvSpPr/>
          <p:nvPr/>
        </p:nvSpPr>
        <p:spPr>
          <a:xfrm>
            <a:off x="2582402" y="2776161"/>
            <a:ext cx="163624" cy="16362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9E61AC6A-B830-4F22-27FF-58CA1C451CC5}"/>
              </a:ext>
            </a:extLst>
          </p:cNvPr>
          <p:cNvSpPr/>
          <p:nvPr/>
        </p:nvSpPr>
        <p:spPr>
          <a:xfrm>
            <a:off x="5531279" y="3726426"/>
            <a:ext cx="163624" cy="16362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5CFCA332-DA57-0214-DD0E-6D8523CD22B5}"/>
              </a:ext>
            </a:extLst>
          </p:cNvPr>
          <p:cNvSpPr/>
          <p:nvPr/>
        </p:nvSpPr>
        <p:spPr>
          <a:xfrm>
            <a:off x="3443695" y="4966584"/>
            <a:ext cx="163624" cy="16362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64E3CADF-4051-38D1-EE88-17651ADA6136}"/>
              </a:ext>
            </a:extLst>
          </p:cNvPr>
          <p:cNvCxnSpPr>
            <a:cxnSpLocks/>
          </p:cNvCxnSpPr>
          <p:nvPr/>
        </p:nvCxnSpPr>
        <p:spPr>
          <a:xfrm>
            <a:off x="2664214" y="2863129"/>
            <a:ext cx="2952873" cy="953921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prstDash val="sys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igne de multiplication 23">
            <a:extLst>
              <a:ext uri="{FF2B5EF4-FFF2-40B4-BE49-F238E27FC236}">
                <a16:creationId xmlns:a16="http://schemas.microsoft.com/office/drawing/2014/main" id="{A0ED5869-F923-4AD8-238C-9D07625F484D}"/>
              </a:ext>
            </a:extLst>
          </p:cNvPr>
          <p:cNvSpPr/>
          <p:nvPr/>
        </p:nvSpPr>
        <p:spPr>
          <a:xfrm>
            <a:off x="5477471" y="4163422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Signe de multiplication 22">
            <a:extLst>
              <a:ext uri="{FF2B5EF4-FFF2-40B4-BE49-F238E27FC236}">
                <a16:creationId xmlns:a16="http://schemas.microsoft.com/office/drawing/2014/main" id="{D1827AA1-F77F-174C-B90B-87561FA336A4}"/>
              </a:ext>
            </a:extLst>
          </p:cNvPr>
          <p:cNvSpPr/>
          <p:nvPr/>
        </p:nvSpPr>
        <p:spPr>
          <a:xfrm>
            <a:off x="2528903" y="3215118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7415CC28-1C3F-D0BF-7886-E53A3E7E2557}"/>
              </a:ext>
            </a:extLst>
          </p:cNvPr>
          <p:cNvCxnSpPr>
            <a:cxnSpLocks/>
          </p:cNvCxnSpPr>
          <p:nvPr/>
        </p:nvCxnSpPr>
        <p:spPr>
          <a:xfrm>
            <a:off x="2647871" y="3332125"/>
            <a:ext cx="2948877" cy="950265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B25A2F27-DF7F-BD8C-67D4-1A2292D82EA4}"/>
              </a:ext>
            </a:extLst>
          </p:cNvPr>
          <p:cNvSpPr txBox="1"/>
          <p:nvPr/>
        </p:nvSpPr>
        <p:spPr>
          <a:xfrm>
            <a:off x="3846555" y="3373872"/>
            <a:ext cx="7992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3→1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BD67D5CF-E54A-B8DB-69E4-E1D03B0210F9}"/>
              </a:ext>
            </a:extLst>
          </p:cNvPr>
          <p:cNvSpPr txBox="1"/>
          <p:nvPr/>
        </p:nvSpPr>
        <p:spPr>
          <a:xfrm>
            <a:off x="2083335" y="2420797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2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2832E343-2CED-DCEF-F72D-6DD91EC1DB04}"/>
              </a:ext>
            </a:extLst>
          </p:cNvPr>
          <p:cNvSpPr txBox="1"/>
          <p:nvPr/>
        </p:nvSpPr>
        <p:spPr>
          <a:xfrm>
            <a:off x="5403014" y="3415078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FE3B8041-29BE-6B9F-B89E-1DEBB3C99446}"/>
              </a:ext>
            </a:extLst>
          </p:cNvPr>
          <p:cNvSpPr txBox="1"/>
          <p:nvPr/>
        </p:nvSpPr>
        <p:spPr>
          <a:xfrm>
            <a:off x="3214881" y="5116060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endParaRPr lang="fr-FR" baseline="30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1C4A0A70-DC15-66C4-D690-154E2017552B}"/>
              </a:ext>
            </a:extLst>
          </p:cNvPr>
          <p:cNvSpPr txBox="1"/>
          <p:nvPr/>
        </p:nvSpPr>
        <p:spPr>
          <a:xfrm>
            <a:off x="1967554" y="2997935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Î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0C4D8A20-F79F-14A7-A7B4-F48EF64979EE}"/>
              </a:ext>
            </a:extLst>
          </p:cNvPr>
          <p:cNvSpPr txBox="1"/>
          <p:nvPr/>
        </p:nvSpPr>
        <p:spPr>
          <a:xfrm>
            <a:off x="5403170" y="4295806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CF497BA-3FCE-0381-C54D-5003EF001EFC}"/>
              </a:ext>
            </a:extLst>
          </p:cNvPr>
          <p:cNvSpPr txBox="1"/>
          <p:nvPr/>
        </p:nvSpPr>
        <p:spPr>
          <a:xfrm>
            <a:off x="759612" y="3531698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Classe 1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A92C6240-0A10-4328-9E26-82A667058679}"/>
              </a:ext>
            </a:extLst>
          </p:cNvPr>
          <p:cNvSpPr txBox="1"/>
          <p:nvPr/>
        </p:nvSpPr>
        <p:spPr>
          <a:xfrm>
            <a:off x="5559771" y="5556166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Classe 3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3D2A3E88-4461-F56D-C75A-DBC0FB0034C4}"/>
              </a:ext>
            </a:extLst>
          </p:cNvPr>
          <p:cNvSpPr txBox="1"/>
          <p:nvPr/>
        </p:nvSpPr>
        <p:spPr>
          <a:xfrm>
            <a:off x="2702191" y="6099001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Classe 2</a:t>
            </a:r>
            <a:endParaRPr lang="fr-FR" baseline="30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2E44DFD-E9AA-7D6C-99E9-BF94675D6F37}"/>
              </a:ext>
            </a:extLst>
          </p:cNvPr>
          <p:cNvSpPr txBox="1"/>
          <p:nvPr/>
        </p:nvSpPr>
        <p:spPr>
          <a:xfrm>
            <a:off x="7472294" y="2514129"/>
            <a:ext cx="4110983" cy="260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Formule de la translation inverse (classe </a:t>
            </a:r>
            <a:r>
              <a:rPr lang="fr-FR" sz="2000" b="1" dirty="0">
                <a:solidFill>
                  <a:schemeClr val="accent6"/>
                </a:solidFill>
              </a:rPr>
              <a:t>3</a:t>
            </a:r>
            <a:r>
              <a:rPr lang="fr-FR" sz="2000" dirty="0"/>
              <a:t> vers la classe </a:t>
            </a:r>
            <a:r>
              <a:rPr lang="fr-FR" sz="2000" b="1" dirty="0">
                <a:solidFill>
                  <a:schemeClr val="accent2"/>
                </a:solidFill>
              </a:rPr>
              <a:t>1</a:t>
            </a:r>
            <a:r>
              <a:rPr lang="fr-FR" sz="2000" dirty="0"/>
              <a:t>) :</a:t>
            </a:r>
            <a:endParaRPr lang="fr-FR" sz="2000" b="1" dirty="0"/>
          </a:p>
          <a:p>
            <a:pPr algn="ctr"/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</a:t>
            </a:r>
            <a:r>
              <a:rPr lang="fr-FR" sz="3200" baseline="-25000" dirty="0">
                <a:solidFill>
                  <a:schemeClr val="accent2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Î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V</a:t>
            </a:r>
            <a:r>
              <a:rPr lang="fr-FR" sz="3200" baseline="-25000" dirty="0">
                <a:solidFill>
                  <a:schemeClr val="accent6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+ V</a:t>
            </a:r>
            <a:r>
              <a:rPr lang="fr-FR" sz="3200" baseline="-25000" dirty="0">
                <a:solidFill>
                  <a:schemeClr val="accent6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fr-FR" sz="3200" baseline="-25000" dirty="0">
                <a:solidFill>
                  <a:schemeClr val="accent1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→</a:t>
            </a:r>
            <a:r>
              <a:rPr lang="fr-FR" sz="3200" baseline="-25000" dirty="0">
                <a:solidFill>
                  <a:schemeClr val="accent2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  <a:p>
            <a:pPr algn="ctr"/>
            <a:endParaRPr lang="fr-FR" sz="2000" baseline="-25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endParaRPr lang="fr-FR" sz="2000" dirty="0"/>
          </a:p>
          <a:p>
            <a:pPr algn="ctr"/>
            <a:r>
              <a:rPr lang="fr-FR" sz="2000" dirty="0"/>
              <a:t>Les classes source et cible sont connues</a:t>
            </a:r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3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CF8B-8B9C-1C4C-4048-3E2F428FC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B81A7F8-10FB-A356-B835-092DBDC51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 de l’obscuration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Classification</a:t>
            </a:r>
            <a:endParaRPr lang="fr-FR" dirty="0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04B81478-E626-3497-7765-9779A382A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65" y="2043321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DB812EC2-0BF1-BD6A-B808-C82C8E7974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043319"/>
            <a:ext cx="3111201" cy="1817780"/>
          </a:xfrm>
          <a:prstGeom prst="rect">
            <a:avLst/>
          </a:prstGeom>
        </p:spPr>
      </p:pic>
      <p:pic>
        <p:nvPicPr>
          <p:cNvPr id="6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FDD1D612-0C41-8330-FCAC-648C4461E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834" y="2043320"/>
            <a:ext cx="3111201" cy="1817779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4AE38404-302E-E1FF-9E8C-E9D723BDBB20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3448166" y="2952209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97DE6B9-4ED3-1688-034C-F18AC30F3F4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51600" y="2952209"/>
            <a:ext cx="1092234" cy="1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059B107D-2B17-2723-3E19-81F1EBA45244}"/>
              </a:ext>
            </a:extLst>
          </p:cNvPr>
          <p:cNvSpPr/>
          <p:nvPr/>
        </p:nvSpPr>
        <p:spPr>
          <a:xfrm>
            <a:off x="336964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D7449BED-3A17-6CEF-189B-D7A53AAAB75F}"/>
              </a:ext>
            </a:extLst>
          </p:cNvPr>
          <p:cNvSpPr/>
          <p:nvPr/>
        </p:nvSpPr>
        <p:spPr>
          <a:xfrm>
            <a:off x="4540399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3" name="Organigramme : Opération manuelle 22">
            <a:extLst>
              <a:ext uri="{FF2B5EF4-FFF2-40B4-BE49-F238E27FC236}">
                <a16:creationId xmlns:a16="http://schemas.microsoft.com/office/drawing/2014/main" id="{D89C4E99-BE03-F09E-4342-21683CAF3BF3}"/>
              </a:ext>
            </a:extLst>
          </p:cNvPr>
          <p:cNvSpPr/>
          <p:nvPr/>
        </p:nvSpPr>
        <p:spPr>
          <a:xfrm>
            <a:off x="8743834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38835E8-1BDA-2089-18D4-423ECF7ABBDA}"/>
              </a:ext>
            </a:extLst>
          </p:cNvPr>
          <p:cNvSpPr txBox="1"/>
          <p:nvPr/>
        </p:nvSpPr>
        <p:spPr>
          <a:xfrm>
            <a:off x="509934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678E2F8-D19D-E55E-08FE-69542C25BB1A}"/>
              </a:ext>
            </a:extLst>
          </p:cNvPr>
          <p:cNvSpPr txBox="1"/>
          <p:nvPr/>
        </p:nvSpPr>
        <p:spPr>
          <a:xfrm>
            <a:off x="8916809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D5F7E9D-4FCE-F996-C77B-26A034D44623}"/>
              </a:ext>
            </a:extLst>
          </p:cNvPr>
          <p:cNvSpPr txBox="1"/>
          <p:nvPr/>
        </p:nvSpPr>
        <p:spPr>
          <a:xfrm>
            <a:off x="4713369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4	1	7</a:t>
            </a:r>
            <a:endParaRPr lang="fr-FR" sz="3600" u="sng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077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15A70-F51A-A3DD-806B-C24B5E3C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89C2B19-0189-B16D-9774-E40E4084F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E65E78-158A-BCDB-F109-B7550E8E1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1341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6C49A-C6F9-B677-4832-DC6F1926A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4A149B1-B6BD-3636-74DA-07679F15B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Dataset</a:t>
            </a:r>
            <a:endParaRPr lang="fr-FR" dirty="0"/>
          </a:p>
        </p:txBody>
      </p:sp>
      <p:pic>
        <p:nvPicPr>
          <p:cNvPr id="2" name="Picture 2" descr="MNIST database - Wikipedia">
            <a:extLst>
              <a:ext uri="{FF2B5EF4-FFF2-40B4-BE49-F238E27FC236}">
                <a16:creationId xmlns:a16="http://schemas.microsoft.com/office/drawing/2014/main" id="{158A396B-2B90-A0E8-1680-67114EB84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3995" y="3645145"/>
            <a:ext cx="5564009" cy="2764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contenu 4">
            <a:extLst>
              <a:ext uri="{FF2B5EF4-FFF2-40B4-BE49-F238E27FC236}">
                <a16:creationId xmlns:a16="http://schemas.microsoft.com/office/drawing/2014/main" id="{345F4B88-D7F4-DE13-380A-97513DC84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0372"/>
            <a:ext cx="10515600" cy="2857255"/>
          </a:xfrm>
        </p:spPr>
        <p:txBody>
          <a:bodyPr/>
          <a:lstStyle/>
          <a:p>
            <a:r>
              <a:rPr lang="fr-FR" dirty="0" err="1"/>
              <a:t>Dataset</a:t>
            </a:r>
            <a:r>
              <a:rPr lang="fr-FR" dirty="0"/>
              <a:t> d’images dessinées </a:t>
            </a:r>
            <a:r>
              <a:rPr lang="fr-FR" b="1" dirty="0"/>
              <a:t>MNIST</a:t>
            </a:r>
          </a:p>
          <a:p>
            <a:r>
              <a:rPr lang="fr-FR" b="1" dirty="0"/>
              <a:t>60 000</a:t>
            </a:r>
            <a:r>
              <a:rPr lang="fr-FR" dirty="0"/>
              <a:t> images d’entraînement</a:t>
            </a:r>
          </a:p>
          <a:p>
            <a:r>
              <a:rPr lang="fr-FR" b="1" dirty="0"/>
              <a:t>10 000</a:t>
            </a:r>
            <a:r>
              <a:rPr lang="fr-FR" dirty="0"/>
              <a:t> images de test</a:t>
            </a:r>
          </a:p>
        </p:txBody>
      </p:sp>
    </p:spTree>
    <p:extLst>
      <p:ext uri="{BB962C8B-B14F-4D97-AF65-F5344CB8AC3E}">
        <p14:creationId xmlns:p14="http://schemas.microsoft.com/office/powerpoint/2010/main" val="210848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6D82E-A0A0-56BC-E9C1-ECEE8BD8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935BD9F-62E9-6D9E-BB8D-11C39B7E2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Modèles</a:t>
            </a:r>
            <a:endParaRPr lang="fr-FR" dirty="0"/>
          </a:p>
        </p:txBody>
      </p:sp>
      <p:pic>
        <p:nvPicPr>
          <p:cNvPr id="2050" name="Picture 2" descr="Model Architecture">
            <a:extLst>
              <a:ext uri="{FF2B5EF4-FFF2-40B4-BE49-F238E27FC236}">
                <a16:creationId xmlns:a16="http://schemas.microsoft.com/office/drawing/2014/main" id="{BE8E17DF-7993-DAAB-9953-EB2271341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97" y="2025296"/>
            <a:ext cx="10635205" cy="2442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180E98E-E274-C067-DFA3-13D53DE00762}"/>
              </a:ext>
            </a:extLst>
          </p:cNvPr>
          <p:cNvSpPr txBox="1"/>
          <p:nvPr/>
        </p:nvSpPr>
        <p:spPr>
          <a:xfrm>
            <a:off x="838200" y="1655964"/>
            <a:ext cx="2511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VAE</a:t>
            </a:r>
            <a:endParaRPr lang="fr-FR" b="1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FAD1C3-24CB-6347-4925-D0285CBA49E7}"/>
              </a:ext>
            </a:extLst>
          </p:cNvPr>
          <p:cNvSpPr txBox="1"/>
          <p:nvPr/>
        </p:nvSpPr>
        <p:spPr>
          <a:xfrm>
            <a:off x="838200" y="4491474"/>
            <a:ext cx="52578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• </a:t>
            </a:r>
            <a:r>
              <a:rPr lang="fr-FR" sz="2000" dirty="0" err="1"/>
              <a:t>Autoencodeur</a:t>
            </a:r>
            <a:r>
              <a:rPr lang="fr-FR" sz="2000" dirty="0"/>
              <a:t> </a:t>
            </a:r>
            <a:r>
              <a:rPr lang="fr-FR" sz="2000" dirty="0" err="1"/>
              <a:t>variationnel</a:t>
            </a:r>
            <a:endParaRPr lang="fr-FR" sz="2000" dirty="0"/>
          </a:p>
          <a:p>
            <a:r>
              <a:rPr lang="fr-FR" sz="2000" dirty="0"/>
              <a:t>• Vecteur latent de taille 128</a:t>
            </a:r>
          </a:p>
          <a:p>
            <a:endParaRPr lang="fr-FR" sz="2800" b="1" dirty="0"/>
          </a:p>
          <a:p>
            <a:r>
              <a:rPr lang="fr-FR" sz="2800" b="1" dirty="0"/>
              <a:t>Classifieur</a:t>
            </a:r>
            <a:endParaRPr lang="fr-FR" b="1" dirty="0"/>
          </a:p>
          <a:p>
            <a:endParaRPr lang="fr-FR" dirty="0"/>
          </a:p>
          <a:p>
            <a:r>
              <a:rPr lang="fr-FR" dirty="0"/>
              <a:t>99,29% de précision</a:t>
            </a:r>
          </a:p>
        </p:txBody>
      </p:sp>
    </p:spTree>
    <p:extLst>
      <p:ext uri="{BB962C8B-B14F-4D97-AF65-F5344CB8AC3E}">
        <p14:creationId xmlns:p14="http://schemas.microsoft.com/office/powerpoint/2010/main" val="334144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9C7D-9190-3285-685A-0835509C9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960F337-5026-B9F6-61D5-BAC92D53A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Obscuration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B41073E-4ED0-C54F-3725-A7C9D8AB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" y="1912415"/>
            <a:ext cx="11868150" cy="10191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744BAF1-BAAB-B62B-2AAF-46C6520DE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5" y="2931590"/>
            <a:ext cx="11868150" cy="9904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77C0B56-5833-E798-BC1D-A0B3C58F3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" y="3950765"/>
            <a:ext cx="11868150" cy="98901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AAD889D-1A6A-E63C-DFC1-A0C4CA94B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925" y="4968493"/>
            <a:ext cx="11868150" cy="99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826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ACEF8-91AA-3115-2DD9-E6EFF2B15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2EB8D0D-8F0A-226B-B93B-59329DD22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Translation des chiffres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8BEDDF2-6315-BF52-AEB9-25E82C996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114" y="1027906"/>
            <a:ext cx="5735527" cy="573552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08DA01C-99C3-C526-22DA-4F389250E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538" y="2220560"/>
            <a:ext cx="823306" cy="374337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8F9146F-C01F-9577-BD1A-0573767EC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59" y="2220941"/>
            <a:ext cx="844106" cy="279387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2FF76F3-277F-3ECD-1067-3F757A44D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6917" y="2220941"/>
            <a:ext cx="820328" cy="279387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5A8BF8B-26EC-711D-F222-A7F138DB8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3329" y="2220560"/>
            <a:ext cx="789717" cy="279387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0492D19-2751-841F-7CE4-112A356B0F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7843" y="2202994"/>
            <a:ext cx="783189" cy="374337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519000F-52B8-CD03-65D4-90CC72B337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246" y="2220560"/>
            <a:ext cx="799192" cy="279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12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98E93-5541-8F5F-E103-BED0A492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CABA81C7-FD76-4316-5FF0-601EF7863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94" y="1027905"/>
            <a:ext cx="5744247" cy="5744247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03AEDAB7-6174-ACF9-07F8-7E7BCB7B3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Translation des chiffres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0BB9AF7-C268-BE5A-121C-0C501BD46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10" y="2220560"/>
            <a:ext cx="825074" cy="279387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57B5CAA-46FD-163F-5519-783892FB9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100" y="2220560"/>
            <a:ext cx="800683" cy="279387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9A5AB9D-5179-BD60-97E1-BEA2C40E0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9664" y="2220940"/>
            <a:ext cx="795530" cy="374299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0371E83-E18E-0FD0-4574-A748CA9F6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5194" y="2220560"/>
            <a:ext cx="825408" cy="3742997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C8A126EC-179C-0D89-0AF4-957266DC66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0570" y="2220560"/>
            <a:ext cx="809652" cy="2793871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002921BA-769A-A77F-7E56-C04C823B0A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7856" y="2219595"/>
            <a:ext cx="812971" cy="279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956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B248C-11C1-0274-A565-A72A3CB43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D6BD922-185A-8B1B-45E5-F040C9787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Classification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7145063-CB20-FEA4-0B51-7F0CBF61C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00" y="1690688"/>
            <a:ext cx="6483000" cy="51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462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9D05C-60AB-08F4-0979-B91BB254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C70F67C-2308-6D39-0AEA-E307534C8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Déobscuration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5EB59F5-AF34-33B1-5783-B185DB2B8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" y="1912415"/>
            <a:ext cx="11868150" cy="101917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225FC3E-35E7-9BE9-22C1-319F6DF13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5" y="4413752"/>
            <a:ext cx="11868150" cy="98901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3CA1825-A734-7337-31C7-D4FCA576EE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696"/>
          <a:stretch/>
        </p:blipFill>
        <p:spPr>
          <a:xfrm>
            <a:off x="2143431" y="2907235"/>
            <a:ext cx="9886643" cy="97962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DDB24A6-2D56-2837-4931-AECD212050A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696"/>
          <a:stretch/>
        </p:blipFill>
        <p:spPr>
          <a:xfrm>
            <a:off x="2143431" y="5402765"/>
            <a:ext cx="9886644" cy="98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96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18879-24EC-0881-41FA-0523A9927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2DBA8C6-1BD7-07E0-A203-88D5B99F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Classification de la </a:t>
            </a:r>
            <a:r>
              <a:rPr lang="fr-FR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désobscuration</a:t>
            </a: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6CC8D6-0770-BD7F-CD53-09D3F257B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00" y="1690688"/>
            <a:ext cx="6483000" cy="51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793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2780-808D-1F11-4E9A-4E8B8CF74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7FA21B2-BB2F-001A-CCD4-D00101E4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Attaque (et défense)</a:t>
            </a:r>
            <a:endParaRPr lang="fr-FR" dirty="0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A1A3114-A231-B01F-EE65-720169F81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51479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8B81-FBFD-731A-5785-186A610DB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899C493-8D1E-EA61-68FB-28DAFFC8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Détection de l’obscuration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Fonctionnement</a:t>
            </a:r>
            <a:endParaRPr lang="fr-FR" dirty="0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EC7F6506-152A-86A4-51F3-670911F1D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284" y="2431467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86831B5A-2D32-4CE3-6730-73FBE7859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718" y="2431465"/>
            <a:ext cx="3111201" cy="1817780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06851FFA-02A0-3221-BB11-8C6D06CB9622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89485" y="3340355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83F40CDD-0AAF-D045-EA8E-7E2872883BC8}"/>
              </a:ext>
            </a:extLst>
          </p:cNvPr>
          <p:cNvSpPr/>
          <p:nvPr/>
        </p:nvSpPr>
        <p:spPr>
          <a:xfrm>
            <a:off x="2478283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6C881110-8E58-383B-4B71-4AF03E4350D3}"/>
              </a:ext>
            </a:extLst>
          </p:cNvPr>
          <p:cNvSpPr/>
          <p:nvPr/>
        </p:nvSpPr>
        <p:spPr>
          <a:xfrm>
            <a:off x="6681718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172414B-9B6C-3D04-5934-8D6009D916FE}"/>
              </a:ext>
            </a:extLst>
          </p:cNvPr>
          <p:cNvSpPr txBox="1"/>
          <p:nvPr/>
        </p:nvSpPr>
        <p:spPr>
          <a:xfrm>
            <a:off x="2651253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>
                <a:solidFill>
                  <a:srgbClr val="C00000"/>
                </a:solidFill>
              </a:rPr>
              <a:t>N	N	N</a:t>
            </a:r>
            <a:endParaRPr lang="fr-FR" sz="3600" u="sng" dirty="0">
              <a:solidFill>
                <a:srgbClr val="C00000"/>
              </a:solidFill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A77F86A3-82D8-FD96-03E1-BB91B3011C35}"/>
              </a:ext>
            </a:extLst>
          </p:cNvPr>
          <p:cNvSpPr txBox="1"/>
          <p:nvPr/>
        </p:nvSpPr>
        <p:spPr>
          <a:xfrm>
            <a:off x="6854688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>
                <a:solidFill>
                  <a:schemeClr val="accent6"/>
                </a:solidFill>
              </a:rPr>
              <a:t>P</a:t>
            </a:r>
            <a:r>
              <a:rPr lang="fr-FR" sz="3600" dirty="0"/>
              <a:t>	</a:t>
            </a:r>
            <a:r>
              <a:rPr lang="fr-FR" sz="3600" dirty="0">
                <a:solidFill>
                  <a:schemeClr val="accent6"/>
                </a:solidFill>
              </a:rPr>
              <a:t>P</a:t>
            </a:r>
            <a:r>
              <a:rPr lang="fr-FR" sz="3600" dirty="0"/>
              <a:t>	</a:t>
            </a:r>
            <a:r>
              <a:rPr lang="fr-FR" sz="3600" dirty="0">
                <a:solidFill>
                  <a:schemeClr val="accent6"/>
                </a:solidFill>
              </a:rPr>
              <a:t>P</a:t>
            </a:r>
            <a:endParaRPr lang="fr-FR" sz="3600" u="sng" dirty="0">
              <a:solidFill>
                <a:schemeClr val="accent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5332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3B3A1-5AC0-A98D-7F59-54D0D5D2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5BF223B-7492-009A-8114-E3C9C45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Détection de l’obscuration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Entraînement du classifieur</a:t>
            </a:r>
            <a:endParaRPr lang="fr-FR" sz="2400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EC4D0502-B93B-E802-80B5-E820D2F6C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091" y="3333026"/>
            <a:ext cx="8597818" cy="84417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B32FBEB-C5EC-C496-986A-8CE23F65DA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5677925" y="1937319"/>
            <a:ext cx="836149" cy="844175"/>
          </a:xfrm>
          <a:prstGeom prst="rect">
            <a:avLst/>
          </a:prstGeom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F1E9048-AD73-CFE4-C876-D191FD1B4B54}"/>
              </a:ext>
            </a:extLst>
          </p:cNvPr>
          <p:cNvCxnSpPr>
            <a:stCxn id="3" idx="2"/>
          </p:cNvCxnSpPr>
          <p:nvPr/>
        </p:nvCxnSpPr>
        <p:spPr>
          <a:xfrm flipH="1">
            <a:off x="2233914" y="2781494"/>
            <a:ext cx="386208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EECF1EF0-DAFA-0C11-8FF0-8D29F1565BE2}"/>
              </a:ext>
            </a:extLst>
          </p:cNvPr>
          <p:cNvCxnSpPr>
            <a:cxnSpLocks/>
          </p:cNvCxnSpPr>
          <p:nvPr/>
        </p:nvCxnSpPr>
        <p:spPr>
          <a:xfrm flipH="1">
            <a:off x="3136739" y="2781494"/>
            <a:ext cx="2959261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DF6FD502-E77F-4C38-E4B1-6AD0EC717642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3946967" y="2781494"/>
            <a:ext cx="2149033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C5A7FFBD-F338-DEC6-D5EF-9D028856BAC6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4803494" y="2781494"/>
            <a:ext cx="129250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763CEE7-E6E0-C70B-D706-E10EC15979C9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5677925" y="2781494"/>
            <a:ext cx="418075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34970016-7684-338D-70A9-598653366895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6096000" y="2781494"/>
            <a:ext cx="436823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2E5DCBD-A798-37ED-9BD2-502BD26E4815}"/>
              </a:ext>
            </a:extLst>
          </p:cNvPr>
          <p:cNvCxnSpPr>
            <a:cxnSpLocks/>
          </p:cNvCxnSpPr>
          <p:nvPr/>
        </p:nvCxnSpPr>
        <p:spPr>
          <a:xfrm>
            <a:off x="6096000" y="2781494"/>
            <a:ext cx="1292505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C5DC30C4-0F21-BE67-2596-A4FBBC37D93F}"/>
              </a:ext>
            </a:extLst>
          </p:cNvPr>
          <p:cNvCxnSpPr>
            <a:cxnSpLocks/>
          </p:cNvCxnSpPr>
          <p:nvPr/>
        </p:nvCxnSpPr>
        <p:spPr>
          <a:xfrm>
            <a:off x="6073001" y="2781494"/>
            <a:ext cx="2172031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3B871B76-4556-8EC5-1964-5F2F9E5EEF66}"/>
              </a:ext>
            </a:extLst>
          </p:cNvPr>
          <p:cNvCxnSpPr>
            <a:cxnSpLocks/>
          </p:cNvCxnSpPr>
          <p:nvPr/>
        </p:nvCxnSpPr>
        <p:spPr>
          <a:xfrm>
            <a:off x="6061924" y="2781494"/>
            <a:ext cx="299333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1AE6A480-75A6-EBFB-A569-BC8F75698A94}"/>
              </a:ext>
            </a:extLst>
          </p:cNvPr>
          <p:cNvCxnSpPr>
            <a:cxnSpLocks/>
          </p:cNvCxnSpPr>
          <p:nvPr/>
        </p:nvCxnSpPr>
        <p:spPr>
          <a:xfrm>
            <a:off x="6073001" y="2781494"/>
            <a:ext cx="3885084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C46DF36C-2E2B-F1ED-CC14-3AC08FB98242}"/>
              </a:ext>
            </a:extLst>
          </p:cNvPr>
          <p:cNvSpPr txBox="1"/>
          <p:nvPr/>
        </p:nvSpPr>
        <p:spPr>
          <a:xfrm>
            <a:off x="1655180" y="412747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F3304240-F461-66F9-BD20-37A7C517DF0F}"/>
              </a:ext>
            </a:extLst>
          </p:cNvPr>
          <p:cNvSpPr txBox="1"/>
          <p:nvPr/>
        </p:nvSpPr>
        <p:spPr>
          <a:xfrm>
            <a:off x="2472160" y="412747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8B3E9F20-9C12-28DF-4720-07973E59477F}"/>
              </a:ext>
            </a:extLst>
          </p:cNvPr>
          <p:cNvSpPr txBox="1"/>
          <p:nvPr/>
        </p:nvSpPr>
        <p:spPr>
          <a:xfrm>
            <a:off x="3368233" y="4117765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65FD3604-6234-ECC9-75FF-14067B5DAB75}"/>
              </a:ext>
            </a:extLst>
          </p:cNvPr>
          <p:cNvSpPr txBox="1"/>
          <p:nvPr/>
        </p:nvSpPr>
        <p:spPr>
          <a:xfrm>
            <a:off x="4233319" y="412747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2DF8842-4F91-B01E-FA8A-C00561C191FA}"/>
              </a:ext>
            </a:extLst>
          </p:cNvPr>
          <p:cNvSpPr txBox="1"/>
          <p:nvPr/>
        </p:nvSpPr>
        <p:spPr>
          <a:xfrm>
            <a:off x="5150613" y="4117765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06B852E-F163-CC2D-499E-93C5ACAA8D4B}"/>
              </a:ext>
            </a:extLst>
          </p:cNvPr>
          <p:cNvSpPr txBox="1"/>
          <p:nvPr/>
        </p:nvSpPr>
        <p:spPr>
          <a:xfrm>
            <a:off x="5990259" y="4131207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6B019A2-D40D-0C32-7967-7D6213F23A8F}"/>
              </a:ext>
            </a:extLst>
          </p:cNvPr>
          <p:cNvSpPr txBox="1"/>
          <p:nvPr/>
        </p:nvSpPr>
        <p:spPr>
          <a:xfrm>
            <a:off x="6858075" y="412336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C54612F7-AB0E-B9A5-775D-A3E5DE851CA1}"/>
              </a:ext>
            </a:extLst>
          </p:cNvPr>
          <p:cNvSpPr txBox="1"/>
          <p:nvPr/>
        </p:nvSpPr>
        <p:spPr>
          <a:xfrm>
            <a:off x="7697721" y="413120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6A4DC60D-D857-A216-8820-43FB0C83C05A}"/>
              </a:ext>
            </a:extLst>
          </p:cNvPr>
          <p:cNvSpPr txBox="1"/>
          <p:nvPr/>
        </p:nvSpPr>
        <p:spPr>
          <a:xfrm>
            <a:off x="8562372" y="4121500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7ACCCBF-0510-BF5D-C437-808591F92CAA}"/>
              </a:ext>
            </a:extLst>
          </p:cNvPr>
          <p:cNvSpPr txBox="1"/>
          <p:nvPr/>
        </p:nvSpPr>
        <p:spPr>
          <a:xfrm>
            <a:off x="9409326" y="410805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BC43859-9332-C48C-7976-187478E08DC8}"/>
              </a:ext>
            </a:extLst>
          </p:cNvPr>
          <p:cNvSpPr txBox="1"/>
          <p:nvPr/>
        </p:nvSpPr>
        <p:spPr>
          <a:xfrm>
            <a:off x="1866417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844B0B78-3B8E-075E-03EA-C1C370501C45}"/>
              </a:ext>
            </a:extLst>
          </p:cNvPr>
          <p:cNvSpPr txBox="1"/>
          <p:nvPr/>
        </p:nvSpPr>
        <p:spPr>
          <a:xfrm>
            <a:off x="2683397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42184CE9-7016-C0A1-B05D-178633F04011}"/>
              </a:ext>
            </a:extLst>
          </p:cNvPr>
          <p:cNvSpPr txBox="1"/>
          <p:nvPr/>
        </p:nvSpPr>
        <p:spPr>
          <a:xfrm>
            <a:off x="3579470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76BBFE76-6F0E-C0CB-CA1A-8E9C666D7ABF}"/>
              </a:ext>
            </a:extLst>
          </p:cNvPr>
          <p:cNvSpPr txBox="1"/>
          <p:nvPr/>
        </p:nvSpPr>
        <p:spPr>
          <a:xfrm>
            <a:off x="4435997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FF15760C-96E7-FF9E-30E0-492762209212}"/>
              </a:ext>
            </a:extLst>
          </p:cNvPr>
          <p:cNvSpPr txBox="1"/>
          <p:nvPr/>
        </p:nvSpPr>
        <p:spPr>
          <a:xfrm>
            <a:off x="5338008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B1EA235E-44CA-FF64-AEBD-6CA804E7AB3A}"/>
              </a:ext>
            </a:extLst>
          </p:cNvPr>
          <p:cNvSpPr txBox="1"/>
          <p:nvPr/>
        </p:nvSpPr>
        <p:spPr>
          <a:xfrm>
            <a:off x="6165326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CFD3F53B-EBDD-5C93-C50E-A1628160A286}"/>
              </a:ext>
            </a:extLst>
          </p:cNvPr>
          <p:cNvSpPr txBox="1"/>
          <p:nvPr/>
        </p:nvSpPr>
        <p:spPr>
          <a:xfrm>
            <a:off x="7021008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7E88DC73-E5B8-5796-A961-E6C2E50FDE66}"/>
              </a:ext>
            </a:extLst>
          </p:cNvPr>
          <p:cNvSpPr txBox="1"/>
          <p:nvPr/>
        </p:nvSpPr>
        <p:spPr>
          <a:xfrm>
            <a:off x="7876690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CEB0440B-CF08-A150-4563-261183974088}"/>
              </a:ext>
            </a:extLst>
          </p:cNvPr>
          <p:cNvSpPr txBox="1"/>
          <p:nvPr/>
        </p:nvSpPr>
        <p:spPr>
          <a:xfrm>
            <a:off x="8754438" y="6022801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CAA27E7-6150-3971-CFF7-E0594DE07A75}"/>
              </a:ext>
            </a:extLst>
          </p:cNvPr>
          <p:cNvSpPr txBox="1"/>
          <p:nvPr/>
        </p:nvSpPr>
        <p:spPr>
          <a:xfrm>
            <a:off x="9610120" y="5994465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/>
                </a:solidFill>
              </a:rPr>
              <a:t>1</a:t>
            </a:r>
          </a:p>
        </p:txBody>
      </p: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73643F2-9295-819C-8446-AADE62E9B33E}"/>
              </a:ext>
            </a:extLst>
          </p:cNvPr>
          <p:cNvCxnSpPr>
            <a:stCxn id="30" idx="2"/>
            <a:endCxn id="42" idx="0"/>
          </p:cNvCxnSpPr>
          <p:nvPr/>
        </p:nvCxnSpPr>
        <p:spPr>
          <a:xfrm>
            <a:off x="2233914" y="4496804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BEF93171-DE5C-6277-A34D-2D839079E4D4}"/>
              </a:ext>
            </a:extLst>
          </p:cNvPr>
          <p:cNvCxnSpPr/>
          <p:nvPr/>
        </p:nvCxnSpPr>
        <p:spPr>
          <a:xfrm>
            <a:off x="3034497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21FCC6AF-B2EA-988C-CBE0-6D8EC352126E}"/>
              </a:ext>
            </a:extLst>
          </p:cNvPr>
          <p:cNvCxnSpPr/>
          <p:nvPr/>
        </p:nvCxnSpPr>
        <p:spPr>
          <a:xfrm>
            <a:off x="3946967" y="450798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BF1700C1-FD40-142A-2F9D-2B6C40B8CFCA}"/>
              </a:ext>
            </a:extLst>
          </p:cNvPr>
          <p:cNvCxnSpPr/>
          <p:nvPr/>
        </p:nvCxnSpPr>
        <p:spPr>
          <a:xfrm>
            <a:off x="4803494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0401B290-E847-8E67-B688-CC599D83EC6B}"/>
              </a:ext>
            </a:extLst>
          </p:cNvPr>
          <p:cNvCxnSpPr/>
          <p:nvPr/>
        </p:nvCxnSpPr>
        <p:spPr>
          <a:xfrm>
            <a:off x="5677925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DF75A1D3-0BC4-FDC0-CCF6-1DC839FAFC6D}"/>
              </a:ext>
            </a:extLst>
          </p:cNvPr>
          <p:cNvCxnSpPr/>
          <p:nvPr/>
        </p:nvCxnSpPr>
        <p:spPr>
          <a:xfrm>
            <a:off x="6532823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DA3C8296-DA2D-EF81-DE83-5298AE88E096}"/>
              </a:ext>
            </a:extLst>
          </p:cNvPr>
          <p:cNvCxnSpPr/>
          <p:nvPr/>
        </p:nvCxnSpPr>
        <p:spPr>
          <a:xfrm>
            <a:off x="7388505" y="450798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F3F8243C-B9C7-4177-01CD-1E3B15B6AEA3}"/>
              </a:ext>
            </a:extLst>
          </p:cNvPr>
          <p:cNvCxnSpPr/>
          <p:nvPr/>
        </p:nvCxnSpPr>
        <p:spPr>
          <a:xfrm>
            <a:off x="8245032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3E039677-86A5-D29B-A67E-8C1BBAC576BE}"/>
              </a:ext>
            </a:extLst>
          </p:cNvPr>
          <p:cNvCxnSpPr/>
          <p:nvPr/>
        </p:nvCxnSpPr>
        <p:spPr>
          <a:xfrm>
            <a:off x="9138211" y="450798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BB94454D-68A3-F268-7B55-52593E3A6D13}"/>
              </a:ext>
            </a:extLst>
          </p:cNvPr>
          <p:cNvCxnSpPr/>
          <p:nvPr/>
        </p:nvCxnSpPr>
        <p:spPr>
          <a:xfrm>
            <a:off x="9977374" y="447739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rganigramme : Opération manuelle 51">
            <a:extLst>
              <a:ext uri="{FF2B5EF4-FFF2-40B4-BE49-F238E27FC236}">
                <a16:creationId xmlns:a16="http://schemas.microsoft.com/office/drawing/2014/main" id="{79AB59C4-7C45-51EA-6D14-FEEA5EB17ED0}"/>
              </a:ext>
            </a:extLst>
          </p:cNvPr>
          <p:cNvSpPr/>
          <p:nvPr/>
        </p:nvSpPr>
        <p:spPr>
          <a:xfrm>
            <a:off x="1866417" y="4847841"/>
            <a:ext cx="852849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pic>
        <p:nvPicPr>
          <p:cNvPr id="64" name="Image 63">
            <a:extLst>
              <a:ext uri="{FF2B5EF4-FFF2-40B4-BE49-F238E27FC236}">
                <a16:creationId xmlns:a16="http://schemas.microsoft.com/office/drawing/2014/main" id="{4EE0A8A8-C895-3E52-233B-934E1312FC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7337926" y="1937318"/>
            <a:ext cx="836149" cy="844175"/>
          </a:xfrm>
          <a:prstGeom prst="rect">
            <a:avLst/>
          </a:prstGeom>
        </p:spPr>
      </p:pic>
      <p:sp>
        <p:nvSpPr>
          <p:cNvPr id="65" name="ZoneTexte 64">
            <a:extLst>
              <a:ext uri="{FF2B5EF4-FFF2-40B4-BE49-F238E27FC236}">
                <a16:creationId xmlns:a16="http://schemas.microsoft.com/office/drawing/2014/main" id="{B93F3B83-70E3-48A6-31E6-2C8CF7B81A11}"/>
              </a:ext>
            </a:extLst>
          </p:cNvPr>
          <p:cNvSpPr txBox="1"/>
          <p:nvPr/>
        </p:nvSpPr>
        <p:spPr>
          <a:xfrm>
            <a:off x="6386418" y="1800402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694078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FD388-D1AC-01C0-47BF-42C13F129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9859665-9CE0-5B56-A9E3-3FA81685A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Reconnaissance de la classe source</a:t>
            </a:r>
            <a:br>
              <a:rPr lang="fr-FR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Fonctionnement</a:t>
            </a:r>
            <a:endParaRPr lang="fr-FR" dirty="0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F3C2298F-FB33-A832-E80A-A876AC504D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284" y="2431467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A19A651F-8DB9-0CE4-2EE9-1A50FCA7AF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718" y="2431465"/>
            <a:ext cx="3111201" cy="1817780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A5DE551-0FCF-D9DB-3738-315869B2A67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89485" y="3340355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58980EDF-053E-A098-10D1-97DDC63BF8C5}"/>
              </a:ext>
            </a:extLst>
          </p:cNvPr>
          <p:cNvSpPr/>
          <p:nvPr/>
        </p:nvSpPr>
        <p:spPr>
          <a:xfrm>
            <a:off x="2478283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19399A36-8FB2-70C8-0496-BA7BD8D1A599}"/>
              </a:ext>
            </a:extLst>
          </p:cNvPr>
          <p:cNvSpPr/>
          <p:nvPr/>
        </p:nvSpPr>
        <p:spPr>
          <a:xfrm>
            <a:off x="6681718" y="4515331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10BDF56-09CA-051A-33A4-368B62C17C4F}"/>
              </a:ext>
            </a:extLst>
          </p:cNvPr>
          <p:cNvSpPr txBox="1"/>
          <p:nvPr/>
        </p:nvSpPr>
        <p:spPr>
          <a:xfrm>
            <a:off x="2651253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7072C15-C84F-CDAF-6370-215D39DE81BC}"/>
              </a:ext>
            </a:extLst>
          </p:cNvPr>
          <p:cNvSpPr txBox="1"/>
          <p:nvPr/>
        </p:nvSpPr>
        <p:spPr>
          <a:xfrm>
            <a:off x="6854688" y="5141289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417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1DE7-1A59-74E9-CEA0-9A45704B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37D654-2A5B-0D39-8DC6-9D4A76710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Reconnaissance de la classe source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Entraînement du classifieur</a:t>
            </a:r>
            <a:endParaRPr lang="fr-FR" sz="24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8BF3C09-6F96-8981-A516-9FAD66F995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4728801" y="1827605"/>
            <a:ext cx="836149" cy="844175"/>
          </a:xfrm>
          <a:prstGeom prst="rect">
            <a:avLst/>
          </a:prstGeom>
        </p:spPr>
      </p:pic>
      <p:pic>
        <p:nvPicPr>
          <p:cNvPr id="64" name="Image 63">
            <a:extLst>
              <a:ext uri="{FF2B5EF4-FFF2-40B4-BE49-F238E27FC236}">
                <a16:creationId xmlns:a16="http://schemas.microsoft.com/office/drawing/2014/main" id="{8D22439E-BED2-C348-6C60-41B0A9962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6388802" y="1827604"/>
            <a:ext cx="836149" cy="844175"/>
          </a:xfrm>
          <a:prstGeom prst="rect">
            <a:avLst/>
          </a:prstGeom>
        </p:spPr>
      </p:pic>
      <p:sp>
        <p:nvSpPr>
          <p:cNvPr id="65" name="ZoneTexte 64">
            <a:extLst>
              <a:ext uri="{FF2B5EF4-FFF2-40B4-BE49-F238E27FC236}">
                <a16:creationId xmlns:a16="http://schemas.microsoft.com/office/drawing/2014/main" id="{13B1D176-D176-8D25-1438-4D85788E82F3}"/>
              </a:ext>
            </a:extLst>
          </p:cNvPr>
          <p:cNvSpPr txBox="1"/>
          <p:nvPr/>
        </p:nvSpPr>
        <p:spPr>
          <a:xfrm>
            <a:off x="5437294" y="1690688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57E7A7C-43E3-FE36-BB64-0392F08CAA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2232651" y="3429001"/>
            <a:ext cx="836149" cy="84417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370016C-6414-F631-9C9B-8376FCE5BD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3892652" y="3429000"/>
            <a:ext cx="836149" cy="84417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46154B5-F395-2317-D78C-1ABE6B105EAC}"/>
              </a:ext>
            </a:extLst>
          </p:cNvPr>
          <p:cNvSpPr txBox="1"/>
          <p:nvPr/>
        </p:nvSpPr>
        <p:spPr>
          <a:xfrm>
            <a:off x="2941144" y="3292084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883D710A-2A37-3A41-0440-60A5C14C7F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275"/>
          <a:stretch/>
        </p:blipFill>
        <p:spPr>
          <a:xfrm>
            <a:off x="7224951" y="3429000"/>
            <a:ext cx="836149" cy="84417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794FC37-3BDA-36B6-70F3-FAD83EBF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r="7" b="-1"/>
          <a:stretch/>
        </p:blipFill>
        <p:spPr>
          <a:xfrm>
            <a:off x="8884952" y="3428999"/>
            <a:ext cx="836149" cy="84417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1E3DFD00-FA80-037E-C471-BEAB45010FC7}"/>
              </a:ext>
            </a:extLst>
          </p:cNvPr>
          <p:cNvSpPr txBox="1"/>
          <p:nvPr/>
        </p:nvSpPr>
        <p:spPr>
          <a:xfrm>
            <a:off x="7933444" y="3292083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C0D14780-2469-D713-FF96-BA8881B7521F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2650726" y="2671780"/>
            <a:ext cx="2496150" cy="7572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DE9D0B71-2516-4F7F-C3EF-70C3BAD63739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flipH="1">
            <a:off x="4310727" y="2671780"/>
            <a:ext cx="836149" cy="757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74D2D05B-A24B-B161-7623-270855532249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6819173" y="2658601"/>
            <a:ext cx="823853" cy="7703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FEC80921-839A-3332-52F7-BDCDBABF9C77}"/>
              </a:ext>
            </a:extLst>
          </p:cNvPr>
          <p:cNvCxnSpPr>
            <a:cxnSpLocks/>
            <a:stCxn id="64" idx="2"/>
            <a:endCxn id="12" idx="0"/>
          </p:cNvCxnSpPr>
          <p:nvPr/>
        </p:nvCxnSpPr>
        <p:spPr>
          <a:xfrm>
            <a:off x="6806877" y="2671779"/>
            <a:ext cx="2496150" cy="757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rganigramme : Opération manuelle 52">
            <a:extLst>
              <a:ext uri="{FF2B5EF4-FFF2-40B4-BE49-F238E27FC236}">
                <a16:creationId xmlns:a16="http://schemas.microsoft.com/office/drawing/2014/main" id="{8495F66E-259C-02C8-E868-589514E7CF24}"/>
              </a:ext>
            </a:extLst>
          </p:cNvPr>
          <p:cNvSpPr/>
          <p:nvPr/>
        </p:nvSpPr>
        <p:spPr>
          <a:xfrm>
            <a:off x="2232650" y="4847841"/>
            <a:ext cx="249615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66" name="Organigramme : Opération manuelle 65">
            <a:extLst>
              <a:ext uri="{FF2B5EF4-FFF2-40B4-BE49-F238E27FC236}">
                <a16:creationId xmlns:a16="http://schemas.microsoft.com/office/drawing/2014/main" id="{3E415B51-9A33-F199-F8F1-84E064974FCB}"/>
              </a:ext>
            </a:extLst>
          </p:cNvPr>
          <p:cNvSpPr/>
          <p:nvPr/>
        </p:nvSpPr>
        <p:spPr>
          <a:xfrm>
            <a:off x="7241978" y="4847841"/>
            <a:ext cx="249615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CBD773E3-4459-CAA5-0387-970D8C528C2E}"/>
              </a:ext>
            </a:extLst>
          </p:cNvPr>
          <p:cNvSpPr txBox="1"/>
          <p:nvPr/>
        </p:nvSpPr>
        <p:spPr>
          <a:xfrm>
            <a:off x="2290525" y="5734603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0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35B0E362-C395-6090-666D-23B5D88CFD1C}"/>
              </a:ext>
            </a:extLst>
          </p:cNvPr>
          <p:cNvSpPr txBox="1"/>
          <p:nvPr/>
        </p:nvSpPr>
        <p:spPr>
          <a:xfrm>
            <a:off x="4001104" y="5738831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0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0CA21A84-29AB-E882-7F40-6E4DC5B788EF}"/>
              </a:ext>
            </a:extLst>
          </p:cNvPr>
          <p:cNvSpPr txBox="1"/>
          <p:nvPr/>
        </p:nvSpPr>
        <p:spPr>
          <a:xfrm>
            <a:off x="7275530" y="5734603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9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2C22206-4A5E-39A6-74A6-0E3AFE639E03}"/>
              </a:ext>
            </a:extLst>
          </p:cNvPr>
          <p:cNvSpPr txBox="1"/>
          <p:nvPr/>
        </p:nvSpPr>
        <p:spPr>
          <a:xfrm>
            <a:off x="8927208" y="5750253"/>
            <a:ext cx="734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9</a:t>
            </a:r>
          </a:p>
        </p:txBody>
      </p: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C84C8896-FB4D-E93F-E005-1D33309699E4}"/>
              </a:ext>
            </a:extLst>
          </p:cNvPr>
          <p:cNvCxnSpPr>
            <a:cxnSpLocks/>
          </p:cNvCxnSpPr>
          <p:nvPr/>
        </p:nvCxnSpPr>
        <p:spPr>
          <a:xfrm>
            <a:off x="2650726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F6F35E19-8CE9-79C8-0824-3BDF25B305B6}"/>
              </a:ext>
            </a:extLst>
          </p:cNvPr>
          <p:cNvCxnSpPr/>
          <p:nvPr/>
        </p:nvCxnSpPr>
        <p:spPr>
          <a:xfrm>
            <a:off x="4347504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A9E0C565-53F0-6F5C-BE67-4D1960705522}"/>
              </a:ext>
            </a:extLst>
          </p:cNvPr>
          <p:cNvCxnSpPr/>
          <p:nvPr/>
        </p:nvCxnSpPr>
        <p:spPr>
          <a:xfrm>
            <a:off x="7643026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9E2D0394-7BF6-BECA-2572-7906F2506C12}"/>
              </a:ext>
            </a:extLst>
          </p:cNvPr>
          <p:cNvCxnSpPr/>
          <p:nvPr/>
        </p:nvCxnSpPr>
        <p:spPr>
          <a:xfrm>
            <a:off x="9303027" y="4241007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0335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B1C2-639D-3C8E-D1A8-3F79E589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E698441-28D0-7C64-AC4E-698BA9CCB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expérimentaux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8FC807-E4D0-96C1-F7FF-208BF7FA5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1953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66A7-8450-103C-0D3C-61722B59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3DEFD9E-3A54-4A41-5E4D-D8882A45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Résultats expérimentaux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Détection de l’obscuration</a:t>
            </a: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97CD9AA-2C61-C6D8-B98C-A3047AD84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072" y="1620991"/>
            <a:ext cx="6089855" cy="4871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69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ED6FE-C2C4-77C4-CF26-5497D4CBF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D4324FB-DF1E-8F23-BEF6-D17492A1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Résultats expérimentaux</a:t>
            </a:r>
            <a:br>
              <a:rPr lang="fr-FR" sz="2400" dirty="0"/>
            </a:br>
            <a:r>
              <a:rPr lang="fr-FR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Reconnaissance de la classe source</a:t>
            </a:r>
            <a:endParaRPr lang="fr-FR" sz="24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F5D7D21-B7C0-694F-27EF-9558414BE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072" y="1620991"/>
            <a:ext cx="6089855" cy="4871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4676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B0FF0-D8F9-C769-7A64-6AD0A50C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1C0F03A-00C9-4C00-9802-C712BFF0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01E1E70-ED43-E257-2C1B-B976A0D03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fr-FR" u="sng" dirty="0"/>
              <a:t>Efficace :</a:t>
            </a:r>
          </a:p>
          <a:p>
            <a:r>
              <a:rPr lang="fr-FR" b="1" dirty="0"/>
              <a:t>Confidentialité</a:t>
            </a:r>
          </a:p>
          <a:p>
            <a:r>
              <a:rPr lang="fr-FR" b="1" dirty="0"/>
              <a:t>Invisible</a:t>
            </a:r>
            <a:r>
              <a:rPr lang="fr-FR" dirty="0"/>
              <a:t> (~86% </a:t>
            </a:r>
            <a:r>
              <a:rPr lang="fr-FR" dirty="0" err="1"/>
              <a:t>classif</a:t>
            </a:r>
            <a:r>
              <a:rPr lang="fr-FR" dirty="0"/>
              <a:t>.)</a:t>
            </a:r>
          </a:p>
          <a:p>
            <a:r>
              <a:rPr lang="fr-FR" b="1" dirty="0"/>
              <a:t>Inversible</a:t>
            </a:r>
            <a:r>
              <a:rPr lang="fr-FR" dirty="0"/>
              <a:t> (~94% </a:t>
            </a:r>
            <a:r>
              <a:rPr lang="fr-FR" dirty="0" err="1"/>
              <a:t>classif</a:t>
            </a:r>
            <a:r>
              <a:rPr lang="fr-FR" dirty="0"/>
              <a:t>.)</a:t>
            </a:r>
            <a:endParaRPr lang="fr-FR" b="1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u="sng" dirty="0"/>
              <a:t>Attaquable (analyse des traces) :</a:t>
            </a:r>
          </a:p>
          <a:p>
            <a:r>
              <a:rPr lang="fr-FR" dirty="0"/>
              <a:t>Forte </a:t>
            </a:r>
            <a:r>
              <a:rPr lang="fr-FR" b="1" dirty="0"/>
              <a:t>reconnaissance</a:t>
            </a:r>
            <a:r>
              <a:rPr lang="fr-FR" dirty="0"/>
              <a:t> de la classe source (~72% </a:t>
            </a:r>
            <a:r>
              <a:rPr lang="fr-FR" dirty="0" err="1"/>
              <a:t>classif</a:t>
            </a:r>
            <a:r>
              <a:rPr lang="fr-FR" dirty="0"/>
              <a:t>.)</a:t>
            </a:r>
          </a:p>
          <a:p>
            <a:r>
              <a:rPr lang="fr-FR" b="1" dirty="0"/>
              <a:t>Détectable</a:t>
            </a:r>
            <a:r>
              <a:rPr lang="fr-FR" dirty="0"/>
              <a:t> (~100% </a:t>
            </a:r>
            <a:r>
              <a:rPr lang="fr-FR" dirty="0" err="1"/>
              <a:t>classif</a:t>
            </a:r>
            <a:r>
              <a:rPr lang="fr-FR" dirty="0"/>
              <a:t>.)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u="sng" dirty="0"/>
              <a:t>Perspectives</a:t>
            </a:r>
          </a:p>
          <a:p>
            <a:r>
              <a:rPr lang="fr-FR" b="1" dirty="0"/>
              <a:t>Défense</a:t>
            </a:r>
          </a:p>
        </p:txBody>
      </p:sp>
    </p:spTree>
    <p:extLst>
      <p:ext uri="{BB962C8B-B14F-4D97-AF65-F5344CB8AC3E}">
        <p14:creationId xmlns:p14="http://schemas.microsoft.com/office/powerpoint/2010/main" val="239403733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</TotalTime>
  <Words>509</Words>
  <Application>Microsoft Office PowerPoint</Application>
  <PresentationFormat>Grand écran</PresentationFormat>
  <Paragraphs>191</Paragraphs>
  <Slides>28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Cascadia Code</vt:lpstr>
      <vt:lpstr>Thème Office</vt:lpstr>
      <vt:lpstr>Obscuration de contenu numérique dans une image</vt:lpstr>
      <vt:lpstr>Contexte</vt:lpstr>
      <vt:lpstr>Solution</vt:lpstr>
      <vt:lpstr>Méthode d’obscuration</vt:lpstr>
      <vt:lpstr>Méthode d’obscuration Pipeline d’obscuration</vt:lpstr>
      <vt:lpstr>Méthode d’obscuration Calcul des vecteurs de translation</vt:lpstr>
      <vt:lpstr>Méthode d’obscuration Obscuration</vt:lpstr>
      <vt:lpstr>Méthode d’obscuration Pipeline de désobscuration</vt:lpstr>
      <vt:lpstr>Méthode d’obscuration Désobscuration</vt:lpstr>
      <vt:lpstr>Évaluation de l’obscuration Classification</vt:lpstr>
      <vt:lpstr>Résultats expérimentaux</vt:lpstr>
      <vt:lpstr>Résultats expérimentaux Dataset</vt:lpstr>
      <vt:lpstr>Résultats expérimentaux Modèles</vt:lpstr>
      <vt:lpstr>Résultats expérimentaux Obscuration</vt:lpstr>
      <vt:lpstr>Résultats expérimentaux Translation des chiffres</vt:lpstr>
      <vt:lpstr>Résultats expérimentaux Translation des chiffres</vt:lpstr>
      <vt:lpstr>Résultats expérimentaux Classification</vt:lpstr>
      <vt:lpstr>Résultats expérimentaux Déobscuration</vt:lpstr>
      <vt:lpstr>Résultats expérimentaux Classification de la désobscuration</vt:lpstr>
      <vt:lpstr>Attaque (et défense)</vt:lpstr>
      <vt:lpstr>Détection de l’obscuration Fonctionnement</vt:lpstr>
      <vt:lpstr>Détection de l’obscuration Entraînement du classifieur</vt:lpstr>
      <vt:lpstr>Reconnaissance de la classe source Fonctionnement</vt:lpstr>
      <vt:lpstr>Reconnaissance de la classe source Entraînement du classifieur</vt:lpstr>
      <vt:lpstr>Résultats expérimentaux</vt:lpstr>
      <vt:lpstr>Résultats expérimentaux Détection de l’obscuration</vt:lpstr>
      <vt:lpstr>Résultats expérimentaux Reconnaissance de la classe source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 Noye</dc:creator>
  <cp:lastModifiedBy>Valentin Noye</cp:lastModifiedBy>
  <cp:revision>323</cp:revision>
  <dcterms:created xsi:type="dcterms:W3CDTF">2025-02-28T08:29:14Z</dcterms:created>
  <dcterms:modified xsi:type="dcterms:W3CDTF">2025-03-04T16:00:06Z</dcterms:modified>
</cp:coreProperties>
</file>