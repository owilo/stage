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5" r:id="rId4"/>
    <p:sldId id="280" r:id="rId5"/>
    <p:sldId id="278" r:id="rId6"/>
    <p:sldId id="277" r:id="rId7"/>
    <p:sldId id="261" r:id="rId8"/>
    <p:sldId id="276" r:id="rId9"/>
    <p:sldId id="282" r:id="rId10"/>
    <p:sldId id="274" r:id="rId11"/>
    <p:sldId id="281" r:id="rId12"/>
    <p:sldId id="279" r:id="rId13"/>
    <p:sldId id="287" r:id="rId14"/>
    <p:sldId id="264" r:id="rId15"/>
    <p:sldId id="271" r:id="rId16"/>
    <p:sldId id="284" r:id="rId17"/>
    <p:sldId id="270" r:id="rId18"/>
    <p:sldId id="286" r:id="rId19"/>
    <p:sldId id="285" r:id="rId20"/>
    <p:sldId id="263" r:id="rId21"/>
    <p:sldId id="289" r:id="rId22"/>
    <p:sldId id="291" r:id="rId23"/>
    <p:sldId id="293" r:id="rId24"/>
    <p:sldId id="295" r:id="rId25"/>
    <p:sldId id="288" r:id="rId26"/>
    <p:sldId id="265" r:id="rId27"/>
    <p:sldId id="296" r:id="rId28"/>
    <p:sldId id="268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30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58BBD6-204F-4D96-1847-1009721C9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AAE7385-9C52-556B-E8AC-676DD06ACA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696B82-CB51-5AAD-A68E-ED4A30FA8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03/03/2025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C87D81-E4CF-6AD5-29E5-A80073B9C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303858-EEE7-9AC5-657F-354CDD4DB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5975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F6AF51-20E6-4AF9-5D07-C018F0906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FF9230E-154C-9210-DC2E-90595CD3E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69BB303-F9D9-2255-2212-480A48A4D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03/03/2025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6C26BF-0393-B8FE-385D-A5DB39741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F8FAE9-054B-8164-CF8F-74CBC777D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364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9993BD-2828-99CA-6C18-17B57600C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EB4FE1-F8EC-AAD6-5E5E-3EF42D86D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2B6502-CE99-AE87-783E-4D1A5DE3A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03/03/2025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0AA4B9-B0E7-ECC4-C23B-A0C8B83E1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199DC9-C96A-E638-D0F2-6F7BBF831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64540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E234C1-5F5F-9142-6F72-CCA423B85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F1D5F8-67AD-8860-EC09-32310BFDF2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B0A1FCF-EFC4-EEFB-9518-4AB4928B34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7318933-74C4-9E0F-0CB0-5EE6F97CA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03/03/2025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3266D67-4D8C-FE5B-63C1-0DAE7E4BF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5CB3347-ED1E-266C-561F-3B4B99E27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0257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12A816-E571-7588-B8A4-562D7D6AA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A244516-0A76-1211-47E6-F0348CB38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A5D8872-F887-9C54-56B0-4EA9B247AB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41A9378-C80F-86C6-4DE9-F9065279D1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BB5F498-34EA-B5DC-AB8D-16D78FCAFE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B7C31A8-975E-86BB-6CAB-9CFE75634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03/03/2025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7348D8C-B3BE-1272-F7D2-6C55417B8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45DFA37-E772-A967-AAF3-B70F5738A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683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AC8BB1-6E48-96E1-CA56-B276FCA65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03AD145-4328-4CEE-5DD7-9FD4C49F5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03/03/2025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A789A72-6C22-D2CC-D5DC-5C77F248A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76CCCE5-2F7A-0FDE-E97F-82AD00802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6134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E89DE27-D622-1ADE-853A-5DD9C4F68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03/03/2025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6532452-7721-EF4B-F0E0-0D86D1CDB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33AD80A-F71E-7C1B-B9D7-72C30255C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339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8A6699-7E37-8C4F-01C2-F8CB03103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478760-C8EA-4AFD-4A2A-F1DA10869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895B982-4EE7-3A4D-C061-7A722D49E5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1295876-89BD-61E8-7775-E92D2DAE1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03/03/2025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D0A65AD-CE31-3238-9DE2-5727B84F9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DF5A45A-2B16-4F11-BE86-F13E7855E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5121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304917-7587-BE3C-3A3C-B3032F066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9FAD061-00C2-C842-9BEA-15A87D05B8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6A10F09-832D-7EF2-B296-BA1794A34D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ACBDFB6-E26A-12CE-1E7A-A29440BC7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03/03/2025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5AB8467-55E7-6F5A-9DA0-058639067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AADCCD2-4982-172B-B745-351A03A57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665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090C9F-4E54-C9FE-C81F-090A110D6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420BC42-F5EF-E91A-FBF8-A39E248839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C6FB9F-23D9-D886-B0E3-C94F83F56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03/03/2025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E53F324-EB02-A0BF-70ED-54CE53B95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9B9E1-3D9B-300E-FCCE-7A00D06EF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1970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225DA12-DBF2-8D9D-9197-C02FCB7306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95EAAF2-A1DF-58F0-1B2B-6FF6904A08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9812CF-9F89-5DDE-CE90-01211F60F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03/03/2025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7BA7B9-738A-9211-AC45-1B09699AB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97956F-72B1-9441-CE55-7199F3ACB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4730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41FC58B-4780-7F51-5DE6-93B0C4692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D2847C3-B07D-2F7A-97F3-916215C5E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54A70FE-F51B-7E16-F13C-A9BD1B5C1E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B83883-7D35-4165-90D1-08F5B397DD95}" type="datetimeFigureOut">
              <a:rPr lang="fr-FR" smtClean="0"/>
              <a:t>03/03/2025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4E454F0-27A9-6668-2678-E4A3EE8C73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F4CBC7F-61EB-39D5-9189-ED0195522E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3964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B3D578-2BDE-CA5B-4393-5A7CF6D9B3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Obscuration de contenu numérique dans une image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72F4B9F-CFA1-7FF3-619F-FB929CAB3C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Valentin Noyé </a:t>
            </a:r>
          </a:p>
        </p:txBody>
      </p:sp>
    </p:spTree>
    <p:extLst>
      <p:ext uri="{BB962C8B-B14F-4D97-AF65-F5344CB8AC3E}">
        <p14:creationId xmlns:p14="http://schemas.microsoft.com/office/powerpoint/2010/main" val="3692854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854AB-8FB3-16D0-B202-4E370425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F26C3A-62AD-9897-387A-317871456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8F79BCE3-B738-6926-9A88-9720A3271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b="1" dirty="0"/>
              <a:t>Protection des données</a:t>
            </a:r>
            <a:r>
              <a:rPr lang="fr-FR" dirty="0"/>
              <a:t>, de la vie privée</a:t>
            </a:r>
          </a:p>
          <a:p>
            <a:r>
              <a:rPr lang="fr-FR" dirty="0"/>
              <a:t>Importance de l’information dans les médias visuels </a:t>
            </a:r>
          </a:p>
          <a:p>
            <a:r>
              <a:rPr lang="fr-FR" dirty="0"/>
              <a:t>Obscuration </a:t>
            </a:r>
            <a:r>
              <a:rPr lang="fr-FR" b="1" dirty="0"/>
              <a:t>réversible</a:t>
            </a:r>
            <a:r>
              <a:rPr lang="fr-FR" dirty="0"/>
              <a:t> à partir d’une clé</a:t>
            </a:r>
          </a:p>
          <a:p>
            <a:r>
              <a:rPr lang="fr-FR" dirty="0"/>
              <a:t>Bonne</a:t>
            </a:r>
            <a:r>
              <a:rPr lang="fr-FR" b="1" dirty="0"/>
              <a:t> fidélité visuelle</a:t>
            </a:r>
            <a:r>
              <a:rPr lang="fr-FR" dirty="0"/>
              <a:t> et </a:t>
            </a:r>
            <a:r>
              <a:rPr lang="fr-FR" b="1" dirty="0"/>
              <a:t>invisible</a:t>
            </a:r>
          </a:p>
        </p:txBody>
      </p:sp>
      <p:pic>
        <p:nvPicPr>
          <p:cNvPr id="1028" name="Picture 4" descr="Plaque d'immatriculation : voici la technique rapide pour la flouter !">
            <a:extLst>
              <a:ext uri="{FF2B5EF4-FFF2-40B4-BE49-F238E27FC236}">
                <a16:creationId xmlns:a16="http://schemas.microsoft.com/office/drawing/2014/main" id="{DF052E8D-ED3B-754C-C24A-F8FA7583E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9044" y="4203905"/>
            <a:ext cx="3593912" cy="1973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1085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9738F-08F1-4627-856B-76F322F4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BCB90DE-1C27-2546-963A-20A41C831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</a:t>
            </a:r>
          </a:p>
        </p:txBody>
      </p:sp>
      <p:pic>
        <p:nvPicPr>
          <p:cNvPr id="2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800F019-0540-9596-637D-FBE58B859D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965" y="2520112"/>
            <a:ext cx="3111201" cy="1817779"/>
          </a:xfrm>
        </p:spPr>
      </p:pic>
      <p:pic>
        <p:nvPicPr>
          <p:cNvPr id="5" name="Image 4" descr="Une image contenant symbole, noir, noir et blanc, obscurité&#10;&#10;Le contenu généré par l’IA peut être incorrect.">
            <a:extLst>
              <a:ext uri="{FF2B5EF4-FFF2-40B4-BE49-F238E27FC236}">
                <a16:creationId xmlns:a16="http://schemas.microsoft.com/office/drawing/2014/main" id="{55F43A82-C663-42E8-3834-02DB6AC39E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0399" y="2520110"/>
            <a:ext cx="3111201" cy="1817780"/>
          </a:xfrm>
          <a:prstGeom prst="rect">
            <a:avLst/>
          </a:prstGeom>
        </p:spPr>
      </p:pic>
      <p:pic>
        <p:nvPicPr>
          <p:cNvPr id="6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5A1E8B95-9AE8-F457-8E70-FA48E11A49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3834" y="2520111"/>
            <a:ext cx="3111201" cy="1817779"/>
          </a:xfrm>
          <a:prstGeom prst="rect">
            <a:avLst/>
          </a:prstGeom>
        </p:spPr>
      </p:pic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BCB88524-6E3A-D7AE-5227-80D7AB2E6AA3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3448166" y="3429000"/>
            <a:ext cx="1092233" cy="2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81C3C877-D99B-0767-F315-AA8C41407713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651600" y="3429000"/>
            <a:ext cx="1092234" cy="1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Image 2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504DAEFD-FB55-FFA5-1950-1FE7588E16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831" y="2627762"/>
            <a:ext cx="585940" cy="585940"/>
          </a:xfrm>
          <a:prstGeom prst="rect">
            <a:avLst/>
          </a:prstGeom>
        </p:spPr>
      </p:pic>
      <p:pic>
        <p:nvPicPr>
          <p:cNvPr id="8" name="Image 7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A1273A7F-38DD-CFC7-79BA-C991DB2378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5275" y="2627762"/>
            <a:ext cx="585940" cy="585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107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59C39-9BC5-BE51-A987-864709510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455AE13-BA44-7E91-AAA0-EEB8193AE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fr-FR" dirty="0"/>
              <a:t>Méthode d’obscuration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CE98A7F-01DE-2A4D-66CB-0D04F63E1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10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BFC27-82A8-22DE-0F83-C2C19DD53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84429E02-96A9-7094-D385-ACE9022F0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d’obscuration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Pipeline</a:t>
            </a:r>
            <a:endParaRPr lang="fr-FR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6" name="Image 5" descr="Une image contenant texte, tableau blanc, écriture manuscrite, dessin&#10;&#10;Le contenu généré par l’IA peut être incorrect.">
            <a:extLst>
              <a:ext uri="{FF2B5EF4-FFF2-40B4-BE49-F238E27FC236}">
                <a16:creationId xmlns:a16="http://schemas.microsoft.com/office/drawing/2014/main" id="{6090D6EA-3A10-5AAE-0760-B86CBD22BA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7091" y="1721043"/>
            <a:ext cx="8597817" cy="4948813"/>
          </a:xfrm>
          <a:prstGeom prst="rect">
            <a:avLst/>
          </a:prstGeom>
        </p:spPr>
      </p:pic>
      <p:pic>
        <p:nvPicPr>
          <p:cNvPr id="11" name="Image 10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3773FB2F-5914-9C99-B38F-51E873A049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1336" y="3146577"/>
            <a:ext cx="346795" cy="346795"/>
          </a:xfrm>
          <a:prstGeom prst="rect">
            <a:avLst/>
          </a:prstGeom>
        </p:spPr>
      </p:pic>
      <p:pic>
        <p:nvPicPr>
          <p:cNvPr id="12" name="Image 11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831F6955-87F5-7675-670B-1BA78AC517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7033" y="4843998"/>
            <a:ext cx="346795" cy="346795"/>
          </a:xfrm>
          <a:prstGeom prst="rect">
            <a:avLst/>
          </a:prstGeom>
        </p:spPr>
      </p:pic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20173FB9-A665-4369-4F25-0A2F8103317E}"/>
              </a:ext>
            </a:extLst>
          </p:cNvPr>
          <p:cNvSpPr/>
          <p:nvPr/>
        </p:nvSpPr>
        <p:spPr>
          <a:xfrm>
            <a:off x="2245489" y="1612242"/>
            <a:ext cx="8241174" cy="3472405"/>
          </a:xfrm>
          <a:custGeom>
            <a:avLst/>
            <a:gdLst>
              <a:gd name="connsiteX0" fmla="*/ 0 w 8310622"/>
              <a:gd name="connsiteY0" fmla="*/ 0 h 3472405"/>
              <a:gd name="connsiteX1" fmla="*/ 8310622 w 8310622"/>
              <a:gd name="connsiteY1" fmla="*/ 57873 h 3472405"/>
              <a:gd name="connsiteX2" fmla="*/ 8310622 w 8310622"/>
              <a:gd name="connsiteY2" fmla="*/ 3472405 h 3472405"/>
              <a:gd name="connsiteX3" fmla="*/ 3472405 w 8310622"/>
              <a:gd name="connsiteY3" fmla="*/ 3472405 h 3472405"/>
              <a:gd name="connsiteX4" fmla="*/ 3472405 w 8310622"/>
              <a:gd name="connsiteY4" fmla="*/ 1840374 h 3472405"/>
              <a:gd name="connsiteX5" fmla="*/ 11574 w 8310622"/>
              <a:gd name="connsiteY5" fmla="*/ 1840374 h 3472405"/>
              <a:gd name="connsiteX6" fmla="*/ 0 w 8310622"/>
              <a:gd name="connsiteY6" fmla="*/ 0 h 34724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310622" h="3472405">
                <a:moveTo>
                  <a:pt x="0" y="0"/>
                </a:moveTo>
                <a:lnTo>
                  <a:pt x="8310622" y="57873"/>
                </a:lnTo>
                <a:lnTo>
                  <a:pt x="8310622" y="3472405"/>
                </a:lnTo>
                <a:lnTo>
                  <a:pt x="3472405" y="3472405"/>
                </a:lnTo>
                <a:lnTo>
                  <a:pt x="3472405" y="1840374"/>
                </a:lnTo>
                <a:lnTo>
                  <a:pt x="11574" y="1840374"/>
                </a:lnTo>
                <a:lnTo>
                  <a:pt x="0" y="0"/>
                </a:lnTo>
                <a:close/>
              </a:path>
            </a:pathLst>
          </a:cu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52A544FB-430F-5F63-CC63-F8BE406F3382}"/>
              </a:ext>
            </a:extLst>
          </p:cNvPr>
          <p:cNvSpPr/>
          <p:nvPr/>
        </p:nvSpPr>
        <p:spPr>
          <a:xfrm>
            <a:off x="1562582" y="3522065"/>
            <a:ext cx="5220183" cy="3183038"/>
          </a:xfrm>
          <a:custGeom>
            <a:avLst/>
            <a:gdLst>
              <a:gd name="connsiteX0" fmla="*/ 69448 w 5220183"/>
              <a:gd name="connsiteY0" fmla="*/ 0 h 3183038"/>
              <a:gd name="connsiteX1" fmla="*/ 4097438 w 5220183"/>
              <a:gd name="connsiteY1" fmla="*/ 0 h 3183038"/>
              <a:gd name="connsiteX2" fmla="*/ 5220183 w 5220183"/>
              <a:gd name="connsiteY2" fmla="*/ 0 h 3183038"/>
              <a:gd name="connsiteX3" fmla="*/ 5220183 w 5220183"/>
              <a:gd name="connsiteY3" fmla="*/ 1574157 h 3183038"/>
              <a:gd name="connsiteX4" fmla="*/ 5220183 w 5220183"/>
              <a:gd name="connsiteY4" fmla="*/ 3183038 h 3183038"/>
              <a:gd name="connsiteX5" fmla="*/ 0 w 5220183"/>
              <a:gd name="connsiteY5" fmla="*/ 3183038 h 3183038"/>
              <a:gd name="connsiteX6" fmla="*/ 69448 w 5220183"/>
              <a:gd name="connsiteY6" fmla="*/ 0 h 3183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20183" h="3183038">
                <a:moveTo>
                  <a:pt x="69448" y="0"/>
                </a:moveTo>
                <a:lnTo>
                  <a:pt x="4097438" y="0"/>
                </a:lnTo>
                <a:lnTo>
                  <a:pt x="5220183" y="0"/>
                </a:lnTo>
                <a:lnTo>
                  <a:pt x="5220183" y="1574157"/>
                </a:lnTo>
                <a:lnTo>
                  <a:pt x="5220183" y="3183038"/>
                </a:lnTo>
                <a:lnTo>
                  <a:pt x="0" y="3183038"/>
                </a:lnTo>
                <a:lnTo>
                  <a:pt x="69448" y="0"/>
                </a:lnTo>
                <a:close/>
              </a:path>
            </a:pathLst>
          </a:custGeom>
          <a:noFill/>
          <a:ln w="571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C1D8F9E-E9B9-39C7-9CB2-006167BF1FE1}"/>
              </a:ext>
            </a:extLst>
          </p:cNvPr>
          <p:cNvSpPr txBox="1"/>
          <p:nvPr/>
        </p:nvSpPr>
        <p:spPr>
          <a:xfrm>
            <a:off x="1562581" y="6209775"/>
            <a:ext cx="39353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Désobscuration</a:t>
            </a:r>
            <a:endParaRPr lang="fr-FR" sz="280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1F40674-9A53-3746-2562-F59FCB63CA02}"/>
              </a:ext>
            </a:extLst>
          </p:cNvPr>
          <p:cNvSpPr txBox="1"/>
          <p:nvPr/>
        </p:nvSpPr>
        <p:spPr>
          <a:xfrm>
            <a:off x="7017275" y="4520832"/>
            <a:ext cx="3377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2800" dirty="0">
                <a:solidFill>
                  <a:srgbClr val="FF0000"/>
                </a:solidFill>
              </a:rPr>
              <a:t>Obscuration</a:t>
            </a:r>
            <a:endParaRPr lang="fr-FR" sz="3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046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63F39-6D4A-7131-18B1-FDA6C4EEC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473079C-6D2E-CE0A-FB72-90FB6C09A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d’obscuration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Obscuration</a:t>
            </a:r>
            <a:endParaRPr lang="fr-FR" dirty="0"/>
          </a:p>
        </p:txBody>
      </p:sp>
      <p:pic>
        <p:nvPicPr>
          <p:cNvPr id="6" name="Image 5" descr="Une image contenant texte, tableau blanc, écriture manuscrite, dessin&#10;&#10;Le contenu généré par l’IA peut être incorrect.">
            <a:extLst>
              <a:ext uri="{FF2B5EF4-FFF2-40B4-BE49-F238E27FC236}">
                <a16:creationId xmlns:a16="http://schemas.microsoft.com/office/drawing/2014/main" id="{61869FB0-B1F6-5533-4DD8-2A58B9EAC5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7091" y="1662050"/>
            <a:ext cx="8597817" cy="4948813"/>
          </a:xfrm>
          <a:prstGeom prst="rect">
            <a:avLst/>
          </a:prstGeom>
        </p:spPr>
      </p:pic>
      <p:cxnSp>
        <p:nvCxnSpPr>
          <p:cNvPr id="2" name="Connecteur droit avec flèche 1">
            <a:extLst>
              <a:ext uri="{FF2B5EF4-FFF2-40B4-BE49-F238E27FC236}">
                <a16:creationId xmlns:a16="http://schemas.microsoft.com/office/drawing/2014/main" id="{D0885E69-F931-79FB-BE1C-22CC64C969A7}"/>
              </a:ext>
            </a:extLst>
          </p:cNvPr>
          <p:cNvCxnSpPr>
            <a:cxnSpLocks/>
          </p:cNvCxnSpPr>
          <p:nvPr/>
        </p:nvCxnSpPr>
        <p:spPr>
          <a:xfrm flipH="1">
            <a:off x="6319777" y="2363477"/>
            <a:ext cx="1053297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8ADDBE3D-4A05-8F80-62D0-FCF2D211BB68}"/>
              </a:ext>
            </a:extLst>
          </p:cNvPr>
          <p:cNvCxnSpPr>
            <a:cxnSpLocks/>
          </p:cNvCxnSpPr>
          <p:nvPr/>
        </p:nvCxnSpPr>
        <p:spPr>
          <a:xfrm flipH="1">
            <a:off x="6319777" y="4159482"/>
            <a:ext cx="829520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Image 8">
            <a:extLst>
              <a:ext uri="{FF2B5EF4-FFF2-40B4-BE49-F238E27FC236}">
                <a16:creationId xmlns:a16="http://schemas.microsoft.com/office/drawing/2014/main" id="{90782E12-4DCA-E238-4A15-F79D88AA2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5162" y="1808676"/>
            <a:ext cx="1102006" cy="1102006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031D5C6F-A18C-2C8A-149E-A8FCB80D13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5162" y="3632292"/>
            <a:ext cx="1102006" cy="1102006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8B40B3E9-713E-917B-4022-353CE90E6A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7168" y="1820252"/>
            <a:ext cx="3677878" cy="11020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FB429C35-C3F7-4562-AB1B-57F64CF9E3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7168" y="3632292"/>
            <a:ext cx="3677878" cy="109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451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7E02C-17F7-5875-1142-C13C19B7E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CFBFA86-AF45-8C1F-BE6A-F2EA9B4D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d’obscuration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Obscuration</a:t>
            </a:r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7BCE01F-3D52-B7A7-2E46-D0CB2617D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04984"/>
            <a:ext cx="5342681" cy="5342681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1C3444C-92FE-E1A3-148C-CFA6B2E78036}"/>
              </a:ext>
            </a:extLst>
          </p:cNvPr>
          <p:cNvSpPr txBox="1"/>
          <p:nvPr/>
        </p:nvSpPr>
        <p:spPr>
          <a:xfrm>
            <a:off x="6562845" y="3544186"/>
            <a:ext cx="49645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/>
              <a:t>V</a:t>
            </a:r>
            <a:r>
              <a:rPr lang="fr-FR" sz="2400" dirty="0"/>
              <a:t>T</a:t>
            </a:r>
            <a:r>
              <a:rPr lang="fr-FR" sz="4000" dirty="0"/>
              <a:t> = V</a:t>
            </a:r>
            <a:r>
              <a:rPr lang="fr-FR" sz="2400" dirty="0"/>
              <a:t>I’</a:t>
            </a:r>
            <a:r>
              <a:rPr lang="fr-FR" sz="4000" dirty="0"/>
              <a:t> + </a:t>
            </a:r>
            <a:r>
              <a:rPr lang="fr-FR" sz="4000" dirty="0" err="1"/>
              <a:t>V</a:t>
            </a:r>
            <a:r>
              <a:rPr lang="fr-FR" sz="2400" dirty="0" err="1"/>
              <a:t>p</a:t>
            </a:r>
            <a:r>
              <a:rPr lang="fr-FR" sz="1600" dirty="0" err="1"/>
              <a:t>dest</a:t>
            </a:r>
            <a:r>
              <a:rPr lang="fr-FR" sz="4000" dirty="0"/>
              <a:t> – </a:t>
            </a:r>
            <a:r>
              <a:rPr lang="fr-FR" sz="4000" dirty="0" err="1"/>
              <a:t>V</a:t>
            </a:r>
            <a:r>
              <a:rPr lang="fr-FR" sz="2400" dirty="0" err="1"/>
              <a:t>p</a:t>
            </a:r>
            <a:r>
              <a:rPr lang="fr-FR" sz="1600" dirty="0" err="1"/>
              <a:t>source</a:t>
            </a:r>
            <a:r>
              <a:rPr lang="fr-FR" sz="4000" dirty="0"/>
              <a:t> </a:t>
            </a:r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F45092D-653A-5AFD-D0EC-F9778C7A10D5}"/>
              </a:ext>
            </a:extLst>
          </p:cNvPr>
          <p:cNvCxnSpPr/>
          <p:nvPr/>
        </p:nvCxnSpPr>
        <p:spPr>
          <a:xfrm flipH="1" flipV="1">
            <a:off x="3900669" y="2483306"/>
            <a:ext cx="1388962" cy="83337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A37658A2-F2AE-CDD9-133D-20EFC9FE8288}"/>
              </a:ext>
            </a:extLst>
          </p:cNvPr>
          <p:cNvCxnSpPr/>
          <p:nvPr/>
        </p:nvCxnSpPr>
        <p:spPr>
          <a:xfrm flipH="1" flipV="1">
            <a:off x="3972046" y="2710809"/>
            <a:ext cx="1388962" cy="83337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31582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3BB4A-2E0B-EFA4-C00B-143961D3C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191F95EB-041C-61E0-5246-2768BE00B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d’obscuration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Obscuration</a:t>
            </a:r>
            <a:endParaRPr lang="fr-FR" dirty="0"/>
          </a:p>
        </p:txBody>
      </p:sp>
      <p:pic>
        <p:nvPicPr>
          <p:cNvPr id="6" name="Image 5" descr="Une image contenant texte, tableau blanc, écriture manuscrite, dessin&#10;&#10;Le contenu généré par l’IA peut être incorrect.">
            <a:extLst>
              <a:ext uri="{FF2B5EF4-FFF2-40B4-BE49-F238E27FC236}">
                <a16:creationId xmlns:a16="http://schemas.microsoft.com/office/drawing/2014/main" id="{260E9349-1B75-A151-0E7D-9D21C4AEC0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7091" y="1544062"/>
            <a:ext cx="8597817" cy="4948813"/>
          </a:xfrm>
          <a:prstGeom prst="rect">
            <a:avLst/>
          </a:prstGeom>
        </p:spPr>
      </p:pic>
      <p:pic>
        <p:nvPicPr>
          <p:cNvPr id="11" name="Image 10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CCFBB498-2BDA-FD52-A0E9-1A408B2B4E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1336" y="2969596"/>
            <a:ext cx="346795" cy="346795"/>
          </a:xfrm>
          <a:prstGeom prst="rect">
            <a:avLst/>
          </a:prstGeom>
        </p:spPr>
      </p:pic>
      <p:pic>
        <p:nvPicPr>
          <p:cNvPr id="12" name="Image 11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DCBB8939-77A3-358F-9DA2-B429A91E9F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7033" y="4667017"/>
            <a:ext cx="346795" cy="346795"/>
          </a:xfrm>
          <a:prstGeom prst="rect">
            <a:avLst/>
          </a:prstGeom>
        </p:spPr>
      </p:pic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08C566F6-CED7-441D-BA80-6C27E3C0567C}"/>
              </a:ext>
            </a:extLst>
          </p:cNvPr>
          <p:cNvCxnSpPr>
            <a:cxnSpLocks/>
          </p:cNvCxnSpPr>
          <p:nvPr/>
        </p:nvCxnSpPr>
        <p:spPr>
          <a:xfrm>
            <a:off x="7477246" y="3125165"/>
            <a:ext cx="0" cy="1541852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Image 7">
            <a:extLst>
              <a:ext uri="{FF2B5EF4-FFF2-40B4-BE49-F238E27FC236}">
                <a16:creationId xmlns:a16="http://schemas.microsoft.com/office/drawing/2014/main" id="{D558F07C-F3E6-BCF1-5A53-95C7D2C19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8337" y="4735770"/>
            <a:ext cx="8597818" cy="844175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42E98DE2-B1BA-74A4-9D16-F07F74554FB4}"/>
              </a:ext>
            </a:extLst>
          </p:cNvPr>
          <p:cNvSpPr txBox="1"/>
          <p:nvPr/>
        </p:nvSpPr>
        <p:spPr>
          <a:xfrm>
            <a:off x="7535293" y="3418110"/>
            <a:ext cx="424086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accent1"/>
                </a:solidFill>
              </a:rPr>
              <a:t>Prototype :</a:t>
            </a:r>
          </a:p>
          <a:p>
            <a:r>
              <a:rPr lang="fr-FR" sz="3200" dirty="0">
                <a:solidFill>
                  <a:schemeClr val="accent1"/>
                </a:solidFill>
              </a:rPr>
              <a:t>Moyenne par classe</a:t>
            </a:r>
          </a:p>
        </p:txBody>
      </p:sp>
    </p:spTree>
    <p:extLst>
      <p:ext uri="{BB962C8B-B14F-4D97-AF65-F5344CB8AC3E}">
        <p14:creationId xmlns:p14="http://schemas.microsoft.com/office/powerpoint/2010/main" val="1873371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08F36-BC55-34B3-A072-9134FE16A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8938516-FD4D-C93C-B0C3-0A03FFCD2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d’obscuration</a:t>
            </a:r>
            <a:br>
              <a:rPr lang="fr-FR" dirty="0"/>
            </a:br>
            <a:r>
              <a:rPr lang="fr-FR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Déobscuration</a:t>
            </a:r>
            <a:endParaRPr lang="fr-FR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6" name="Image 5" descr="Une image contenant texte, tableau blanc, écriture manuscrite, dessin&#10;&#10;Le contenu généré par l’IA peut être incorrect.">
            <a:extLst>
              <a:ext uri="{FF2B5EF4-FFF2-40B4-BE49-F238E27FC236}">
                <a16:creationId xmlns:a16="http://schemas.microsoft.com/office/drawing/2014/main" id="{0202E56A-A538-BF2B-1CCC-4EF29D521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392" r="42012"/>
          <a:stretch/>
        </p:blipFill>
        <p:spPr>
          <a:xfrm>
            <a:off x="838200" y="2268059"/>
            <a:ext cx="4985674" cy="3147791"/>
          </a:xfrm>
          <a:prstGeom prst="rect">
            <a:avLst/>
          </a:prstGeom>
        </p:spPr>
      </p:pic>
      <p:pic>
        <p:nvPicPr>
          <p:cNvPr id="12" name="Image 11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B741C0A1-6D97-55A2-051B-9517412374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8141" y="3589992"/>
            <a:ext cx="346795" cy="346795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459F8C4A-D4B4-844F-FF2E-F1F177249B74}"/>
              </a:ext>
            </a:extLst>
          </p:cNvPr>
          <p:cNvSpPr txBox="1"/>
          <p:nvPr/>
        </p:nvSpPr>
        <p:spPr>
          <a:xfrm>
            <a:off x="6631671" y="3488011"/>
            <a:ext cx="49645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/>
              <a:t>V</a:t>
            </a:r>
            <a:r>
              <a:rPr lang="fr-FR" sz="2400" dirty="0"/>
              <a:t>Î</a:t>
            </a:r>
            <a:r>
              <a:rPr lang="fr-FR" sz="4000" dirty="0"/>
              <a:t> = V</a:t>
            </a:r>
            <a:r>
              <a:rPr lang="fr-FR" sz="2400" dirty="0"/>
              <a:t>T’</a:t>
            </a:r>
            <a:r>
              <a:rPr lang="fr-FR" sz="4000" dirty="0"/>
              <a:t> + </a:t>
            </a:r>
            <a:r>
              <a:rPr lang="fr-FR" sz="4000" dirty="0" err="1"/>
              <a:t>V</a:t>
            </a:r>
            <a:r>
              <a:rPr lang="fr-FR" sz="2400" dirty="0" err="1"/>
              <a:t>p</a:t>
            </a:r>
            <a:r>
              <a:rPr lang="fr-FR" sz="1600" dirty="0" err="1"/>
              <a:t>source</a:t>
            </a:r>
            <a:r>
              <a:rPr lang="fr-FR" sz="4000" dirty="0"/>
              <a:t> – </a:t>
            </a:r>
            <a:r>
              <a:rPr lang="fr-FR" sz="4000" dirty="0" err="1"/>
              <a:t>V</a:t>
            </a:r>
            <a:r>
              <a:rPr lang="fr-FR" sz="2400" dirty="0" err="1"/>
              <a:t>p</a:t>
            </a:r>
            <a:r>
              <a:rPr lang="fr-FR" sz="1600" dirty="0" err="1"/>
              <a:t>dest</a:t>
            </a:r>
            <a:r>
              <a:rPr lang="fr-FR" sz="4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8659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FCF8B-8B9C-1C4C-4048-3E2F428FC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B81A7F8-10FB-A356-B835-092DBDC51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Évaluation de l’obscuration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Classification</a:t>
            </a:r>
            <a:endParaRPr lang="fr-FR" dirty="0"/>
          </a:p>
        </p:txBody>
      </p:sp>
      <p:pic>
        <p:nvPicPr>
          <p:cNvPr id="2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04B81478-E626-3497-7765-9779A382A8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965" y="2043321"/>
            <a:ext cx="3111201" cy="1817779"/>
          </a:xfrm>
        </p:spPr>
      </p:pic>
      <p:pic>
        <p:nvPicPr>
          <p:cNvPr id="5" name="Image 4" descr="Une image contenant symbole, noir, noir et blanc, obscurité&#10;&#10;Le contenu généré par l’IA peut être incorrect.">
            <a:extLst>
              <a:ext uri="{FF2B5EF4-FFF2-40B4-BE49-F238E27FC236}">
                <a16:creationId xmlns:a16="http://schemas.microsoft.com/office/drawing/2014/main" id="{DB812EC2-0BF1-BD6A-B808-C82C8E7974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0399" y="2043319"/>
            <a:ext cx="3111201" cy="1817780"/>
          </a:xfrm>
          <a:prstGeom prst="rect">
            <a:avLst/>
          </a:prstGeom>
        </p:spPr>
      </p:pic>
      <p:pic>
        <p:nvPicPr>
          <p:cNvPr id="6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FDD1D612-0C41-8330-FCAC-648C4461EC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3834" y="2043320"/>
            <a:ext cx="3111201" cy="1817779"/>
          </a:xfrm>
          <a:prstGeom prst="rect">
            <a:avLst/>
          </a:prstGeom>
        </p:spPr>
      </p:pic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4AE38404-302E-E1FF-9E8C-E9D723BDBB20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3448166" y="2952209"/>
            <a:ext cx="1092233" cy="2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97DE6B9-4ED3-1688-034C-F18AC30F3F4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651600" y="2952209"/>
            <a:ext cx="1092234" cy="1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rganigramme : Opération manuelle 20">
            <a:extLst>
              <a:ext uri="{FF2B5EF4-FFF2-40B4-BE49-F238E27FC236}">
                <a16:creationId xmlns:a16="http://schemas.microsoft.com/office/drawing/2014/main" id="{059B107D-2B17-2723-3E19-81F1EBA45244}"/>
              </a:ext>
            </a:extLst>
          </p:cNvPr>
          <p:cNvSpPr/>
          <p:nvPr/>
        </p:nvSpPr>
        <p:spPr>
          <a:xfrm>
            <a:off x="336964" y="4127185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2" name="Organigramme : Opération manuelle 21">
            <a:extLst>
              <a:ext uri="{FF2B5EF4-FFF2-40B4-BE49-F238E27FC236}">
                <a16:creationId xmlns:a16="http://schemas.microsoft.com/office/drawing/2014/main" id="{D7449BED-3A17-6CEF-189B-D7A53AAAB75F}"/>
              </a:ext>
            </a:extLst>
          </p:cNvPr>
          <p:cNvSpPr/>
          <p:nvPr/>
        </p:nvSpPr>
        <p:spPr>
          <a:xfrm>
            <a:off x="4540399" y="4127185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3" name="Organigramme : Opération manuelle 22">
            <a:extLst>
              <a:ext uri="{FF2B5EF4-FFF2-40B4-BE49-F238E27FC236}">
                <a16:creationId xmlns:a16="http://schemas.microsoft.com/office/drawing/2014/main" id="{D89C4E99-BE03-F09E-4342-21683CAF3BF3}"/>
              </a:ext>
            </a:extLst>
          </p:cNvPr>
          <p:cNvSpPr/>
          <p:nvPr/>
        </p:nvSpPr>
        <p:spPr>
          <a:xfrm>
            <a:off x="8743834" y="4127185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F38835E8-1BDA-2089-18D4-423ECF7ABBDA}"/>
              </a:ext>
            </a:extLst>
          </p:cNvPr>
          <p:cNvSpPr txBox="1"/>
          <p:nvPr/>
        </p:nvSpPr>
        <p:spPr>
          <a:xfrm>
            <a:off x="509934" y="4753143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3	6	2</a:t>
            </a:r>
            <a:endParaRPr lang="fr-FR" sz="3600" u="sng" dirty="0">
              <a:latin typeface="Arial" panose="020B060402020202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D678E2F8-D19D-E55E-08FE-69542C25BB1A}"/>
              </a:ext>
            </a:extLst>
          </p:cNvPr>
          <p:cNvSpPr txBox="1"/>
          <p:nvPr/>
        </p:nvSpPr>
        <p:spPr>
          <a:xfrm>
            <a:off x="8916809" y="4753143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3	6	2</a:t>
            </a:r>
            <a:endParaRPr lang="fr-FR" sz="3600" u="sng" dirty="0">
              <a:latin typeface="Arial" panose="020B0604020202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D5F7E9D-4FCE-F996-C77B-26A034D44623}"/>
              </a:ext>
            </a:extLst>
          </p:cNvPr>
          <p:cNvSpPr txBox="1"/>
          <p:nvPr/>
        </p:nvSpPr>
        <p:spPr>
          <a:xfrm>
            <a:off x="4713369" y="4753143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4	1	7</a:t>
            </a:r>
            <a:endParaRPr lang="fr-FR" sz="3600" u="sng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7077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15A70-F51A-A3DD-806B-C24B5E3C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89C2B19-0189-B16D-9774-E40E4084F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AE65E78-158A-BCDB-F109-B7550E8E1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13411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6C49A-C6F9-B677-4832-DC6F1926A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4A149B1-B6BD-3636-74DA-07679F15B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Dataset</a:t>
            </a:r>
            <a:endParaRPr lang="fr-FR" dirty="0"/>
          </a:p>
        </p:txBody>
      </p:sp>
      <p:pic>
        <p:nvPicPr>
          <p:cNvPr id="1026" name="Picture 2" descr="MNIST database - Wikipedia">
            <a:extLst>
              <a:ext uri="{FF2B5EF4-FFF2-40B4-BE49-F238E27FC236}">
                <a16:creationId xmlns:a16="http://schemas.microsoft.com/office/drawing/2014/main" id="{158A396B-2B90-A0E8-1680-67114EB84A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6278" y="1690688"/>
            <a:ext cx="8179443" cy="4064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itre 3">
            <a:extLst>
              <a:ext uri="{FF2B5EF4-FFF2-40B4-BE49-F238E27FC236}">
                <a16:creationId xmlns:a16="http://schemas.microsoft.com/office/drawing/2014/main" id="{3D883461-67E4-B7F6-552F-903F4BD85A0C}"/>
              </a:ext>
            </a:extLst>
          </p:cNvPr>
          <p:cNvSpPr txBox="1">
            <a:spLocks/>
          </p:cNvSpPr>
          <p:nvPr/>
        </p:nvSpPr>
        <p:spPr>
          <a:xfrm>
            <a:off x="838200" y="537519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800" dirty="0"/>
              <a:t>MNIST</a:t>
            </a:r>
          </a:p>
        </p:txBody>
      </p:sp>
    </p:spTree>
    <p:extLst>
      <p:ext uri="{BB962C8B-B14F-4D97-AF65-F5344CB8AC3E}">
        <p14:creationId xmlns:p14="http://schemas.microsoft.com/office/powerpoint/2010/main" val="210848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6D82E-A0A0-56BC-E9C1-ECEE8BD88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935BD9F-62E9-6D9E-BB8D-11C39B7E2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Modèles</a:t>
            </a:r>
            <a:endParaRPr lang="fr-FR" dirty="0"/>
          </a:p>
        </p:txBody>
      </p:sp>
      <p:pic>
        <p:nvPicPr>
          <p:cNvPr id="2050" name="Picture 2" descr="Model Architecture">
            <a:extLst>
              <a:ext uri="{FF2B5EF4-FFF2-40B4-BE49-F238E27FC236}">
                <a16:creationId xmlns:a16="http://schemas.microsoft.com/office/drawing/2014/main" id="{BE8E17DF-7993-DAAB-9953-EB22713418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397" y="2025296"/>
            <a:ext cx="10635205" cy="2442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A180E98E-E274-C067-DFA3-13D53DE00762}"/>
              </a:ext>
            </a:extLst>
          </p:cNvPr>
          <p:cNvSpPr txBox="1"/>
          <p:nvPr/>
        </p:nvSpPr>
        <p:spPr>
          <a:xfrm>
            <a:off x="838200" y="1655964"/>
            <a:ext cx="2511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VAE</a:t>
            </a:r>
            <a:endParaRPr lang="fr-FR" b="1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7FAD1C3-24CB-6347-4925-D0285CBA49E7}"/>
              </a:ext>
            </a:extLst>
          </p:cNvPr>
          <p:cNvSpPr txBox="1"/>
          <p:nvPr/>
        </p:nvSpPr>
        <p:spPr>
          <a:xfrm>
            <a:off x="838200" y="4491474"/>
            <a:ext cx="52578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• </a:t>
            </a:r>
            <a:r>
              <a:rPr lang="fr-FR" sz="2000" dirty="0" err="1"/>
              <a:t>Autoencodeur</a:t>
            </a:r>
            <a:r>
              <a:rPr lang="fr-FR" sz="2000" dirty="0"/>
              <a:t> </a:t>
            </a:r>
            <a:r>
              <a:rPr lang="fr-FR" sz="2000" dirty="0" err="1"/>
              <a:t>variationnel</a:t>
            </a:r>
            <a:endParaRPr lang="fr-FR" sz="2000" dirty="0"/>
          </a:p>
          <a:p>
            <a:r>
              <a:rPr lang="fr-FR" sz="2000" dirty="0"/>
              <a:t>• Vecteur latent de taille 128</a:t>
            </a:r>
          </a:p>
          <a:p>
            <a:endParaRPr lang="fr-FR" sz="2800" b="1" dirty="0"/>
          </a:p>
          <a:p>
            <a:r>
              <a:rPr lang="fr-FR" sz="2800" b="1" dirty="0"/>
              <a:t>Classifieur</a:t>
            </a:r>
            <a:endParaRPr lang="fr-FR" b="1" dirty="0"/>
          </a:p>
          <a:p>
            <a:endParaRPr lang="fr-FR" dirty="0"/>
          </a:p>
          <a:p>
            <a:r>
              <a:rPr lang="fr-FR" dirty="0"/>
              <a:t>99,29% de précision</a:t>
            </a:r>
          </a:p>
        </p:txBody>
      </p:sp>
    </p:spTree>
    <p:extLst>
      <p:ext uri="{BB962C8B-B14F-4D97-AF65-F5344CB8AC3E}">
        <p14:creationId xmlns:p14="http://schemas.microsoft.com/office/powerpoint/2010/main" val="3341443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E9C7D-9190-3285-685A-0835509C9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5960F337-5026-B9F6-61D5-BAC92D53A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Obscuration</a:t>
            </a: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B41073E-4ED0-C54F-3725-A7C9D8AB7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5" y="1912415"/>
            <a:ext cx="11868150" cy="101917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744BAF1-BAAB-B62B-2AAF-46C6520DE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5" y="2931590"/>
            <a:ext cx="11868150" cy="9904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77C0B56-5833-E798-BC1D-A0B3C58F33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925" y="3950765"/>
            <a:ext cx="11868150" cy="98901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AAD889D-1A6A-E63C-DFC1-A0C4CA94B2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925" y="4968493"/>
            <a:ext cx="11868150" cy="990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8265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ACEF8-91AA-3115-2DD9-E6EFF2B15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82EB8D0D-8F0A-226B-B93B-59329DD22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Translation des chiffres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8BEDDF2-6315-BF52-AEB9-25E82C996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5114" y="1027906"/>
            <a:ext cx="5735527" cy="573552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08DA01C-99C3-C526-22DA-4F389250E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4538" y="2220560"/>
            <a:ext cx="823306" cy="374337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8F9146F-C01F-9577-BD1A-0573767EC0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59" y="2220941"/>
            <a:ext cx="844106" cy="279387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2FF76F3-277F-3ECD-1067-3F757A44D6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6917" y="2220941"/>
            <a:ext cx="820328" cy="2793871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95A8BF8B-26EC-711D-F222-A7F138DB8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3329" y="2220560"/>
            <a:ext cx="789717" cy="279387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0492D19-2751-841F-7CE4-112A356B0F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7843" y="2202994"/>
            <a:ext cx="783189" cy="3743377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519000F-52B8-CD03-65D4-90CC72B337B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246" y="2220560"/>
            <a:ext cx="799192" cy="279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112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98E93-5541-8F5F-E103-BED0A4928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>
            <a:extLst>
              <a:ext uri="{FF2B5EF4-FFF2-40B4-BE49-F238E27FC236}">
                <a16:creationId xmlns:a16="http://schemas.microsoft.com/office/drawing/2014/main" id="{CABA81C7-FD76-4316-5FF0-601EF7863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94" y="1027905"/>
            <a:ext cx="5744247" cy="5744247"/>
          </a:xfrm>
          <a:prstGeom prst="rect">
            <a:avLst/>
          </a:prstGeo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03AEDAB7-6174-ACF9-07F8-7E7BCB7B3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Translation des chiffres</a:t>
            </a: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0BB9AF7-C268-BE5A-121C-0C501BD46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210" y="2220560"/>
            <a:ext cx="825074" cy="279387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B57B5CAA-46FD-163F-5519-783892FB9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8100" y="2220560"/>
            <a:ext cx="800683" cy="279387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9A5AB9D-5179-BD60-97E1-BEA2C40E05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9664" y="2220940"/>
            <a:ext cx="795530" cy="3742997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B0371E83-E18E-0FD0-4574-A748CA9F6D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5194" y="2220560"/>
            <a:ext cx="825408" cy="3742997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C8A126EC-179C-0D89-0AF4-957266DC66D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0570" y="2220560"/>
            <a:ext cx="809652" cy="2793871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002921BA-769A-A77F-7E56-C04C823B0A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37856" y="2219595"/>
            <a:ext cx="812971" cy="279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956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B248C-11C1-0274-A565-A72A3CB43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DD6BD922-185A-8B1B-45E5-F040C9787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Classification</a:t>
            </a: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7145063-CB20-FEA4-0B51-7F0CBF61C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4500" y="1690688"/>
            <a:ext cx="6483000" cy="51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4627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9D05C-60AB-08F4-0979-B91BB2543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5C70F67C-2308-6D39-0AEA-E307534C8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Déobscuration</a:t>
            </a: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5EB59F5-AF34-33B1-5783-B185DB2B8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5" y="1912415"/>
            <a:ext cx="11868150" cy="101917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225FC3E-35E7-9BE9-22C1-319F6DF13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5" y="4413752"/>
            <a:ext cx="11868150" cy="989013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3CA1825-A734-7337-31C7-D4FCA576EE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925" y="2907235"/>
            <a:ext cx="11868150" cy="97962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DDB24A6-2D56-2837-4931-AECD212050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925" y="5402765"/>
            <a:ext cx="11868150" cy="980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8964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18879-24EC-0881-41FA-0523A9927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2DBA8C6-1BD7-07E0-A203-88D5B99FD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Classification de la </a:t>
            </a:r>
            <a:r>
              <a:rPr lang="fr-FR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déobscuration</a:t>
            </a:r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76CC8D6-0770-BD7F-CD53-09D3F257B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4500" y="1690688"/>
            <a:ext cx="6483000" cy="51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7939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2780-808D-1F11-4E9A-4E8B8CF74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7FA21B2-BB2F-001A-CCD4-D00101E43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Attaque et défense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8A1A3114-A231-B01F-EE65-720169F81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514794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8B81-FBFD-731A-5785-186A610DB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899C493-8D1E-EA61-68FB-28DAFFC8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Détection de l’obscuration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Fonctionnement</a:t>
            </a:r>
            <a:endParaRPr lang="fr-FR" dirty="0"/>
          </a:p>
        </p:txBody>
      </p:sp>
      <p:pic>
        <p:nvPicPr>
          <p:cNvPr id="2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EC7F6506-152A-86A4-51F3-670911F1D9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8284" y="2431467"/>
            <a:ext cx="3111201" cy="1817779"/>
          </a:xfrm>
        </p:spPr>
      </p:pic>
      <p:pic>
        <p:nvPicPr>
          <p:cNvPr id="5" name="Image 4" descr="Une image contenant symbole, noir, noir et blanc, obscurité&#10;&#10;Le contenu généré par l’IA peut être incorrect.">
            <a:extLst>
              <a:ext uri="{FF2B5EF4-FFF2-40B4-BE49-F238E27FC236}">
                <a16:creationId xmlns:a16="http://schemas.microsoft.com/office/drawing/2014/main" id="{86831B5A-2D32-4CE3-6730-73FBE78595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1718" y="2431465"/>
            <a:ext cx="3111201" cy="1817780"/>
          </a:xfrm>
          <a:prstGeom prst="rect">
            <a:avLst/>
          </a:prstGeom>
        </p:spPr>
      </p:pic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06851FFA-02A0-3221-BB11-8C6D06CB9622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5589485" y="3340355"/>
            <a:ext cx="1092233" cy="2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rganigramme : Opération manuelle 20">
            <a:extLst>
              <a:ext uri="{FF2B5EF4-FFF2-40B4-BE49-F238E27FC236}">
                <a16:creationId xmlns:a16="http://schemas.microsoft.com/office/drawing/2014/main" id="{83F40CDD-0AAF-D045-EA8E-7E2872883BC8}"/>
              </a:ext>
            </a:extLst>
          </p:cNvPr>
          <p:cNvSpPr/>
          <p:nvPr/>
        </p:nvSpPr>
        <p:spPr>
          <a:xfrm>
            <a:off x="2478283" y="4515331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2" name="Organigramme : Opération manuelle 21">
            <a:extLst>
              <a:ext uri="{FF2B5EF4-FFF2-40B4-BE49-F238E27FC236}">
                <a16:creationId xmlns:a16="http://schemas.microsoft.com/office/drawing/2014/main" id="{6C881110-8E58-383B-4B71-4AF03E4350D3}"/>
              </a:ext>
            </a:extLst>
          </p:cNvPr>
          <p:cNvSpPr/>
          <p:nvPr/>
        </p:nvSpPr>
        <p:spPr>
          <a:xfrm>
            <a:off x="6681718" y="4515331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4172414B-9B6C-3D04-5934-8D6009D916FE}"/>
              </a:ext>
            </a:extLst>
          </p:cNvPr>
          <p:cNvSpPr txBox="1"/>
          <p:nvPr/>
        </p:nvSpPr>
        <p:spPr>
          <a:xfrm>
            <a:off x="2651253" y="5141289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>
                <a:solidFill>
                  <a:srgbClr val="C00000"/>
                </a:solidFill>
              </a:rPr>
              <a:t>0	0	0</a:t>
            </a:r>
            <a:endParaRPr lang="fr-FR" sz="3600" u="sng" dirty="0">
              <a:solidFill>
                <a:srgbClr val="C00000"/>
              </a:solidFill>
              <a:latin typeface="Arial" panose="020B0604020202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A77F86A3-82D8-FD96-03E1-BB91B3011C35}"/>
              </a:ext>
            </a:extLst>
          </p:cNvPr>
          <p:cNvSpPr txBox="1"/>
          <p:nvPr/>
        </p:nvSpPr>
        <p:spPr>
          <a:xfrm>
            <a:off x="6854688" y="5141289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>
                <a:solidFill>
                  <a:schemeClr val="accent6"/>
                </a:solidFill>
              </a:rPr>
              <a:t>1</a:t>
            </a:r>
            <a:r>
              <a:rPr lang="fr-FR" sz="3600" dirty="0"/>
              <a:t>	</a:t>
            </a:r>
            <a:r>
              <a:rPr lang="fr-FR" sz="3600" dirty="0">
                <a:solidFill>
                  <a:schemeClr val="accent6"/>
                </a:solidFill>
              </a:rPr>
              <a:t>1</a:t>
            </a:r>
            <a:r>
              <a:rPr lang="fr-FR" sz="3600" dirty="0"/>
              <a:t>	</a:t>
            </a:r>
            <a:r>
              <a:rPr lang="fr-FR" sz="3600" dirty="0">
                <a:solidFill>
                  <a:schemeClr val="accent6"/>
                </a:solidFill>
              </a:rPr>
              <a:t>1</a:t>
            </a:r>
            <a:endParaRPr lang="fr-FR" sz="3600" u="sng" dirty="0">
              <a:solidFill>
                <a:schemeClr val="accent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53325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3B3A1-5AC0-A98D-7F59-54D0D5D25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65BF223B-7492-009A-8114-E3C9C45BB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Détection de l’obscuration</a:t>
            </a:r>
            <a:br>
              <a:rPr lang="fr-FR" sz="2400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Entraînement du classifieur</a:t>
            </a:r>
            <a:endParaRPr lang="fr-FR" sz="2400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EC4D0502-B93B-E802-80B5-E820D2F6CE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091" y="3333026"/>
            <a:ext cx="8597818" cy="844175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B32FBEB-C5EC-C496-986A-8CE23F65DA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0275"/>
          <a:stretch/>
        </p:blipFill>
        <p:spPr>
          <a:xfrm>
            <a:off x="5677925" y="1937319"/>
            <a:ext cx="836149" cy="844175"/>
          </a:xfrm>
          <a:prstGeom prst="rect">
            <a:avLst/>
          </a:prstGeom>
        </p:spPr>
      </p:pic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8F1E9048-AD73-CFE4-C876-D191FD1B4B54}"/>
              </a:ext>
            </a:extLst>
          </p:cNvPr>
          <p:cNvCxnSpPr>
            <a:stCxn id="3" idx="2"/>
          </p:cNvCxnSpPr>
          <p:nvPr/>
        </p:nvCxnSpPr>
        <p:spPr>
          <a:xfrm flipH="1">
            <a:off x="2233914" y="2781494"/>
            <a:ext cx="3862086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EECF1EF0-DAFA-0C11-8FF0-8D29F1565BE2}"/>
              </a:ext>
            </a:extLst>
          </p:cNvPr>
          <p:cNvCxnSpPr>
            <a:cxnSpLocks/>
          </p:cNvCxnSpPr>
          <p:nvPr/>
        </p:nvCxnSpPr>
        <p:spPr>
          <a:xfrm flipH="1">
            <a:off x="3136739" y="2781494"/>
            <a:ext cx="2959261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DF6FD502-E77F-4C38-E4B1-6AD0EC717642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3946967" y="2781494"/>
            <a:ext cx="2149033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C5A7FFBD-F338-DEC6-D5EF-9D028856BAC6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4803494" y="2781494"/>
            <a:ext cx="1292506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3763CEE7-E6E0-C70B-D706-E10EC15979C9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5677925" y="2781494"/>
            <a:ext cx="418075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34970016-7684-338D-70A9-598653366895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6096000" y="2781494"/>
            <a:ext cx="436823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C2E5DCBD-A798-37ED-9BD2-502BD26E4815}"/>
              </a:ext>
            </a:extLst>
          </p:cNvPr>
          <p:cNvCxnSpPr>
            <a:cxnSpLocks/>
          </p:cNvCxnSpPr>
          <p:nvPr/>
        </p:nvCxnSpPr>
        <p:spPr>
          <a:xfrm>
            <a:off x="6096000" y="2781494"/>
            <a:ext cx="1292505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C5DC30C4-0F21-BE67-2596-A4FBBC37D93F}"/>
              </a:ext>
            </a:extLst>
          </p:cNvPr>
          <p:cNvCxnSpPr>
            <a:cxnSpLocks/>
          </p:cNvCxnSpPr>
          <p:nvPr/>
        </p:nvCxnSpPr>
        <p:spPr>
          <a:xfrm>
            <a:off x="6073001" y="2781494"/>
            <a:ext cx="2172031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3B871B76-4556-8EC5-1964-5F2F9E5EEF66}"/>
              </a:ext>
            </a:extLst>
          </p:cNvPr>
          <p:cNvCxnSpPr>
            <a:cxnSpLocks/>
          </p:cNvCxnSpPr>
          <p:nvPr/>
        </p:nvCxnSpPr>
        <p:spPr>
          <a:xfrm>
            <a:off x="6061924" y="2781494"/>
            <a:ext cx="2993336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1AE6A480-75A6-EBFB-A569-BC8F75698A94}"/>
              </a:ext>
            </a:extLst>
          </p:cNvPr>
          <p:cNvCxnSpPr>
            <a:cxnSpLocks/>
          </p:cNvCxnSpPr>
          <p:nvPr/>
        </p:nvCxnSpPr>
        <p:spPr>
          <a:xfrm>
            <a:off x="6073001" y="2781494"/>
            <a:ext cx="3885084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id="{C46DF36C-2E2B-F1ED-CC14-3AC08FB98242}"/>
              </a:ext>
            </a:extLst>
          </p:cNvPr>
          <p:cNvSpPr txBox="1"/>
          <p:nvPr/>
        </p:nvSpPr>
        <p:spPr>
          <a:xfrm>
            <a:off x="1655180" y="4127472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F3304240-F461-66F9-BD20-37A7C517DF0F}"/>
              </a:ext>
            </a:extLst>
          </p:cNvPr>
          <p:cNvSpPr txBox="1"/>
          <p:nvPr/>
        </p:nvSpPr>
        <p:spPr>
          <a:xfrm>
            <a:off x="2472160" y="4127472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8B3E9F20-9C12-28DF-4720-07973E59477F}"/>
              </a:ext>
            </a:extLst>
          </p:cNvPr>
          <p:cNvSpPr txBox="1"/>
          <p:nvPr/>
        </p:nvSpPr>
        <p:spPr>
          <a:xfrm>
            <a:off x="3368233" y="4117765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65FD3604-6234-ECC9-75FF-14067B5DAB75}"/>
              </a:ext>
            </a:extLst>
          </p:cNvPr>
          <p:cNvSpPr txBox="1"/>
          <p:nvPr/>
        </p:nvSpPr>
        <p:spPr>
          <a:xfrm>
            <a:off x="4233319" y="4127472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22DF8842-4F91-B01E-FA8A-C00561C191FA}"/>
              </a:ext>
            </a:extLst>
          </p:cNvPr>
          <p:cNvSpPr txBox="1"/>
          <p:nvPr/>
        </p:nvSpPr>
        <p:spPr>
          <a:xfrm>
            <a:off x="5150613" y="4117765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B06B852E-F163-CC2D-499E-93C5ACAA8D4B}"/>
              </a:ext>
            </a:extLst>
          </p:cNvPr>
          <p:cNvSpPr txBox="1"/>
          <p:nvPr/>
        </p:nvSpPr>
        <p:spPr>
          <a:xfrm>
            <a:off x="5990259" y="4131207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66B019A2-D40D-0C32-7967-7D6213F23A8F}"/>
              </a:ext>
            </a:extLst>
          </p:cNvPr>
          <p:cNvSpPr txBox="1"/>
          <p:nvPr/>
        </p:nvSpPr>
        <p:spPr>
          <a:xfrm>
            <a:off x="6858075" y="4123368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C54612F7-AB0E-B9A5-775D-A3E5DE851CA1}"/>
              </a:ext>
            </a:extLst>
          </p:cNvPr>
          <p:cNvSpPr txBox="1"/>
          <p:nvPr/>
        </p:nvSpPr>
        <p:spPr>
          <a:xfrm>
            <a:off x="7697721" y="4131208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6A4DC60D-D857-A216-8820-43FB0C83C05A}"/>
              </a:ext>
            </a:extLst>
          </p:cNvPr>
          <p:cNvSpPr txBox="1"/>
          <p:nvPr/>
        </p:nvSpPr>
        <p:spPr>
          <a:xfrm>
            <a:off x="8562372" y="4121500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37ACCCBF-0510-BF5D-C437-808591F92CAA}"/>
              </a:ext>
            </a:extLst>
          </p:cNvPr>
          <p:cNvSpPr txBox="1"/>
          <p:nvPr/>
        </p:nvSpPr>
        <p:spPr>
          <a:xfrm>
            <a:off x="9409326" y="4108058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BC43859-9332-C48C-7976-187478E08DC8}"/>
              </a:ext>
            </a:extLst>
          </p:cNvPr>
          <p:cNvSpPr txBox="1"/>
          <p:nvPr/>
        </p:nvSpPr>
        <p:spPr>
          <a:xfrm>
            <a:off x="1866417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844B0B78-3B8E-075E-03EA-C1C370501C45}"/>
              </a:ext>
            </a:extLst>
          </p:cNvPr>
          <p:cNvSpPr txBox="1"/>
          <p:nvPr/>
        </p:nvSpPr>
        <p:spPr>
          <a:xfrm>
            <a:off x="2683397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42184CE9-7016-C0A1-B05D-178633F04011}"/>
              </a:ext>
            </a:extLst>
          </p:cNvPr>
          <p:cNvSpPr txBox="1"/>
          <p:nvPr/>
        </p:nvSpPr>
        <p:spPr>
          <a:xfrm>
            <a:off x="3579470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76BBFE76-6F0E-C0CB-CA1A-8E9C666D7ABF}"/>
              </a:ext>
            </a:extLst>
          </p:cNvPr>
          <p:cNvSpPr txBox="1"/>
          <p:nvPr/>
        </p:nvSpPr>
        <p:spPr>
          <a:xfrm>
            <a:off x="4435997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FF15760C-96E7-FF9E-30E0-492762209212}"/>
              </a:ext>
            </a:extLst>
          </p:cNvPr>
          <p:cNvSpPr txBox="1"/>
          <p:nvPr/>
        </p:nvSpPr>
        <p:spPr>
          <a:xfrm>
            <a:off x="5338008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B1EA235E-44CA-FF64-AEBD-6CA804E7AB3A}"/>
              </a:ext>
            </a:extLst>
          </p:cNvPr>
          <p:cNvSpPr txBox="1"/>
          <p:nvPr/>
        </p:nvSpPr>
        <p:spPr>
          <a:xfrm>
            <a:off x="6165326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CFD3F53B-EBDD-5C93-C50E-A1628160A286}"/>
              </a:ext>
            </a:extLst>
          </p:cNvPr>
          <p:cNvSpPr txBox="1"/>
          <p:nvPr/>
        </p:nvSpPr>
        <p:spPr>
          <a:xfrm>
            <a:off x="7021008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7E88DC73-E5B8-5796-A961-E6C2E50FDE66}"/>
              </a:ext>
            </a:extLst>
          </p:cNvPr>
          <p:cNvSpPr txBox="1"/>
          <p:nvPr/>
        </p:nvSpPr>
        <p:spPr>
          <a:xfrm>
            <a:off x="7876690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CEB0440B-CF08-A150-4563-261183974088}"/>
              </a:ext>
            </a:extLst>
          </p:cNvPr>
          <p:cNvSpPr txBox="1"/>
          <p:nvPr/>
        </p:nvSpPr>
        <p:spPr>
          <a:xfrm>
            <a:off x="8754438" y="6022801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8CAA27E7-6150-3971-CFF7-E0594DE07A75}"/>
              </a:ext>
            </a:extLst>
          </p:cNvPr>
          <p:cNvSpPr txBox="1"/>
          <p:nvPr/>
        </p:nvSpPr>
        <p:spPr>
          <a:xfrm>
            <a:off x="9610120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E73643F2-9295-819C-8446-AADE62E9B33E}"/>
              </a:ext>
            </a:extLst>
          </p:cNvPr>
          <p:cNvCxnSpPr>
            <a:stCxn id="30" idx="2"/>
            <a:endCxn id="42" idx="0"/>
          </p:cNvCxnSpPr>
          <p:nvPr/>
        </p:nvCxnSpPr>
        <p:spPr>
          <a:xfrm>
            <a:off x="2233914" y="4496804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BEF93171-DE5C-6277-A34D-2D839079E4D4}"/>
              </a:ext>
            </a:extLst>
          </p:cNvPr>
          <p:cNvCxnSpPr/>
          <p:nvPr/>
        </p:nvCxnSpPr>
        <p:spPr>
          <a:xfrm>
            <a:off x="3034497" y="447739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21FCC6AF-B2EA-988C-CBE0-6D8EC352126E}"/>
              </a:ext>
            </a:extLst>
          </p:cNvPr>
          <p:cNvCxnSpPr/>
          <p:nvPr/>
        </p:nvCxnSpPr>
        <p:spPr>
          <a:xfrm>
            <a:off x="3946967" y="4507986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BF1700C1-FD40-142A-2F9D-2B6C40B8CFCA}"/>
              </a:ext>
            </a:extLst>
          </p:cNvPr>
          <p:cNvCxnSpPr/>
          <p:nvPr/>
        </p:nvCxnSpPr>
        <p:spPr>
          <a:xfrm>
            <a:off x="4803494" y="447739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avec flèche 57">
            <a:extLst>
              <a:ext uri="{FF2B5EF4-FFF2-40B4-BE49-F238E27FC236}">
                <a16:creationId xmlns:a16="http://schemas.microsoft.com/office/drawing/2014/main" id="{0401B290-E847-8E67-B688-CC599D83EC6B}"/>
              </a:ext>
            </a:extLst>
          </p:cNvPr>
          <p:cNvCxnSpPr/>
          <p:nvPr/>
        </p:nvCxnSpPr>
        <p:spPr>
          <a:xfrm>
            <a:off x="5677925" y="447739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DF75A1D3-0BC4-FDC0-CCF6-1DC839FAFC6D}"/>
              </a:ext>
            </a:extLst>
          </p:cNvPr>
          <p:cNvCxnSpPr/>
          <p:nvPr/>
        </p:nvCxnSpPr>
        <p:spPr>
          <a:xfrm>
            <a:off x="6532823" y="447739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DA3C8296-DA2D-EF81-DE83-5298AE88E096}"/>
              </a:ext>
            </a:extLst>
          </p:cNvPr>
          <p:cNvCxnSpPr/>
          <p:nvPr/>
        </p:nvCxnSpPr>
        <p:spPr>
          <a:xfrm>
            <a:off x="7388505" y="4507986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F3F8243C-B9C7-4177-01CD-1E3B15B6AEA3}"/>
              </a:ext>
            </a:extLst>
          </p:cNvPr>
          <p:cNvCxnSpPr/>
          <p:nvPr/>
        </p:nvCxnSpPr>
        <p:spPr>
          <a:xfrm>
            <a:off x="8245032" y="447739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3E039677-86A5-D29B-A67E-8C1BBAC576BE}"/>
              </a:ext>
            </a:extLst>
          </p:cNvPr>
          <p:cNvCxnSpPr/>
          <p:nvPr/>
        </p:nvCxnSpPr>
        <p:spPr>
          <a:xfrm>
            <a:off x="9138211" y="4507986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BB94454D-68A3-F268-7B55-52593E3A6D13}"/>
              </a:ext>
            </a:extLst>
          </p:cNvPr>
          <p:cNvCxnSpPr/>
          <p:nvPr/>
        </p:nvCxnSpPr>
        <p:spPr>
          <a:xfrm>
            <a:off x="9977374" y="447739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rganigramme : Opération manuelle 51">
            <a:extLst>
              <a:ext uri="{FF2B5EF4-FFF2-40B4-BE49-F238E27FC236}">
                <a16:creationId xmlns:a16="http://schemas.microsoft.com/office/drawing/2014/main" id="{79AB59C4-7C45-51EA-6D14-FEEA5EB17ED0}"/>
              </a:ext>
            </a:extLst>
          </p:cNvPr>
          <p:cNvSpPr/>
          <p:nvPr/>
        </p:nvSpPr>
        <p:spPr>
          <a:xfrm>
            <a:off x="1866417" y="4847841"/>
            <a:ext cx="852849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pic>
        <p:nvPicPr>
          <p:cNvPr id="64" name="Image 63">
            <a:extLst>
              <a:ext uri="{FF2B5EF4-FFF2-40B4-BE49-F238E27FC236}">
                <a16:creationId xmlns:a16="http://schemas.microsoft.com/office/drawing/2014/main" id="{4EE0A8A8-C895-3E52-233B-934E1312FC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268" r="7" b="-1"/>
          <a:stretch/>
        </p:blipFill>
        <p:spPr>
          <a:xfrm>
            <a:off x="7337926" y="1937318"/>
            <a:ext cx="836149" cy="844175"/>
          </a:xfrm>
          <a:prstGeom prst="rect">
            <a:avLst/>
          </a:prstGeom>
        </p:spPr>
      </p:pic>
      <p:sp>
        <p:nvSpPr>
          <p:cNvPr id="65" name="ZoneTexte 64">
            <a:extLst>
              <a:ext uri="{FF2B5EF4-FFF2-40B4-BE49-F238E27FC236}">
                <a16:creationId xmlns:a16="http://schemas.microsoft.com/office/drawing/2014/main" id="{B93F3B83-70E3-48A6-31E6-2C8CF7B81A11}"/>
              </a:ext>
            </a:extLst>
          </p:cNvPr>
          <p:cNvSpPr txBox="1"/>
          <p:nvPr/>
        </p:nvSpPr>
        <p:spPr>
          <a:xfrm>
            <a:off x="6386418" y="1800402"/>
            <a:ext cx="1113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>
                <a:solidFill>
                  <a:schemeClr val="bg1">
                    <a:lumMod val="65000"/>
                  </a:schemeClr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8694078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FD388-D1AC-01C0-47BF-42C13F129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9859665-9CE0-5B56-A9E3-3FA81685A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Reconnaissance de la classe source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Fonctionnement</a:t>
            </a:r>
            <a:endParaRPr lang="fr-FR" dirty="0"/>
          </a:p>
        </p:txBody>
      </p:sp>
      <p:pic>
        <p:nvPicPr>
          <p:cNvPr id="2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F3C2298F-FB33-A832-E80A-A876AC504D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8284" y="2431467"/>
            <a:ext cx="3111201" cy="1817779"/>
          </a:xfrm>
        </p:spPr>
      </p:pic>
      <p:pic>
        <p:nvPicPr>
          <p:cNvPr id="5" name="Image 4" descr="Une image contenant symbole, noir, noir et blanc, obscurité&#10;&#10;Le contenu généré par l’IA peut être incorrect.">
            <a:extLst>
              <a:ext uri="{FF2B5EF4-FFF2-40B4-BE49-F238E27FC236}">
                <a16:creationId xmlns:a16="http://schemas.microsoft.com/office/drawing/2014/main" id="{A19A651F-8DB9-0CE4-2EE9-1A50FCA7AF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1718" y="2431465"/>
            <a:ext cx="3111201" cy="1817780"/>
          </a:xfrm>
          <a:prstGeom prst="rect">
            <a:avLst/>
          </a:prstGeom>
        </p:spPr>
      </p:pic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BA5DE551-0FCF-D9DB-3738-315869B2A67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5589485" y="3340355"/>
            <a:ext cx="1092233" cy="2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rganigramme : Opération manuelle 20">
            <a:extLst>
              <a:ext uri="{FF2B5EF4-FFF2-40B4-BE49-F238E27FC236}">
                <a16:creationId xmlns:a16="http://schemas.microsoft.com/office/drawing/2014/main" id="{58980EDF-053E-A098-10D1-97DDC63BF8C5}"/>
              </a:ext>
            </a:extLst>
          </p:cNvPr>
          <p:cNvSpPr/>
          <p:nvPr/>
        </p:nvSpPr>
        <p:spPr>
          <a:xfrm>
            <a:off x="2478283" y="4515331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2" name="Organigramme : Opération manuelle 21">
            <a:extLst>
              <a:ext uri="{FF2B5EF4-FFF2-40B4-BE49-F238E27FC236}">
                <a16:creationId xmlns:a16="http://schemas.microsoft.com/office/drawing/2014/main" id="{19399A36-8FB2-70C8-0496-BA7BD8D1A599}"/>
              </a:ext>
            </a:extLst>
          </p:cNvPr>
          <p:cNvSpPr/>
          <p:nvPr/>
        </p:nvSpPr>
        <p:spPr>
          <a:xfrm>
            <a:off x="6681718" y="4515331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10BDF56-09CA-051A-33A4-368B62C17C4F}"/>
              </a:ext>
            </a:extLst>
          </p:cNvPr>
          <p:cNvSpPr txBox="1"/>
          <p:nvPr/>
        </p:nvSpPr>
        <p:spPr>
          <a:xfrm>
            <a:off x="2651253" y="5141289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3	6	2</a:t>
            </a:r>
            <a:endParaRPr lang="fr-FR" sz="3600" u="sng" dirty="0">
              <a:latin typeface="Arial" panose="020B0604020202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27072C15-C84F-CDAF-6370-215D39DE81BC}"/>
              </a:ext>
            </a:extLst>
          </p:cNvPr>
          <p:cNvSpPr txBox="1"/>
          <p:nvPr/>
        </p:nvSpPr>
        <p:spPr>
          <a:xfrm>
            <a:off x="6854688" y="5141289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3	6	2</a:t>
            </a:r>
            <a:endParaRPr lang="fr-FR" sz="3600" u="sng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4174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1DE7-1A59-74E9-CEA0-9A45704B9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237D654-2A5B-0D39-8DC6-9D4A76710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Reconnaissance de la classe source</a:t>
            </a:r>
            <a:br>
              <a:rPr lang="fr-FR" sz="2400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Entraînement du classifieur</a:t>
            </a:r>
            <a:endParaRPr lang="fr-FR" sz="2400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C8BF3C09-6F96-8981-A516-9FAD66F995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0275"/>
          <a:stretch/>
        </p:blipFill>
        <p:spPr>
          <a:xfrm>
            <a:off x="4728801" y="1827605"/>
            <a:ext cx="836149" cy="844175"/>
          </a:xfrm>
          <a:prstGeom prst="rect">
            <a:avLst/>
          </a:prstGeom>
        </p:spPr>
      </p:pic>
      <p:pic>
        <p:nvPicPr>
          <p:cNvPr id="64" name="Image 63">
            <a:extLst>
              <a:ext uri="{FF2B5EF4-FFF2-40B4-BE49-F238E27FC236}">
                <a16:creationId xmlns:a16="http://schemas.microsoft.com/office/drawing/2014/main" id="{8D22439E-BED2-C348-6C60-41B0A9962A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268" r="7" b="-1"/>
          <a:stretch/>
        </p:blipFill>
        <p:spPr>
          <a:xfrm>
            <a:off x="6388802" y="1827604"/>
            <a:ext cx="836149" cy="844175"/>
          </a:xfrm>
          <a:prstGeom prst="rect">
            <a:avLst/>
          </a:prstGeom>
        </p:spPr>
      </p:pic>
      <p:sp>
        <p:nvSpPr>
          <p:cNvPr id="65" name="ZoneTexte 64">
            <a:extLst>
              <a:ext uri="{FF2B5EF4-FFF2-40B4-BE49-F238E27FC236}">
                <a16:creationId xmlns:a16="http://schemas.microsoft.com/office/drawing/2014/main" id="{13B1D176-D176-8D25-1438-4D85788E82F3}"/>
              </a:ext>
            </a:extLst>
          </p:cNvPr>
          <p:cNvSpPr txBox="1"/>
          <p:nvPr/>
        </p:nvSpPr>
        <p:spPr>
          <a:xfrm>
            <a:off x="5437294" y="1690688"/>
            <a:ext cx="1113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>
                <a:solidFill>
                  <a:schemeClr val="bg1">
                    <a:lumMod val="65000"/>
                  </a:schemeClr>
                </a:solidFill>
              </a:rPr>
              <a:t>…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57E7A7C-43E3-FE36-BB64-0392F08CAA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0275"/>
          <a:stretch/>
        </p:blipFill>
        <p:spPr>
          <a:xfrm>
            <a:off x="2232651" y="3429001"/>
            <a:ext cx="836149" cy="84417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370016C-6414-F631-9C9B-8376FCE5BD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268" r="7" b="-1"/>
          <a:stretch/>
        </p:blipFill>
        <p:spPr>
          <a:xfrm>
            <a:off x="3892652" y="3429000"/>
            <a:ext cx="836149" cy="844175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846154B5-F395-2317-D78C-1ABE6B105EAC}"/>
              </a:ext>
            </a:extLst>
          </p:cNvPr>
          <p:cNvSpPr txBox="1"/>
          <p:nvPr/>
        </p:nvSpPr>
        <p:spPr>
          <a:xfrm>
            <a:off x="2941144" y="3292084"/>
            <a:ext cx="1113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>
                <a:solidFill>
                  <a:schemeClr val="bg1">
                    <a:lumMod val="65000"/>
                  </a:schemeClr>
                </a:solidFill>
              </a:rPr>
              <a:t>…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883D710A-2A37-3A41-0440-60A5C14C7F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0275"/>
          <a:stretch/>
        </p:blipFill>
        <p:spPr>
          <a:xfrm>
            <a:off x="7224951" y="3429000"/>
            <a:ext cx="836149" cy="84417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0794FC37-3BDA-36B6-70F3-FAD83EBF80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268" r="7" b="-1"/>
          <a:stretch/>
        </p:blipFill>
        <p:spPr>
          <a:xfrm>
            <a:off x="8884952" y="3428999"/>
            <a:ext cx="836149" cy="844175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1E3DFD00-FA80-037E-C471-BEAB45010FC7}"/>
              </a:ext>
            </a:extLst>
          </p:cNvPr>
          <p:cNvSpPr txBox="1"/>
          <p:nvPr/>
        </p:nvSpPr>
        <p:spPr>
          <a:xfrm>
            <a:off x="7933444" y="3292083"/>
            <a:ext cx="1113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>
                <a:solidFill>
                  <a:schemeClr val="bg1">
                    <a:lumMod val="65000"/>
                  </a:schemeClr>
                </a:solidFill>
              </a:rPr>
              <a:t>…</a:t>
            </a:r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C0D14780-2469-D713-FF96-BA8881B7521F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2650726" y="2671780"/>
            <a:ext cx="2496150" cy="7572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DE9D0B71-2516-4F7F-C3EF-70C3BAD63739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 flipH="1">
            <a:off x="4310727" y="2671780"/>
            <a:ext cx="836149" cy="757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74D2D05B-A24B-B161-7623-270855532249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6819173" y="2658601"/>
            <a:ext cx="823853" cy="7703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FEC80921-839A-3332-52F7-BDCDBABF9C77}"/>
              </a:ext>
            </a:extLst>
          </p:cNvPr>
          <p:cNvCxnSpPr>
            <a:cxnSpLocks/>
            <a:stCxn id="64" idx="2"/>
            <a:endCxn id="12" idx="0"/>
          </p:cNvCxnSpPr>
          <p:nvPr/>
        </p:nvCxnSpPr>
        <p:spPr>
          <a:xfrm>
            <a:off x="6806877" y="2671779"/>
            <a:ext cx="2496150" cy="757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rganigramme : Opération manuelle 52">
            <a:extLst>
              <a:ext uri="{FF2B5EF4-FFF2-40B4-BE49-F238E27FC236}">
                <a16:creationId xmlns:a16="http://schemas.microsoft.com/office/drawing/2014/main" id="{8495F66E-259C-02C8-E868-589514E7CF24}"/>
              </a:ext>
            </a:extLst>
          </p:cNvPr>
          <p:cNvSpPr/>
          <p:nvPr/>
        </p:nvSpPr>
        <p:spPr>
          <a:xfrm>
            <a:off x="2232650" y="4847841"/>
            <a:ext cx="249615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66" name="Organigramme : Opération manuelle 65">
            <a:extLst>
              <a:ext uri="{FF2B5EF4-FFF2-40B4-BE49-F238E27FC236}">
                <a16:creationId xmlns:a16="http://schemas.microsoft.com/office/drawing/2014/main" id="{3E415B51-9A33-F199-F8F1-84E064974FCB}"/>
              </a:ext>
            </a:extLst>
          </p:cNvPr>
          <p:cNvSpPr/>
          <p:nvPr/>
        </p:nvSpPr>
        <p:spPr>
          <a:xfrm>
            <a:off x="7241978" y="4847841"/>
            <a:ext cx="249615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CBD773E3-4459-CAA5-0387-970D8C528C2E}"/>
              </a:ext>
            </a:extLst>
          </p:cNvPr>
          <p:cNvSpPr txBox="1"/>
          <p:nvPr/>
        </p:nvSpPr>
        <p:spPr>
          <a:xfrm>
            <a:off x="2290525" y="5734603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0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35B0E362-C395-6090-666D-23B5D88CFD1C}"/>
              </a:ext>
            </a:extLst>
          </p:cNvPr>
          <p:cNvSpPr txBox="1"/>
          <p:nvPr/>
        </p:nvSpPr>
        <p:spPr>
          <a:xfrm>
            <a:off x="4001104" y="5738831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0</a:t>
            </a: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0CA21A84-29AB-E882-7F40-6E4DC5B788EF}"/>
              </a:ext>
            </a:extLst>
          </p:cNvPr>
          <p:cNvSpPr txBox="1"/>
          <p:nvPr/>
        </p:nvSpPr>
        <p:spPr>
          <a:xfrm>
            <a:off x="7275530" y="5734603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9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2C22206-4A5E-39A6-74A6-0E3AFE639E03}"/>
              </a:ext>
            </a:extLst>
          </p:cNvPr>
          <p:cNvSpPr txBox="1"/>
          <p:nvPr/>
        </p:nvSpPr>
        <p:spPr>
          <a:xfrm>
            <a:off x="8927208" y="5750253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9</a:t>
            </a:r>
          </a:p>
        </p:txBody>
      </p:sp>
      <p:cxnSp>
        <p:nvCxnSpPr>
          <p:cNvPr id="71" name="Connecteur droit avec flèche 70">
            <a:extLst>
              <a:ext uri="{FF2B5EF4-FFF2-40B4-BE49-F238E27FC236}">
                <a16:creationId xmlns:a16="http://schemas.microsoft.com/office/drawing/2014/main" id="{C84C8896-FB4D-E93F-E005-1D33309699E4}"/>
              </a:ext>
            </a:extLst>
          </p:cNvPr>
          <p:cNvCxnSpPr/>
          <p:nvPr/>
        </p:nvCxnSpPr>
        <p:spPr>
          <a:xfrm>
            <a:off x="2650726" y="4241007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F6F35E19-8CE9-79C8-0824-3BDF25B305B6}"/>
              </a:ext>
            </a:extLst>
          </p:cNvPr>
          <p:cNvCxnSpPr/>
          <p:nvPr/>
        </p:nvCxnSpPr>
        <p:spPr>
          <a:xfrm>
            <a:off x="4347504" y="4241007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A9E0C565-53F0-6F5C-BE67-4D1960705522}"/>
              </a:ext>
            </a:extLst>
          </p:cNvPr>
          <p:cNvCxnSpPr/>
          <p:nvPr/>
        </p:nvCxnSpPr>
        <p:spPr>
          <a:xfrm>
            <a:off x="7643026" y="4241007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9E2D0394-7BF6-BECA-2572-7906F2506C12}"/>
              </a:ext>
            </a:extLst>
          </p:cNvPr>
          <p:cNvCxnSpPr/>
          <p:nvPr/>
        </p:nvCxnSpPr>
        <p:spPr>
          <a:xfrm>
            <a:off x="9303027" y="4241007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03354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1B1C2-639D-3C8E-D1A8-3F79E5892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5E698441-28D0-7C64-AC4E-698BA9CCB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A8FC807-E4D0-96C1-F7FF-208BF7FA5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1953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866A7-8450-103C-0D3C-61722B59E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3DEFD9E-3A54-4A41-5E4D-D8882A45F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Résultats expérimentaux</a:t>
            </a:r>
            <a:br>
              <a:rPr lang="fr-FR" sz="2400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Détection de l’obscuration</a:t>
            </a:r>
            <a:endParaRPr lang="fr-FR" sz="24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97CD9AA-2C61-C6D8-B98C-A3047AD84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072" y="1620991"/>
            <a:ext cx="6089855" cy="4871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698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ED6FE-C2C4-77C4-CF26-5497D4CBF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D4324FB-DF1E-8F23-BEF6-D17492A11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Résultats expérimentaux</a:t>
            </a:r>
            <a:br>
              <a:rPr lang="fr-FR" sz="2400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Reconnaissance de la classe source</a:t>
            </a:r>
            <a:endParaRPr lang="fr-FR" sz="2400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F5D7D21-B7C0-694F-27EF-9558414BEC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072" y="1620991"/>
            <a:ext cx="6089855" cy="4871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4676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B0FF0-D8F9-C769-7A64-6AD0A50C9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1C0F03A-00C9-4C00-9802-C712BFF0F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7B4AEEAB-3777-F2BC-884D-17E2D71E69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9403733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640</TotalTime>
  <Words>275</Words>
  <Application>Microsoft Office PowerPoint</Application>
  <PresentationFormat>Grand écran</PresentationFormat>
  <Paragraphs>92</Paragraphs>
  <Slides>28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2" baseType="lpstr">
      <vt:lpstr>Aptos</vt:lpstr>
      <vt:lpstr>Aptos Display</vt:lpstr>
      <vt:lpstr>Arial</vt:lpstr>
      <vt:lpstr>Thème Office</vt:lpstr>
      <vt:lpstr>Obscuration de contenu numérique dans une image</vt:lpstr>
      <vt:lpstr>Contexte</vt:lpstr>
      <vt:lpstr>Solution</vt:lpstr>
      <vt:lpstr>Méthode d’obscuration</vt:lpstr>
      <vt:lpstr>Méthode d’obscuration Pipeline</vt:lpstr>
      <vt:lpstr>Méthode d’obscuration Obscuration</vt:lpstr>
      <vt:lpstr>Méthode d’obscuration Obscuration</vt:lpstr>
      <vt:lpstr>Méthode d’obscuration Obscuration</vt:lpstr>
      <vt:lpstr>Méthode d’obscuration Déobscuration</vt:lpstr>
      <vt:lpstr>Évaluation de l’obscuration Classification</vt:lpstr>
      <vt:lpstr>Résultats expérimentaux</vt:lpstr>
      <vt:lpstr>Résultats expérimentaux Dataset</vt:lpstr>
      <vt:lpstr>Résultats expérimentaux Modèles</vt:lpstr>
      <vt:lpstr>Résultats expérimentaux Obscuration</vt:lpstr>
      <vt:lpstr>Résultats expérimentaux Translation des chiffres</vt:lpstr>
      <vt:lpstr>Résultats expérimentaux Translation des chiffres</vt:lpstr>
      <vt:lpstr>Résultats expérimentaux Classification</vt:lpstr>
      <vt:lpstr>Résultats expérimentaux Déobscuration</vt:lpstr>
      <vt:lpstr>Résultats expérimentaux Classification de la déobscuration</vt:lpstr>
      <vt:lpstr>Attaque et défense</vt:lpstr>
      <vt:lpstr>Détection de l’obscuration Fonctionnement</vt:lpstr>
      <vt:lpstr>Détection de l’obscuration Entraînement du classifieur</vt:lpstr>
      <vt:lpstr>Reconnaissance de la classe source Fonctionnement</vt:lpstr>
      <vt:lpstr>Reconnaissance de la classe source Entraînement du classifieur</vt:lpstr>
      <vt:lpstr>Résultats expérimentaux</vt:lpstr>
      <vt:lpstr>Résultats expérimentaux Détection de l’obscuration</vt:lpstr>
      <vt:lpstr>Résultats expérimentaux Reconnaissance de la classe source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Valentin Noye</dc:creator>
  <cp:lastModifiedBy>Valentin Noye</cp:lastModifiedBy>
  <cp:revision>88</cp:revision>
  <dcterms:created xsi:type="dcterms:W3CDTF">2025-02-28T08:29:14Z</dcterms:created>
  <dcterms:modified xsi:type="dcterms:W3CDTF">2025-03-03T14:28:24Z</dcterms:modified>
</cp:coreProperties>
</file>