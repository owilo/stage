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5" r:id="rId4"/>
    <p:sldId id="280" r:id="rId5"/>
    <p:sldId id="299" r:id="rId6"/>
    <p:sldId id="300" r:id="rId7"/>
    <p:sldId id="298" r:id="rId8"/>
    <p:sldId id="301" r:id="rId9"/>
    <p:sldId id="302" r:id="rId10"/>
    <p:sldId id="274" r:id="rId11"/>
    <p:sldId id="281" r:id="rId12"/>
    <p:sldId id="279" r:id="rId13"/>
    <p:sldId id="287" r:id="rId14"/>
    <p:sldId id="307" r:id="rId15"/>
    <p:sldId id="264" r:id="rId16"/>
    <p:sldId id="271" r:id="rId17"/>
    <p:sldId id="284" r:id="rId18"/>
    <p:sldId id="270" r:id="rId19"/>
    <p:sldId id="306" r:id="rId20"/>
    <p:sldId id="303" r:id="rId21"/>
    <p:sldId id="263" r:id="rId22"/>
    <p:sldId id="289" r:id="rId23"/>
    <p:sldId id="291" r:id="rId24"/>
    <p:sldId id="293" r:id="rId25"/>
    <p:sldId id="295" r:id="rId26"/>
    <p:sldId id="288" r:id="rId27"/>
    <p:sldId id="304" r:id="rId28"/>
    <p:sldId id="305" r:id="rId29"/>
    <p:sldId id="268" r:id="rId30"/>
    <p:sldId id="308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A8A"/>
    <a:srgbClr val="B491C5"/>
    <a:srgbClr val="A3D971"/>
    <a:srgbClr val="B1DF89"/>
    <a:srgbClr val="C9B0D5"/>
    <a:srgbClr val="FB9998"/>
    <a:srgbClr val="247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8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DDCED-2AB4-4C6B-A36F-4D868C2E1EFE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B9A20-D30B-425E-BEF8-7F223E1D48C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240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B9A20-D30B-425E-BEF8-7F223E1D48C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84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D24D8-9D3D-13BC-4388-8FE62771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5565DB-B8C6-4E18-7C02-88C77A631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C4E8227-41F5-F84F-1BB6-76CD56A99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D5F242-42A1-C7F4-47C0-457B18F5A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AB9A20-D30B-425E-BEF8-7F223E1D48C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900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8BBD6-204F-4D96-1847-1009721C9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AE7385-9C52-556B-E8AC-676DD06A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696B82-CB51-5AAD-A68E-ED4A30FA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C87D81-E4CF-6AD5-29E5-A80073B9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303858-EEE7-9AC5-657F-354CDD4D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97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F6AF51-20E6-4AF9-5D07-C018F090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F9230E-154C-9210-DC2E-90595CD3E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9BB303-F9D9-2255-2212-480A48A4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6C26BF-0393-B8FE-385D-A5DB3974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F8FAE9-054B-8164-CF8F-74CBC777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36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993BD-2828-99CA-6C18-17B57600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EB4FE1-F8EC-AAD6-5E5E-3EF42D86D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2B6502-CE99-AE87-783E-4D1A5DE3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0AA4B9-B0E7-ECC4-C23B-A0C8B83E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199DC9-C96A-E638-D0F2-6F7BBF83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45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234C1-5F5F-9142-6F72-CCA423B8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F1D5F8-67AD-8860-EC09-32310BFDF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0A1FCF-EFC4-EEFB-9518-4AB4928B3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318933-74C4-9E0F-0CB0-5EE6F97C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266D67-4D8C-FE5B-63C1-0DAE7E4BF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CB3347-ED1E-266C-561F-3B4B99E2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0257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2A816-E571-7588-B8A4-562D7D6A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244516-0A76-1211-47E6-F0348CB38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A5D8872-F887-9C54-56B0-4EA9B247A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1A9378-C80F-86C6-4DE9-F9065279D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B5F498-34EA-B5DC-AB8D-16D78FCAF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B7C31A8-975E-86BB-6CAB-9CFE7563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7348D8C-B3BE-1272-F7D2-6C55417B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45DFA37-E772-A967-AAF3-B70F5738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8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C8BB1-6E48-96E1-CA56-B276FCA6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3AD145-4328-4CEE-5DD7-9FD4C49F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A789A72-6C22-D2CC-D5DC-5C77F248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6CCCE5-2F7A-0FDE-E97F-82AD0080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13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E89DE27-D622-1ADE-853A-5DD9C4F6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532452-7721-EF4B-F0E0-0D86D1CD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3AD80A-F71E-7C1B-B9D7-72C30255C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339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8A6699-7E37-8C4F-01C2-F8CB0310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478760-C8EA-4AFD-4A2A-F1DA10869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95B982-4EE7-3A4D-C061-7A722D49E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295876-89BD-61E8-7775-E92D2DAE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0A65AD-CE31-3238-9DE2-5727B84F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F5A45A-2B16-4F11-BE86-F13E7855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12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04917-7587-BE3C-3A3C-B3032F06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9FAD061-00C2-C842-9BEA-15A87D05B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A10F09-832D-7EF2-B296-BA1794A34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CBDFB6-E26A-12CE-1E7A-A29440BC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AB8467-55E7-6F5A-9DA0-05863906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ADCCD2-4982-172B-B745-351A03A5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65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090C9F-4E54-C9FE-C81F-090A110D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20BC42-F5EF-E91A-FBF8-A39E24883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C6FB9F-23D9-D886-B0E3-C94F83F5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53F324-EB02-A0BF-70ED-54CE53B9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79B9E1-3D9B-300E-FCCE-7A00D06EF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1970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225DA12-DBF2-8D9D-9197-C02FCB730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5EAAF2-A1DF-58F0-1B2B-6FF6904A0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9812CF-9F89-5DDE-CE90-01211F60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7BA7B9-738A-9211-AC45-1B09699A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97956F-72B1-9441-CE55-7199F3AC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73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1FC58B-4780-7F51-5DE6-93B0C469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2847C3-B07D-2F7A-97F3-916215C5E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4A70FE-F51B-7E16-F13C-A9BD1B5C1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83883-7D35-4165-90D1-08F5B397DD95}" type="datetimeFigureOut">
              <a:rPr lang="fr-FR" smtClean="0"/>
              <a:t>05/03/2025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E454F0-27A9-6668-2678-E4A3EE8C7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4CBC7F-61EB-39D5-9189-ED0195522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41521-9BE8-4EEF-BBB8-7DC561390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9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B3D578-2BDE-CA5B-4393-5A7CF6D9B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Obscuration d’une image contenant des chiffres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2F4B9F-CFA1-7FF3-619F-FB929CAB3C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Valentin Noyé</a:t>
            </a:r>
          </a:p>
        </p:txBody>
      </p:sp>
    </p:spTree>
    <p:extLst>
      <p:ext uri="{BB962C8B-B14F-4D97-AF65-F5344CB8AC3E}">
        <p14:creationId xmlns:p14="http://schemas.microsoft.com/office/powerpoint/2010/main" val="369285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54AB-8FB3-16D0-B202-4E370425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F26C3A-62AD-9897-387A-31787145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F79BCE3-B738-6926-9A88-9720A327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Protection des données</a:t>
            </a:r>
            <a:r>
              <a:rPr lang="fr-FR" dirty="0"/>
              <a:t>, de la vie privée</a:t>
            </a:r>
          </a:p>
          <a:p>
            <a:r>
              <a:rPr lang="fr-FR" dirty="0"/>
              <a:t>Importance de l’information dans les médias visuels </a:t>
            </a:r>
          </a:p>
          <a:p>
            <a:r>
              <a:rPr lang="fr-FR" dirty="0"/>
              <a:t>Obscuration </a:t>
            </a:r>
            <a:r>
              <a:rPr lang="fr-FR" b="1" dirty="0"/>
              <a:t>réversible</a:t>
            </a:r>
            <a:r>
              <a:rPr lang="fr-FR" dirty="0"/>
              <a:t> à partir d’une clé</a:t>
            </a:r>
          </a:p>
          <a:p>
            <a:r>
              <a:rPr lang="fr-FR" dirty="0"/>
              <a:t>Bonne</a:t>
            </a:r>
            <a:r>
              <a:rPr lang="fr-FR" b="1" dirty="0"/>
              <a:t> fidélité visuelle</a:t>
            </a:r>
            <a:r>
              <a:rPr lang="fr-FR" dirty="0"/>
              <a:t> et </a:t>
            </a:r>
            <a:r>
              <a:rPr lang="fr-FR" b="1" dirty="0"/>
              <a:t>invisible</a:t>
            </a:r>
          </a:p>
        </p:txBody>
      </p:sp>
      <p:pic>
        <p:nvPicPr>
          <p:cNvPr id="3" name="Image 2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F015CF88-5F76-5AEB-709F-82172846B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21" y="4316958"/>
            <a:ext cx="2741955" cy="1746952"/>
          </a:xfrm>
          <a:prstGeom prst="rect">
            <a:avLst/>
          </a:prstGeom>
        </p:spPr>
      </p:pic>
      <p:pic>
        <p:nvPicPr>
          <p:cNvPr id="7" name="Image 6" descr="Une image contenant voiture, Extérieur d’automobile, pare-choc, texte&#10;&#10;Le contenu généré par l’IA peut être incorrect.">
            <a:extLst>
              <a:ext uri="{FF2B5EF4-FFF2-40B4-BE49-F238E27FC236}">
                <a16:creationId xmlns:a16="http://schemas.microsoft.com/office/drawing/2014/main" id="{C6CA7A3B-E167-D4DD-1944-2009657AA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22" y="4316958"/>
            <a:ext cx="2741955" cy="1746952"/>
          </a:xfrm>
          <a:prstGeom prst="rect">
            <a:avLst/>
          </a:prstGeom>
        </p:spPr>
      </p:pic>
      <p:pic>
        <p:nvPicPr>
          <p:cNvPr id="12" name="Image 11" descr="Une image contenant texte, Plaque d’immatriculation de véhicule, voiture, Extérieur d’automobile&#10;&#10;Le contenu généré par l’IA peut être incorrect.">
            <a:extLst>
              <a:ext uri="{FF2B5EF4-FFF2-40B4-BE49-F238E27FC236}">
                <a16:creationId xmlns:a16="http://schemas.microsoft.com/office/drawing/2014/main" id="{BBC4CA20-BD42-BF90-46EB-555A6D555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223" y="4316958"/>
            <a:ext cx="2741955" cy="17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08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9738F-08F1-4627-856B-76F322F4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94E6EAB-B6B8-17B8-EC9C-E8F544E9C18A}"/>
              </a:ext>
            </a:extLst>
          </p:cNvPr>
          <p:cNvCxnSpPr>
            <a:cxnSpLocks/>
          </p:cNvCxnSpPr>
          <p:nvPr/>
        </p:nvCxnSpPr>
        <p:spPr>
          <a:xfrm flipV="1">
            <a:off x="6096000" y="1500682"/>
            <a:ext cx="0" cy="489712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re 3">
            <a:extLst>
              <a:ext uri="{FF2B5EF4-FFF2-40B4-BE49-F238E27FC236}">
                <a16:creationId xmlns:a16="http://schemas.microsoft.com/office/drawing/2014/main" id="{7BCB90DE-1C27-2546-963A-20A41C83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</a:t>
            </a:r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800F019-0540-9596-637D-FBE58B859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5" y="3126140"/>
            <a:ext cx="3111201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55F43A82-C663-42E8-3834-02DB6AC39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3126138"/>
            <a:ext cx="3111201" cy="1817780"/>
          </a:xfrm>
          <a:prstGeom prst="rect">
            <a:avLst/>
          </a:prstGeom>
        </p:spPr>
      </p:pic>
      <p:pic>
        <p:nvPicPr>
          <p:cNvPr id="6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5A1E8B95-9AE8-F457-8E70-FA48E11A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834" y="3126139"/>
            <a:ext cx="3111201" cy="1817779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CB88524-6E3A-D7AE-5227-80D7AB2E6AA3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3448166" y="4035028"/>
            <a:ext cx="1092233" cy="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81C3C877-D99B-0767-F315-AA8C4140771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651600" y="4035028"/>
            <a:ext cx="1092234" cy="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504DAEFD-FB55-FFA5-1950-1FE7588E1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831" y="3233790"/>
            <a:ext cx="585940" cy="585940"/>
          </a:xfrm>
          <a:prstGeom prst="rect">
            <a:avLst/>
          </a:prstGeom>
        </p:spPr>
      </p:pic>
      <p:pic>
        <p:nvPicPr>
          <p:cNvPr id="8" name="Image 7" descr="Une image contenant objets en métal, clé&#10;&#10;Le contenu généré par l’IA peut être incorrect.">
            <a:extLst>
              <a:ext uri="{FF2B5EF4-FFF2-40B4-BE49-F238E27FC236}">
                <a16:creationId xmlns:a16="http://schemas.microsoft.com/office/drawing/2014/main" id="{A1273A7F-38DD-CFC7-79BA-C991DB237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275" y="3233790"/>
            <a:ext cx="585940" cy="58594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A6251F5-F834-9F95-6CEC-F3EA3D0D71C2}"/>
              </a:ext>
            </a:extLst>
          </p:cNvPr>
          <p:cNvSpPr txBox="1"/>
          <p:nvPr/>
        </p:nvSpPr>
        <p:spPr>
          <a:xfrm>
            <a:off x="-3" y="2238197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tx2">
                    <a:lumMod val="75000"/>
                    <a:lumOff val="25000"/>
                  </a:schemeClr>
                </a:solidFill>
                <a:cs typeface="Cascadia Code" panose="020B0609020000020004" pitchFamily="49" charset="0"/>
              </a:rPr>
              <a:t>Obscuration</a:t>
            </a:r>
            <a:endParaRPr lang="fr-FR" sz="3200" b="1" baseline="-25000" dirty="0">
              <a:solidFill>
                <a:schemeClr val="tx2">
                  <a:lumMod val="75000"/>
                  <a:lumOff val="25000"/>
                </a:schemeClr>
              </a:solidFill>
              <a:cs typeface="Cascadia Code" panose="020B06090200000200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01AE18-024D-2FED-DCC0-8D1780C64C2D}"/>
              </a:ext>
            </a:extLst>
          </p:cNvPr>
          <p:cNvSpPr txBox="1"/>
          <p:nvPr/>
        </p:nvSpPr>
        <p:spPr>
          <a:xfrm>
            <a:off x="6096000" y="2315485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err="1">
                <a:solidFill>
                  <a:schemeClr val="accent2"/>
                </a:solidFill>
                <a:cs typeface="Cascadia Code" panose="020B0609020000020004" pitchFamily="49" charset="0"/>
              </a:rPr>
              <a:t>Désobscuration</a:t>
            </a:r>
            <a:endParaRPr lang="fr-FR" sz="3200" b="1" baseline="-25000" dirty="0">
              <a:solidFill>
                <a:schemeClr val="accent2"/>
              </a:solidFill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10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59C39-9BC5-BE51-A987-864709510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455AE13-BA44-7E91-AAA0-EEB8193A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dirty="0"/>
              <a:t>Méthode d’obscuration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E98A7F-01DE-2A4D-66CB-0D04F63E1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10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0705-6276-88EC-DEE9-8B186170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F3D12FE-D133-0DAE-97D1-BF229C13E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Calcul des vecteurs de translation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9A6014-799D-3D94-4F8B-AA3F61714D05}"/>
              </a:ext>
            </a:extLst>
          </p:cNvPr>
          <p:cNvSpPr/>
          <p:nvPr/>
        </p:nvSpPr>
        <p:spPr>
          <a:xfrm>
            <a:off x="741400" y="206018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fr-FR" sz="3600" baseline="30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endParaRPr lang="fr-FR" sz="3600" baseline="-250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rapèze 9">
            <a:extLst>
              <a:ext uri="{FF2B5EF4-FFF2-40B4-BE49-F238E27FC236}">
                <a16:creationId xmlns:a16="http://schemas.microsoft.com/office/drawing/2014/main" id="{01D65206-36FD-72D1-9D6F-AC2A5DC1960B}"/>
              </a:ext>
            </a:extLst>
          </p:cNvPr>
          <p:cNvSpPr/>
          <p:nvPr/>
        </p:nvSpPr>
        <p:spPr>
          <a:xfrm rot="5400000">
            <a:off x="2023562" y="247532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39A186-8EAF-5B81-6D17-FB4C5970D96F}"/>
              </a:ext>
            </a:extLst>
          </p:cNvPr>
          <p:cNvSpPr/>
          <p:nvPr/>
        </p:nvSpPr>
        <p:spPr>
          <a:xfrm>
            <a:off x="3301474" y="2453729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DFCC761-DDB5-4FEB-F56E-334058A415AB}"/>
              </a:ext>
            </a:extLst>
          </p:cNvPr>
          <p:cNvSpPr txBox="1"/>
          <p:nvPr/>
        </p:nvSpPr>
        <p:spPr>
          <a:xfrm>
            <a:off x="2995196" y="301820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fr-FR" baseline="30000" dirty="0"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4F7FA77-3210-2607-8E12-C818A2D22922}"/>
              </a:ext>
            </a:extLst>
          </p:cNvPr>
          <p:cNvSpPr txBox="1"/>
          <p:nvPr/>
        </p:nvSpPr>
        <p:spPr>
          <a:xfrm>
            <a:off x="539754" y="5494792"/>
            <a:ext cx="1730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Image d’entraînement de la classe </a:t>
            </a:r>
            <a:r>
              <a:rPr lang="fr-FR" b="1" dirty="0">
                <a:cs typeface="Cascadia Code" panose="020B0609020000020004" pitchFamily="49" charset="0"/>
              </a:rPr>
              <a:t>c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FA2027-0633-8C8E-95F9-C44FE9A7FD01}"/>
              </a:ext>
            </a:extLst>
          </p:cNvPr>
          <p:cNvSpPr/>
          <p:nvPr/>
        </p:nvSpPr>
        <p:spPr>
          <a:xfrm>
            <a:off x="741399" y="4169229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fr-FR" sz="3600" baseline="30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fr-FR" sz="36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rapèze 4">
            <a:extLst>
              <a:ext uri="{FF2B5EF4-FFF2-40B4-BE49-F238E27FC236}">
                <a16:creationId xmlns:a16="http://schemas.microsoft.com/office/drawing/2014/main" id="{E6A91BC8-D7D1-4F71-2E75-6C63EED98F54}"/>
              </a:ext>
            </a:extLst>
          </p:cNvPr>
          <p:cNvSpPr/>
          <p:nvPr/>
        </p:nvSpPr>
        <p:spPr>
          <a:xfrm rot="5400000">
            <a:off x="2023562" y="4584361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12DD8C-C301-583A-4725-49D9A48BE749}"/>
              </a:ext>
            </a:extLst>
          </p:cNvPr>
          <p:cNvSpPr/>
          <p:nvPr/>
        </p:nvSpPr>
        <p:spPr>
          <a:xfrm>
            <a:off x="3301474" y="4562770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F62661-909D-B082-035D-4323BF24609D}"/>
              </a:ext>
            </a:extLst>
          </p:cNvPr>
          <p:cNvSpPr txBox="1"/>
          <p:nvPr/>
        </p:nvSpPr>
        <p:spPr>
          <a:xfrm>
            <a:off x="2995196" y="510125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fr-FR" baseline="30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fr-FR" baseline="30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387AA0-717F-D4E3-5139-744A4B864680}"/>
              </a:ext>
            </a:extLst>
          </p:cNvPr>
          <p:cNvSpPr/>
          <p:nvPr/>
        </p:nvSpPr>
        <p:spPr>
          <a:xfrm>
            <a:off x="4512539" y="2451939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BD1A9D-099C-9859-DC2D-47F7F1BFFDFC}"/>
              </a:ext>
            </a:extLst>
          </p:cNvPr>
          <p:cNvSpPr txBox="1"/>
          <p:nvPr/>
        </p:nvSpPr>
        <p:spPr>
          <a:xfrm>
            <a:off x="4206261" y="298614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fr-FR" baseline="30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rapèze 18">
            <a:extLst>
              <a:ext uri="{FF2B5EF4-FFF2-40B4-BE49-F238E27FC236}">
                <a16:creationId xmlns:a16="http://schemas.microsoft.com/office/drawing/2014/main" id="{D3F9F45E-33B6-F967-A981-A72D1391EE10}"/>
              </a:ext>
            </a:extLst>
          </p:cNvPr>
          <p:cNvSpPr/>
          <p:nvPr/>
        </p:nvSpPr>
        <p:spPr>
          <a:xfrm rot="16200000">
            <a:off x="4649042" y="2473529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</a:t>
            </a:r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FF9003-AF65-F817-CBF1-5647E93205D5}"/>
              </a:ext>
            </a:extLst>
          </p:cNvPr>
          <p:cNvSpPr/>
          <p:nvPr/>
        </p:nvSpPr>
        <p:spPr>
          <a:xfrm>
            <a:off x="5932983" y="205839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 err="1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fr-FR" sz="3600" baseline="-250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E8A659A-F76B-49D0-BF48-487907C60D54}"/>
              </a:ext>
            </a:extLst>
          </p:cNvPr>
          <p:cNvSpPr txBox="1"/>
          <p:nvPr/>
        </p:nvSpPr>
        <p:spPr>
          <a:xfrm>
            <a:off x="5844820" y="3383960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Prototype</a:t>
            </a:r>
          </a:p>
          <a:p>
            <a:pPr algn="ctr"/>
            <a:r>
              <a:rPr lang="fr-FR" dirty="0">
                <a:cs typeface="Cascadia Code" panose="020B0609020000020004" pitchFamily="49" charset="0"/>
              </a:rPr>
              <a:t>classe </a:t>
            </a:r>
            <a:r>
              <a:rPr lang="fr-FR" b="1" dirty="0">
                <a:cs typeface="Cascadia Code" panose="020B0609020000020004" pitchFamily="49" charset="0"/>
              </a:rPr>
              <a:t>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57DAE5E-0528-1A1E-6A75-4062B157FAFD}"/>
              </a:ext>
            </a:extLst>
          </p:cNvPr>
          <p:cNvSpPr/>
          <p:nvPr/>
        </p:nvSpPr>
        <p:spPr>
          <a:xfrm>
            <a:off x="9796036" y="3018209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BC9AA78-8CBD-84A4-F447-DCA016A152ED}"/>
              </a:ext>
            </a:extLst>
          </p:cNvPr>
          <p:cNvSpPr txBox="1"/>
          <p:nvPr/>
        </p:nvSpPr>
        <p:spPr>
          <a:xfrm>
            <a:off x="9489758" y="355241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cj</a:t>
            </a:r>
            <a:endParaRPr lang="fr-FR" baseline="30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485C50-1925-3A81-5148-FA3F39C2D72F}"/>
              </a:ext>
            </a:extLst>
          </p:cNvPr>
          <p:cNvSpPr/>
          <p:nvPr/>
        </p:nvSpPr>
        <p:spPr>
          <a:xfrm>
            <a:off x="10958890" y="3018209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750CB13-9DFB-98B2-2AD5-355E713E4F82}"/>
              </a:ext>
            </a:extLst>
          </p:cNvPr>
          <p:cNvSpPr txBox="1"/>
          <p:nvPr/>
        </p:nvSpPr>
        <p:spPr>
          <a:xfrm>
            <a:off x="10652612" y="355241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</a:t>
            </a:r>
            <a:endParaRPr lang="fr-FR" baseline="30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B82AC6-A5DB-C795-9FF9-CC7048A43EA7}"/>
              </a:ext>
            </a:extLst>
          </p:cNvPr>
          <p:cNvSpPr/>
          <p:nvPr/>
        </p:nvSpPr>
        <p:spPr>
          <a:xfrm>
            <a:off x="8632959" y="3018209"/>
            <a:ext cx="186731" cy="538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95CD63D-6845-56A2-DF4E-DF37E3D261DF}"/>
              </a:ext>
            </a:extLst>
          </p:cNvPr>
          <p:cNvCxnSpPr/>
          <p:nvPr/>
        </p:nvCxnSpPr>
        <p:spPr>
          <a:xfrm flipV="1">
            <a:off x="7640320" y="1521002"/>
            <a:ext cx="0" cy="489712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0CB8DC5-DE34-AE51-4784-3167151F344F}"/>
              </a:ext>
            </a:extLst>
          </p:cNvPr>
          <p:cNvSpPr txBox="1"/>
          <p:nvPr/>
        </p:nvSpPr>
        <p:spPr>
          <a:xfrm>
            <a:off x="741400" y="1597459"/>
            <a:ext cx="651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du centroïde de la classe </a:t>
            </a:r>
            <a:r>
              <a:rPr lang="fr-FR" b="1" dirty="0"/>
              <a:t>c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DFD8F35-6043-CFEA-72E2-41433F03E148}"/>
              </a:ext>
            </a:extLst>
          </p:cNvPr>
          <p:cNvSpPr txBox="1"/>
          <p:nvPr/>
        </p:nvSpPr>
        <p:spPr>
          <a:xfrm>
            <a:off x="8177505" y="1561004"/>
            <a:ext cx="3368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Calcul de la translation de la classe source </a:t>
            </a:r>
            <a:r>
              <a:rPr lang="fr-FR" b="1" dirty="0"/>
              <a:t>c</a:t>
            </a:r>
            <a:r>
              <a:rPr lang="fr-FR" b="1" baseline="-25000" dirty="0"/>
              <a:t>i</a:t>
            </a:r>
            <a:r>
              <a:rPr lang="fr-FR" dirty="0"/>
              <a:t> vers la classe cible </a:t>
            </a:r>
            <a:r>
              <a:rPr lang="fr-FR" b="1" dirty="0" err="1"/>
              <a:t>c</a:t>
            </a:r>
            <a:r>
              <a:rPr lang="fr-FR" b="1" baseline="-25000" dirty="0" err="1"/>
              <a:t>j</a:t>
            </a:r>
            <a:endParaRPr lang="fr-FR" b="1" baseline="-25000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75C76961-8FA2-9261-106E-218BAD52965A}"/>
              </a:ext>
            </a:extLst>
          </p:cNvPr>
          <p:cNvSpPr txBox="1"/>
          <p:nvPr/>
        </p:nvSpPr>
        <p:spPr>
          <a:xfrm>
            <a:off x="8284374" y="355241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ci→cj</a:t>
            </a:r>
            <a:endParaRPr lang="fr-FR" baseline="30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7" name="Est égal à 46">
            <a:extLst>
              <a:ext uri="{FF2B5EF4-FFF2-40B4-BE49-F238E27FC236}">
                <a16:creationId xmlns:a16="http://schemas.microsoft.com/office/drawing/2014/main" id="{19E2A679-193F-901A-F3FC-6DFB6D0C82AA}"/>
              </a:ext>
            </a:extLst>
          </p:cNvPr>
          <p:cNvSpPr/>
          <p:nvPr/>
        </p:nvSpPr>
        <p:spPr>
          <a:xfrm>
            <a:off x="9086667" y="3053541"/>
            <a:ext cx="445400" cy="463546"/>
          </a:xfrm>
          <a:prstGeom prst="mathEqual">
            <a:avLst>
              <a:gd name="adj1" fmla="val 12561"/>
              <a:gd name="adj2" fmla="val 1176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9" name="Signe Moins 48">
            <a:extLst>
              <a:ext uri="{FF2B5EF4-FFF2-40B4-BE49-F238E27FC236}">
                <a16:creationId xmlns:a16="http://schemas.microsoft.com/office/drawing/2014/main" id="{3B43EEB9-0698-CFF2-D3F7-98FDF1F5E8E0}"/>
              </a:ext>
            </a:extLst>
          </p:cNvPr>
          <p:cNvSpPr/>
          <p:nvPr/>
        </p:nvSpPr>
        <p:spPr>
          <a:xfrm>
            <a:off x="10265048" y="3181287"/>
            <a:ext cx="411560" cy="235644"/>
          </a:xfrm>
          <a:prstGeom prst="mathMinus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Accolade fermante 68">
            <a:extLst>
              <a:ext uri="{FF2B5EF4-FFF2-40B4-BE49-F238E27FC236}">
                <a16:creationId xmlns:a16="http://schemas.microsoft.com/office/drawing/2014/main" id="{498D0C89-2860-C597-4C0D-A5029470976E}"/>
              </a:ext>
            </a:extLst>
          </p:cNvPr>
          <p:cNvSpPr/>
          <p:nvPr/>
        </p:nvSpPr>
        <p:spPr>
          <a:xfrm rot="5400000">
            <a:off x="9719790" y="2457192"/>
            <a:ext cx="338346" cy="3314164"/>
          </a:xfrm>
          <a:prstGeom prst="rightBrace">
            <a:avLst>
              <a:gd name="adj1" fmla="val 74920"/>
              <a:gd name="adj2" fmla="val 50000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74485F-93EB-FDD2-D16B-4C99C7403DAD}"/>
              </a:ext>
            </a:extLst>
          </p:cNvPr>
          <p:cNvSpPr txBox="1"/>
          <p:nvPr/>
        </p:nvSpPr>
        <p:spPr>
          <a:xfrm>
            <a:off x="859997" y="3385751"/>
            <a:ext cx="861774" cy="7980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>
                    <a:lumMod val="75000"/>
                  </a:schemeClr>
                </a:solidFill>
              </a:rPr>
              <a:t>…</a:t>
            </a:r>
            <a:endParaRPr lang="fr-FR" sz="4400" b="1" baseline="-250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4274E66-E757-8344-05FF-F13050C6267E}"/>
              </a:ext>
            </a:extLst>
          </p:cNvPr>
          <p:cNvCxnSpPr>
            <a:stCxn id="2" idx="3"/>
            <a:endCxn id="10" idx="2"/>
          </p:cNvCxnSpPr>
          <p:nvPr/>
        </p:nvCxnSpPr>
        <p:spPr>
          <a:xfrm flipV="1">
            <a:off x="2068755" y="2722970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40BFE01-7779-1551-6A27-D49CEFB7D057}"/>
              </a:ext>
            </a:extLst>
          </p:cNvPr>
          <p:cNvCxnSpPr>
            <a:stCxn id="3" idx="3"/>
            <a:endCxn id="5" idx="2"/>
          </p:cNvCxnSpPr>
          <p:nvPr/>
        </p:nvCxnSpPr>
        <p:spPr>
          <a:xfrm flipV="1">
            <a:off x="2068754" y="4832011"/>
            <a:ext cx="369940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50371AB5-55EF-DE86-ABDD-E15EC3FA63E4}"/>
              </a:ext>
            </a:extLst>
          </p:cNvPr>
          <p:cNvCxnSpPr>
            <a:stCxn id="10" idx="0"/>
            <a:endCxn id="15" idx="1"/>
          </p:cNvCxnSpPr>
          <p:nvPr/>
        </p:nvCxnSpPr>
        <p:spPr>
          <a:xfrm flipV="1">
            <a:off x="2933993" y="2722969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269ACFA-E152-83B7-B7C4-DD2A60A74B8D}"/>
              </a:ext>
            </a:extLst>
          </p:cNvPr>
          <p:cNvCxnSpPr>
            <a:stCxn id="15" idx="3"/>
            <a:endCxn id="9" idx="1"/>
          </p:cNvCxnSpPr>
          <p:nvPr/>
        </p:nvCxnSpPr>
        <p:spPr>
          <a:xfrm flipV="1">
            <a:off x="3488205" y="2721179"/>
            <a:ext cx="1024334" cy="1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2E352A91-6FE8-9553-8C1B-2B2D9EE883F0}"/>
              </a:ext>
            </a:extLst>
          </p:cNvPr>
          <p:cNvCxnSpPr>
            <a:stCxn id="9" idx="3"/>
            <a:endCxn id="19" idx="0"/>
          </p:cNvCxnSpPr>
          <p:nvPr/>
        </p:nvCxnSpPr>
        <p:spPr>
          <a:xfrm flipV="1">
            <a:off x="4699270" y="2721178"/>
            <a:ext cx="3649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7F133ECE-B0D4-C9A4-9790-CF2B5385FC4A}"/>
              </a:ext>
            </a:extLst>
          </p:cNvPr>
          <p:cNvCxnSpPr>
            <a:stCxn id="19" idx="2"/>
            <a:endCxn id="25" idx="1"/>
          </p:cNvCxnSpPr>
          <p:nvPr/>
        </p:nvCxnSpPr>
        <p:spPr>
          <a:xfrm>
            <a:off x="5559473" y="2721178"/>
            <a:ext cx="373510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FCF9B2A8-999D-DDAB-429A-DAAF05898217}"/>
              </a:ext>
            </a:extLst>
          </p:cNvPr>
          <p:cNvCxnSpPr>
            <a:stCxn id="5" idx="0"/>
            <a:endCxn id="6" idx="1"/>
          </p:cNvCxnSpPr>
          <p:nvPr/>
        </p:nvCxnSpPr>
        <p:spPr>
          <a:xfrm flipV="1">
            <a:off x="2933993" y="4832010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97CFF27E-3F36-5823-10F0-609045639068}"/>
              </a:ext>
            </a:extLst>
          </p:cNvPr>
          <p:cNvCxnSpPr/>
          <p:nvPr/>
        </p:nvCxnSpPr>
        <p:spPr>
          <a:xfrm>
            <a:off x="3982065" y="2721178"/>
            <a:ext cx="0" cy="21108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2FBA79EA-39C4-9E27-329F-DF3F4ECDE9CE}"/>
              </a:ext>
            </a:extLst>
          </p:cNvPr>
          <p:cNvCxnSpPr>
            <a:stCxn id="6" idx="3"/>
          </p:cNvCxnSpPr>
          <p:nvPr/>
        </p:nvCxnSpPr>
        <p:spPr>
          <a:xfrm>
            <a:off x="3488205" y="4832010"/>
            <a:ext cx="4938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E5B4AD4F-D79F-D05A-B6E8-F652BF4F5516}"/>
              </a:ext>
            </a:extLst>
          </p:cNvPr>
          <p:cNvSpPr txBox="1"/>
          <p:nvPr/>
        </p:nvSpPr>
        <p:spPr>
          <a:xfrm>
            <a:off x="3995383" y="3730269"/>
            <a:ext cx="158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cs typeface="Cascadia Code" panose="020B0609020000020004" pitchFamily="49" charset="0"/>
              </a:rPr>
              <a:t>Moyenne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E05692F-C243-FA0C-B9E8-56D9112CE577}"/>
              </a:ext>
            </a:extLst>
          </p:cNvPr>
          <p:cNvSpPr txBox="1"/>
          <p:nvPr/>
        </p:nvSpPr>
        <p:spPr>
          <a:xfrm>
            <a:off x="8232352" y="4342129"/>
            <a:ext cx="3368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Pour tout </a:t>
            </a:r>
            <a:r>
              <a:rPr lang="fr-FR" b="1" dirty="0"/>
              <a:t>i</a:t>
            </a:r>
            <a:r>
              <a:rPr lang="fr-FR" dirty="0"/>
              <a:t> ≠ </a:t>
            </a:r>
            <a:r>
              <a:rPr lang="fr-FR" b="1" dirty="0"/>
              <a:t>j</a:t>
            </a:r>
            <a:endParaRPr lang="fr-FR" b="1" baseline="-25000" dirty="0"/>
          </a:p>
        </p:txBody>
      </p:sp>
    </p:spTree>
    <p:extLst>
      <p:ext uri="{BB962C8B-B14F-4D97-AF65-F5344CB8AC3E}">
        <p14:creationId xmlns:p14="http://schemas.microsoft.com/office/powerpoint/2010/main" val="225185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F989-4206-90BF-42C3-72869CF5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EA6BC3AC-DBAD-BD50-75E6-60BC3975B9D9}"/>
              </a:ext>
            </a:extLst>
          </p:cNvPr>
          <p:cNvSpPr/>
          <p:nvPr/>
        </p:nvSpPr>
        <p:spPr>
          <a:xfrm rot="851835">
            <a:off x="1223788" y="1961008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FAB013B-8A66-3BB4-9565-E8A77C5B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FD3863B-7078-99DE-C3A1-6E894654686A}"/>
              </a:ext>
            </a:extLst>
          </p:cNvPr>
          <p:cNvSpPr/>
          <p:nvPr/>
        </p:nvSpPr>
        <p:spPr>
          <a:xfrm rot="20017351">
            <a:off x="2366539" y="3918203"/>
            <a:ext cx="2317936" cy="22085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713FB6E-D216-DE82-BDBF-D88043322479}"/>
              </a:ext>
            </a:extLst>
          </p:cNvPr>
          <p:cNvSpPr/>
          <p:nvPr/>
        </p:nvSpPr>
        <p:spPr>
          <a:xfrm rot="3925294">
            <a:off x="3707203" y="2934261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7DB15EF-0CB8-6A5C-CB80-42D631F60696}"/>
              </a:ext>
            </a:extLst>
          </p:cNvPr>
          <p:cNvSpPr/>
          <p:nvPr/>
        </p:nvSpPr>
        <p:spPr>
          <a:xfrm>
            <a:off x="2582402" y="2776161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76CDD7E-C003-3222-7DF4-890E5A4A31DE}"/>
              </a:ext>
            </a:extLst>
          </p:cNvPr>
          <p:cNvSpPr/>
          <p:nvPr/>
        </p:nvSpPr>
        <p:spPr>
          <a:xfrm>
            <a:off x="5531279" y="3726426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9AA5D1C-A857-D4F3-69CB-DBBFDCDD30AC}"/>
              </a:ext>
            </a:extLst>
          </p:cNvPr>
          <p:cNvSpPr/>
          <p:nvPr/>
        </p:nvSpPr>
        <p:spPr>
          <a:xfrm>
            <a:off x="3443695" y="4966584"/>
            <a:ext cx="163624" cy="1636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ECD9570-14F4-328A-E1A2-6E02DA632C89}"/>
              </a:ext>
            </a:extLst>
          </p:cNvPr>
          <p:cNvCxnSpPr>
            <a:cxnSpLocks/>
          </p:cNvCxnSpPr>
          <p:nvPr/>
        </p:nvCxnSpPr>
        <p:spPr>
          <a:xfrm>
            <a:off x="2664214" y="2863129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igne de multiplication 23">
            <a:extLst>
              <a:ext uri="{FF2B5EF4-FFF2-40B4-BE49-F238E27FC236}">
                <a16:creationId xmlns:a16="http://schemas.microsoft.com/office/drawing/2014/main" id="{08ADFBBF-BA48-953D-8C12-77DCD71352F2}"/>
              </a:ext>
            </a:extLst>
          </p:cNvPr>
          <p:cNvSpPr/>
          <p:nvPr/>
        </p:nvSpPr>
        <p:spPr>
          <a:xfrm>
            <a:off x="5477471" y="4163422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C7395C17-55B3-89BF-E5D8-EEE8FD36C5AB}"/>
              </a:ext>
            </a:extLst>
          </p:cNvPr>
          <p:cNvSpPr/>
          <p:nvPr/>
        </p:nvSpPr>
        <p:spPr>
          <a:xfrm>
            <a:off x="2528903" y="3215118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EB061C9-3475-227A-B77F-34BAE34A74AD}"/>
              </a:ext>
            </a:extLst>
          </p:cNvPr>
          <p:cNvCxnSpPr>
            <a:cxnSpLocks/>
          </p:cNvCxnSpPr>
          <p:nvPr/>
        </p:nvCxnSpPr>
        <p:spPr>
          <a:xfrm>
            <a:off x="2647871" y="3332125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25EDEDF2-E505-DD1E-B05B-C1A5CEE3C3D7}"/>
              </a:ext>
            </a:extLst>
          </p:cNvPr>
          <p:cNvSpPr txBox="1"/>
          <p:nvPr/>
        </p:nvSpPr>
        <p:spPr>
          <a:xfrm>
            <a:off x="3846555" y="3373872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i→k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B809F22-EF81-C273-38AE-74BF7D0A926A}"/>
              </a:ext>
            </a:extLst>
          </p:cNvPr>
          <p:cNvSpPr txBox="1"/>
          <p:nvPr/>
        </p:nvSpPr>
        <p:spPr>
          <a:xfrm>
            <a:off x="2083335" y="24207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0514675-19A3-D791-EB91-A21C762778BF}"/>
              </a:ext>
            </a:extLst>
          </p:cNvPr>
          <p:cNvSpPr txBox="1"/>
          <p:nvPr/>
        </p:nvSpPr>
        <p:spPr>
          <a:xfrm>
            <a:off x="5403014" y="3415078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1C425E6-ACD0-BBD6-6F8F-D17433472BF0}"/>
              </a:ext>
            </a:extLst>
          </p:cNvPr>
          <p:cNvSpPr txBox="1"/>
          <p:nvPr/>
        </p:nvSpPr>
        <p:spPr>
          <a:xfrm>
            <a:off x="3214881" y="511606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86B0CC6-7553-8A0F-C9E6-F232617A7686}"/>
              </a:ext>
            </a:extLst>
          </p:cNvPr>
          <p:cNvSpPr txBox="1"/>
          <p:nvPr/>
        </p:nvSpPr>
        <p:spPr>
          <a:xfrm>
            <a:off x="1967554" y="299793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I’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14BD343C-8FEA-E4BB-C7A4-26317A061951}"/>
              </a:ext>
            </a:extLst>
          </p:cNvPr>
          <p:cNvSpPr txBox="1"/>
          <p:nvPr/>
        </p:nvSpPr>
        <p:spPr>
          <a:xfrm>
            <a:off x="5403170" y="4295806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4835114-5DC4-4E9B-046D-E25F23425E59}"/>
              </a:ext>
            </a:extLst>
          </p:cNvPr>
          <p:cNvSpPr txBox="1"/>
          <p:nvPr/>
        </p:nvSpPr>
        <p:spPr>
          <a:xfrm>
            <a:off x="759612" y="353169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04BC534F-7724-B71E-0CB3-860A3CB07C26}"/>
              </a:ext>
            </a:extLst>
          </p:cNvPr>
          <p:cNvSpPr txBox="1"/>
          <p:nvPr/>
        </p:nvSpPr>
        <p:spPr>
          <a:xfrm>
            <a:off x="5559771" y="5556166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4E1C1BB-DC3B-8639-1650-2CCC649A0A1D}"/>
              </a:ext>
            </a:extLst>
          </p:cNvPr>
          <p:cNvSpPr txBox="1"/>
          <p:nvPr/>
        </p:nvSpPr>
        <p:spPr>
          <a:xfrm>
            <a:off x="2702191" y="6099001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215F5E4-74C3-EC66-0128-1821F363B1A2}"/>
              </a:ext>
            </a:extLst>
          </p:cNvPr>
          <p:cNvSpPr txBox="1"/>
          <p:nvPr/>
        </p:nvSpPr>
        <p:spPr>
          <a:xfrm>
            <a:off x="7654297" y="2514129"/>
            <a:ext cx="3473259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de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6"/>
                </a:solidFill>
              </a:rPr>
              <a:t>k</a:t>
            </a:r>
            <a:r>
              <a:rPr lang="fr-FR" sz="2000" dirty="0"/>
              <a:t>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I’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</a:t>
            </a:r>
            <a:endParaRPr lang="fr-FR" sz="3200" baseline="-25000" dirty="0">
              <a:solidFill>
                <a:schemeClr val="accent6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8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FD70E-5F5B-D5C5-CC3A-7AF66784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3D09D66-783D-E507-9E62-092FB43A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Étape d’obscuration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F2CAD4-D4E3-080D-5230-9B395A0D85E7}"/>
              </a:ext>
            </a:extLst>
          </p:cNvPr>
          <p:cNvSpPr/>
          <p:nvPr/>
        </p:nvSpPr>
        <p:spPr>
          <a:xfrm>
            <a:off x="741400" y="206018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10" name="Trapèze 9">
            <a:extLst>
              <a:ext uri="{FF2B5EF4-FFF2-40B4-BE49-F238E27FC236}">
                <a16:creationId xmlns:a16="http://schemas.microsoft.com/office/drawing/2014/main" id="{7661B166-E7EF-27D2-0A79-78BC8A5BB988}"/>
              </a:ext>
            </a:extLst>
          </p:cNvPr>
          <p:cNvSpPr/>
          <p:nvPr/>
        </p:nvSpPr>
        <p:spPr>
          <a:xfrm rot="5400000">
            <a:off x="2023562" y="247532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</a:t>
            </a:r>
            <a:endParaRPr lang="fr-FR" dirty="0"/>
          </a:p>
        </p:txBody>
      </p:sp>
      <p:sp>
        <p:nvSpPr>
          <p:cNvPr id="13" name="Trapèze 12">
            <a:extLst>
              <a:ext uri="{FF2B5EF4-FFF2-40B4-BE49-F238E27FC236}">
                <a16:creationId xmlns:a16="http://schemas.microsoft.com/office/drawing/2014/main" id="{506C1B58-DD0B-C755-580E-7808089214DD}"/>
              </a:ext>
            </a:extLst>
          </p:cNvPr>
          <p:cNvSpPr/>
          <p:nvPr/>
        </p:nvSpPr>
        <p:spPr>
          <a:xfrm rot="16200000">
            <a:off x="3445470" y="2485152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</a:t>
            </a:r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14A4F-4B99-9CEC-7DCD-E00C72EE1C08}"/>
              </a:ext>
            </a:extLst>
          </p:cNvPr>
          <p:cNvSpPr/>
          <p:nvPr/>
        </p:nvSpPr>
        <p:spPr>
          <a:xfrm>
            <a:off x="3301474" y="2453729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41BBE-0527-D19A-8E16-52F0376764ED}"/>
              </a:ext>
            </a:extLst>
          </p:cNvPr>
          <p:cNvSpPr/>
          <p:nvPr/>
        </p:nvSpPr>
        <p:spPr>
          <a:xfrm>
            <a:off x="4725840" y="205331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I’</a:t>
            </a:r>
            <a:endParaRPr lang="fr-FR" sz="3600" baseline="300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rapèze 16">
            <a:extLst>
              <a:ext uri="{FF2B5EF4-FFF2-40B4-BE49-F238E27FC236}">
                <a16:creationId xmlns:a16="http://schemas.microsoft.com/office/drawing/2014/main" id="{8FF3432A-827D-4048-1294-914B7A67F4B6}"/>
              </a:ext>
            </a:extLst>
          </p:cNvPr>
          <p:cNvSpPr/>
          <p:nvPr/>
        </p:nvSpPr>
        <p:spPr>
          <a:xfrm rot="5400000">
            <a:off x="6008002" y="2463368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</a:t>
            </a: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28061-CACD-C6E3-81DA-C556CF1C9290}"/>
              </a:ext>
            </a:extLst>
          </p:cNvPr>
          <p:cNvSpPr/>
          <p:nvPr/>
        </p:nvSpPr>
        <p:spPr>
          <a:xfrm>
            <a:off x="4725839" y="4394439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E1C6D-7FCA-BD52-DA14-80828B6A9A72}"/>
              </a:ext>
            </a:extLst>
          </p:cNvPr>
          <p:cNvSpPr/>
          <p:nvPr/>
        </p:nvSpPr>
        <p:spPr>
          <a:xfrm>
            <a:off x="7288368" y="4788876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626C5C-F838-D456-28CF-394590A2175C}"/>
              </a:ext>
            </a:extLst>
          </p:cNvPr>
          <p:cNvSpPr/>
          <p:nvPr/>
        </p:nvSpPr>
        <p:spPr>
          <a:xfrm>
            <a:off x="7288369" y="244177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rapèze 21">
            <a:extLst>
              <a:ext uri="{FF2B5EF4-FFF2-40B4-BE49-F238E27FC236}">
                <a16:creationId xmlns:a16="http://schemas.microsoft.com/office/drawing/2014/main" id="{4A421AFA-01B3-4682-605B-629561CB783E}"/>
              </a:ext>
            </a:extLst>
          </p:cNvPr>
          <p:cNvSpPr/>
          <p:nvPr/>
        </p:nvSpPr>
        <p:spPr>
          <a:xfrm rot="16200000">
            <a:off x="8741041" y="2470240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</a:t>
            </a:r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C090FB-5A0A-87C5-8511-D6D25A58A8A8}"/>
              </a:ext>
            </a:extLst>
          </p:cNvPr>
          <p:cNvSpPr/>
          <p:nvPr/>
        </p:nvSpPr>
        <p:spPr>
          <a:xfrm>
            <a:off x="10026445" y="2046444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I’’</a:t>
            </a:r>
          </a:p>
        </p:txBody>
      </p:sp>
      <p:sp>
        <p:nvSpPr>
          <p:cNvPr id="24" name="Trapèze 23">
            <a:extLst>
              <a:ext uri="{FF2B5EF4-FFF2-40B4-BE49-F238E27FC236}">
                <a16:creationId xmlns:a16="http://schemas.microsoft.com/office/drawing/2014/main" id="{F027D5BA-F862-DAFF-90BA-E092410A251C}"/>
              </a:ext>
            </a:extLst>
          </p:cNvPr>
          <p:cNvSpPr/>
          <p:nvPr/>
        </p:nvSpPr>
        <p:spPr>
          <a:xfrm rot="5400000">
            <a:off x="6007999" y="4809571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</a:t>
            </a:r>
            <a:endParaRPr lang="fr-FR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5217A8D9-0799-91F1-9ED6-84D5B3975644}"/>
              </a:ext>
            </a:extLst>
          </p:cNvPr>
          <p:cNvSpPr txBox="1"/>
          <p:nvPr/>
        </p:nvSpPr>
        <p:spPr>
          <a:xfrm>
            <a:off x="2995196" y="3018209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F1ABC56-BCF1-57F4-BE3E-4166D5F97E14}"/>
              </a:ext>
            </a:extLst>
          </p:cNvPr>
          <p:cNvSpPr txBox="1"/>
          <p:nvPr/>
        </p:nvSpPr>
        <p:spPr>
          <a:xfrm>
            <a:off x="6982091" y="298631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ascadia Code" panose="020B0609020000020004" pitchFamily="49" charset="0"/>
                <a:cs typeface="Cascadia Code" panose="020B0609020000020004" pitchFamily="49" charset="0"/>
              </a:rPr>
              <a:t>I’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9F65592-5654-3711-2EF2-CC52F16E3576}"/>
              </a:ext>
            </a:extLst>
          </p:cNvPr>
          <p:cNvSpPr txBox="1"/>
          <p:nvPr/>
        </p:nvSpPr>
        <p:spPr>
          <a:xfrm>
            <a:off x="6982090" y="5327356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77F8D92-982D-7028-C950-1952EC387F46}"/>
              </a:ext>
            </a:extLst>
          </p:cNvPr>
          <p:cNvSpPr txBox="1"/>
          <p:nvPr/>
        </p:nvSpPr>
        <p:spPr>
          <a:xfrm>
            <a:off x="512349" y="3395319"/>
            <a:ext cx="1785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Image de la classe source </a:t>
            </a:r>
            <a:r>
              <a:rPr lang="fr-FR" b="1" dirty="0">
                <a:cs typeface="Cascadia Code" panose="020B0609020000020004" pitchFamily="49" charset="0"/>
              </a:rPr>
              <a:t>c</a:t>
            </a:r>
            <a:r>
              <a:rPr lang="fr-FR" b="1" baseline="-25000" dirty="0"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C6894F1-5F2C-C4B0-0626-73A50A925E6E}"/>
              </a:ext>
            </a:extLst>
          </p:cNvPr>
          <p:cNvSpPr txBox="1"/>
          <p:nvPr/>
        </p:nvSpPr>
        <p:spPr>
          <a:xfrm>
            <a:off x="4496788" y="5720002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Image de test </a:t>
            </a:r>
            <a:r>
              <a:rPr lang="fr-FR" b="1" dirty="0">
                <a:cs typeface="Cascadia Code" panose="020B0609020000020004" pitchFamily="49" charset="0"/>
              </a:rPr>
              <a:t>obscurcie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C11EF5-F66A-2051-B6B1-65A0BFE2D6D6}"/>
              </a:ext>
            </a:extLst>
          </p:cNvPr>
          <p:cNvSpPr txBox="1"/>
          <p:nvPr/>
        </p:nvSpPr>
        <p:spPr>
          <a:xfrm>
            <a:off x="9938282" y="3380671"/>
            <a:ext cx="150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Image de </a:t>
            </a:r>
            <a:r>
              <a:rPr lang="fr-FR" b="1" dirty="0">
                <a:cs typeface="Cascadia Code" panose="020B0609020000020004" pitchFamily="49" charset="0"/>
              </a:rPr>
              <a:t>c</a:t>
            </a:r>
            <a:r>
              <a:rPr lang="fr-FR" b="1" baseline="-25000" dirty="0">
                <a:cs typeface="Cascadia Code" panose="020B0609020000020004" pitchFamily="49" charset="0"/>
              </a:rPr>
              <a:t>i </a:t>
            </a:r>
            <a:r>
              <a:rPr lang="fr-FR" dirty="0">
                <a:cs typeface="Cascadia Code" panose="020B0609020000020004" pitchFamily="49" charset="0"/>
              </a:rPr>
              <a:t>reconstruite</a:t>
            </a:r>
            <a:endParaRPr lang="fr-FR" baseline="-25000" dirty="0">
              <a:cs typeface="Cascadia Code" panose="020B0609020000020004" pitchFamily="49" charset="0"/>
            </a:endParaRPr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33C81C3-8F23-12E9-1EC1-1A531A46F170}"/>
              </a:ext>
            </a:extLst>
          </p:cNvPr>
          <p:cNvCxnSpPr>
            <a:stCxn id="2" idx="3"/>
            <a:endCxn id="10" idx="2"/>
          </p:cNvCxnSpPr>
          <p:nvPr/>
        </p:nvCxnSpPr>
        <p:spPr>
          <a:xfrm flipV="1">
            <a:off x="2068755" y="2722970"/>
            <a:ext cx="369939" cy="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A33B1A1-2D93-B1C0-255E-DF3205015277}"/>
              </a:ext>
            </a:extLst>
          </p:cNvPr>
          <p:cNvCxnSpPr>
            <a:stCxn id="10" idx="0"/>
            <a:endCxn id="15" idx="1"/>
          </p:cNvCxnSpPr>
          <p:nvPr/>
        </p:nvCxnSpPr>
        <p:spPr>
          <a:xfrm flipV="1">
            <a:off x="2933993" y="2722969"/>
            <a:ext cx="3674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B1078E6-0E18-EBBE-A478-337E260AF56A}"/>
              </a:ext>
            </a:extLst>
          </p:cNvPr>
          <p:cNvCxnSpPr>
            <a:stCxn id="15" idx="3"/>
            <a:endCxn id="13" idx="0"/>
          </p:cNvCxnSpPr>
          <p:nvPr/>
        </p:nvCxnSpPr>
        <p:spPr>
          <a:xfrm>
            <a:off x="3488205" y="2722969"/>
            <a:ext cx="372397" cy="9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3C113B6-8502-EA87-F366-65F56579D897}"/>
              </a:ext>
            </a:extLst>
          </p:cNvPr>
          <p:cNvCxnSpPr>
            <a:stCxn id="13" idx="2"/>
            <a:endCxn id="16" idx="1"/>
          </p:cNvCxnSpPr>
          <p:nvPr/>
        </p:nvCxnSpPr>
        <p:spPr>
          <a:xfrm flipV="1">
            <a:off x="4355901" y="2716994"/>
            <a:ext cx="369939" cy="15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2A4B8B5D-2791-52EE-CE24-EEBB99AF558F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 flipV="1">
            <a:off x="6053195" y="2711018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61553D2-94A8-6E74-3985-D8CE76537539}"/>
              </a:ext>
            </a:extLst>
          </p:cNvPr>
          <p:cNvCxnSpPr>
            <a:stCxn id="17" idx="0"/>
            <a:endCxn id="21" idx="1"/>
          </p:cNvCxnSpPr>
          <p:nvPr/>
        </p:nvCxnSpPr>
        <p:spPr>
          <a:xfrm flipV="1">
            <a:off x="6918433" y="2711017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C85E64A5-CA9E-5575-E893-448D3AD9FBFE}"/>
              </a:ext>
            </a:extLst>
          </p:cNvPr>
          <p:cNvCxnSpPr>
            <a:stCxn id="21" idx="3"/>
            <a:endCxn id="22" idx="0"/>
          </p:cNvCxnSpPr>
          <p:nvPr/>
        </p:nvCxnSpPr>
        <p:spPr>
          <a:xfrm>
            <a:off x="7475100" y="2711017"/>
            <a:ext cx="1681073" cy="6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8C99C646-3D3A-4313-D4CE-28301446916D}"/>
              </a:ext>
            </a:extLst>
          </p:cNvPr>
          <p:cNvCxnSpPr>
            <a:stCxn id="22" idx="2"/>
            <a:endCxn id="23" idx="1"/>
          </p:cNvCxnSpPr>
          <p:nvPr/>
        </p:nvCxnSpPr>
        <p:spPr>
          <a:xfrm flipV="1">
            <a:off x="9651472" y="2710122"/>
            <a:ext cx="374973" cy="7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29B82F12-E71A-316C-EEF4-D65B478EC1E1}"/>
              </a:ext>
            </a:extLst>
          </p:cNvPr>
          <p:cNvCxnSpPr>
            <a:cxnSpLocks/>
          </p:cNvCxnSpPr>
          <p:nvPr/>
        </p:nvCxnSpPr>
        <p:spPr>
          <a:xfrm>
            <a:off x="8249265" y="2723864"/>
            <a:ext cx="0" cy="2334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D135C4ED-9101-59BC-7204-ABD3B80CCC2B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7475099" y="5058116"/>
            <a:ext cx="7741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53F368E3-B3CF-6BC7-242D-8ED8E02C4F83}"/>
              </a:ext>
            </a:extLst>
          </p:cNvPr>
          <p:cNvCxnSpPr>
            <a:stCxn id="20" idx="1"/>
            <a:endCxn id="24" idx="0"/>
          </p:cNvCxnSpPr>
          <p:nvPr/>
        </p:nvCxnSpPr>
        <p:spPr>
          <a:xfrm flipH="1" flipV="1">
            <a:off x="6918430" y="5057221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E0328EDF-1357-6C4D-1DBB-794ABC936806}"/>
              </a:ext>
            </a:extLst>
          </p:cNvPr>
          <p:cNvCxnSpPr>
            <a:stCxn id="24" idx="2"/>
            <a:endCxn id="18" idx="3"/>
          </p:cNvCxnSpPr>
          <p:nvPr/>
        </p:nvCxnSpPr>
        <p:spPr>
          <a:xfrm flipH="1">
            <a:off x="6053194" y="5057221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EBA52D2C-4517-6654-9DE6-B37C0FBB416C}"/>
              </a:ext>
            </a:extLst>
          </p:cNvPr>
          <p:cNvSpPr txBox="1"/>
          <p:nvPr/>
        </p:nvSpPr>
        <p:spPr>
          <a:xfrm>
            <a:off x="8249265" y="3704681"/>
            <a:ext cx="158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cs typeface="Cascadia Code" panose="020B0609020000020004" pitchFamily="49" charset="0"/>
              </a:rPr>
              <a:t>Translation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9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F895-C4A5-9CCA-0469-9CBD547C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3AECF73-1324-8A8C-AB33-FE62563E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Étape de </a:t>
            </a: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C4785-4FEF-6E22-46B4-8E52E97B0BF6}"/>
              </a:ext>
            </a:extLst>
          </p:cNvPr>
          <p:cNvSpPr/>
          <p:nvPr/>
        </p:nvSpPr>
        <p:spPr>
          <a:xfrm>
            <a:off x="2000209" y="4392647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428E7A-AE8D-BE79-E344-25E62F176BB6}"/>
              </a:ext>
            </a:extLst>
          </p:cNvPr>
          <p:cNvSpPr/>
          <p:nvPr/>
        </p:nvSpPr>
        <p:spPr>
          <a:xfrm>
            <a:off x="4725840" y="2053316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fr-FR" sz="3600" baseline="-250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</a:p>
        </p:txBody>
      </p:sp>
      <p:sp>
        <p:nvSpPr>
          <p:cNvPr id="12" name="Trapèze 11">
            <a:extLst>
              <a:ext uri="{FF2B5EF4-FFF2-40B4-BE49-F238E27FC236}">
                <a16:creationId xmlns:a16="http://schemas.microsoft.com/office/drawing/2014/main" id="{46F6EFC1-6108-82A7-8512-5C9A9B97BEB3}"/>
              </a:ext>
            </a:extLst>
          </p:cNvPr>
          <p:cNvSpPr/>
          <p:nvPr/>
        </p:nvSpPr>
        <p:spPr>
          <a:xfrm rot="5400000">
            <a:off x="6008002" y="2463368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19C9D7-BB1D-FFB5-EE1B-A6B37E7540B8}"/>
              </a:ext>
            </a:extLst>
          </p:cNvPr>
          <p:cNvSpPr/>
          <p:nvPr/>
        </p:nvSpPr>
        <p:spPr>
          <a:xfrm>
            <a:off x="4725839" y="4394439"/>
            <a:ext cx="1327355" cy="13273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Î</a:t>
            </a:r>
            <a:endParaRPr lang="fr-FR" sz="3600" baseline="-25000" dirty="0">
              <a:solidFill>
                <a:schemeClr val="tx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44CBDF-B724-92F9-FF9C-381CE342D55F}"/>
              </a:ext>
            </a:extLst>
          </p:cNvPr>
          <p:cNvSpPr/>
          <p:nvPr/>
        </p:nvSpPr>
        <p:spPr>
          <a:xfrm>
            <a:off x="7288368" y="4788876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37F856-72DB-1F4A-781B-BE5A457F4B04}"/>
              </a:ext>
            </a:extLst>
          </p:cNvPr>
          <p:cNvSpPr/>
          <p:nvPr/>
        </p:nvSpPr>
        <p:spPr>
          <a:xfrm>
            <a:off x="7288369" y="2441777"/>
            <a:ext cx="186731" cy="5384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rapèze 27">
            <a:extLst>
              <a:ext uri="{FF2B5EF4-FFF2-40B4-BE49-F238E27FC236}">
                <a16:creationId xmlns:a16="http://schemas.microsoft.com/office/drawing/2014/main" id="{15259130-DE2C-EE2D-D07C-18ACAAF93CCE}"/>
              </a:ext>
            </a:extLst>
          </p:cNvPr>
          <p:cNvSpPr/>
          <p:nvPr/>
        </p:nvSpPr>
        <p:spPr>
          <a:xfrm rot="5400000">
            <a:off x="6007999" y="4809571"/>
            <a:ext cx="1325563" cy="495299"/>
          </a:xfrm>
          <a:prstGeom prst="trapezoid">
            <a:avLst>
              <a:gd name="adj" fmla="val 7859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r>
              <a:rPr lang="fr-FR" dirty="0"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</a:t>
            </a:r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FAF0101-8742-ADD1-5252-84670818F8D2}"/>
              </a:ext>
            </a:extLst>
          </p:cNvPr>
          <p:cNvSpPr txBox="1"/>
          <p:nvPr/>
        </p:nvSpPr>
        <p:spPr>
          <a:xfrm>
            <a:off x="6982091" y="298631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ascadia Code" panose="020B0609020000020004" pitchFamily="49" charset="0"/>
                <a:cs typeface="Cascadia Code" panose="020B0609020000020004" pitchFamily="49" charset="0"/>
              </a:rPr>
              <a:t>T’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C95A55E-CCB8-9B1C-2BA7-4DD4ECD59EC9}"/>
              </a:ext>
            </a:extLst>
          </p:cNvPr>
          <p:cNvSpPr txBox="1"/>
          <p:nvPr/>
        </p:nvSpPr>
        <p:spPr>
          <a:xfrm>
            <a:off x="6982090" y="5327356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fr-FR" baseline="30000" dirty="0">
                <a:latin typeface="Cascadia Code" panose="020B0609020000020004" pitchFamily="49" charset="0"/>
                <a:cs typeface="Cascadia Code" panose="020B0609020000020004" pitchFamily="49" charset="0"/>
              </a:rPr>
              <a:t>-1</a:t>
            </a:r>
            <a:endParaRPr lang="fr-FR" baseline="-25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067D5D0-51AE-F12D-721C-BE35032BC6E4}"/>
              </a:ext>
            </a:extLst>
          </p:cNvPr>
          <p:cNvSpPr txBox="1"/>
          <p:nvPr/>
        </p:nvSpPr>
        <p:spPr>
          <a:xfrm>
            <a:off x="1912045" y="5720002"/>
            <a:ext cx="1503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Image de test </a:t>
            </a:r>
            <a:r>
              <a:rPr lang="fr-FR" b="1" dirty="0">
                <a:cs typeface="Cascadia Code" panose="020B0609020000020004" pitchFamily="49" charset="0"/>
              </a:rPr>
              <a:t>source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910860E-3B6C-88D4-6184-D9E339B9129F}"/>
              </a:ext>
            </a:extLst>
          </p:cNvPr>
          <p:cNvSpPr txBox="1"/>
          <p:nvPr/>
        </p:nvSpPr>
        <p:spPr>
          <a:xfrm>
            <a:off x="4496788" y="5720002"/>
            <a:ext cx="1785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cs typeface="Cascadia Code" panose="020B0609020000020004" pitchFamily="49" charset="0"/>
              </a:rPr>
              <a:t>Image de test </a:t>
            </a:r>
            <a:r>
              <a:rPr lang="fr-FR" b="1" dirty="0">
                <a:cs typeface="Cascadia Code" panose="020B0609020000020004" pitchFamily="49" charset="0"/>
              </a:rPr>
              <a:t>désobscurcie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0C12E3D-E83B-198C-2F9C-5D014CB2A08F}"/>
              </a:ext>
            </a:extLst>
          </p:cNvPr>
          <p:cNvSpPr txBox="1"/>
          <p:nvPr/>
        </p:nvSpPr>
        <p:spPr>
          <a:xfrm>
            <a:off x="3327564" y="4271494"/>
            <a:ext cx="13982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0" i="0" dirty="0">
                <a:solidFill>
                  <a:schemeClr val="bg2">
                    <a:lumMod val="75000"/>
                  </a:schemeClr>
                </a:solidFill>
                <a:effectLst/>
              </a:rPr>
              <a:t>≈</a:t>
            </a:r>
            <a:endParaRPr lang="fr-FR" sz="9600" baseline="-25000" dirty="0">
              <a:solidFill>
                <a:schemeClr val="bg2">
                  <a:lumMod val="75000"/>
                </a:schemeClr>
              </a:solidFill>
              <a:cs typeface="Cascadia Code" panose="020B0609020000020004" pitchFamily="49" charset="0"/>
            </a:endParaRPr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47AB50F9-1DB5-024D-FF36-F00BE8357520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 flipV="1">
            <a:off x="6053195" y="2711018"/>
            <a:ext cx="369939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8E265092-523C-63FB-2F4F-906A0B88B9B2}"/>
              </a:ext>
            </a:extLst>
          </p:cNvPr>
          <p:cNvCxnSpPr>
            <a:cxnSpLocks/>
            <a:stCxn id="12" idx="0"/>
            <a:endCxn id="25" idx="1"/>
          </p:cNvCxnSpPr>
          <p:nvPr/>
        </p:nvCxnSpPr>
        <p:spPr>
          <a:xfrm flipV="1">
            <a:off x="6918433" y="2711017"/>
            <a:ext cx="36993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5B617B52-E987-51A6-1A4C-69A435120E3F}"/>
              </a:ext>
            </a:extLst>
          </p:cNvPr>
          <p:cNvCxnSpPr>
            <a:cxnSpLocks/>
            <a:stCxn id="28" idx="2"/>
            <a:endCxn id="14" idx="3"/>
          </p:cNvCxnSpPr>
          <p:nvPr/>
        </p:nvCxnSpPr>
        <p:spPr>
          <a:xfrm flipH="1">
            <a:off x="6053194" y="5057221"/>
            <a:ext cx="369937" cy="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403498B3-0909-6B98-1FEF-F2EF34EAFC48}"/>
              </a:ext>
            </a:extLst>
          </p:cNvPr>
          <p:cNvCxnSpPr>
            <a:cxnSpLocks/>
            <a:stCxn id="19" idx="1"/>
            <a:endCxn id="28" idx="0"/>
          </p:cNvCxnSpPr>
          <p:nvPr/>
        </p:nvCxnSpPr>
        <p:spPr>
          <a:xfrm flipH="1" flipV="1">
            <a:off x="6918430" y="5057221"/>
            <a:ext cx="369938" cy="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BC73EDB5-624F-AB8D-547F-91597A6EA732}"/>
              </a:ext>
            </a:extLst>
          </p:cNvPr>
          <p:cNvCxnSpPr>
            <a:cxnSpLocks/>
          </p:cNvCxnSpPr>
          <p:nvPr/>
        </p:nvCxnSpPr>
        <p:spPr>
          <a:xfrm>
            <a:off x="8249265" y="2723864"/>
            <a:ext cx="0" cy="2334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E121EA21-81AA-33DB-27D8-057EFEF6917E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7475099" y="5058116"/>
            <a:ext cx="7741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CBF7F945-4236-967B-D8D3-D9547D28A83A}"/>
              </a:ext>
            </a:extLst>
          </p:cNvPr>
          <p:cNvSpPr txBox="1"/>
          <p:nvPr/>
        </p:nvSpPr>
        <p:spPr>
          <a:xfrm>
            <a:off x="8252245" y="3567824"/>
            <a:ext cx="1586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cs typeface="Cascadia Code" panose="020B0609020000020004" pitchFamily="49" charset="0"/>
              </a:rPr>
              <a:t>Translation inverse</a:t>
            </a:r>
            <a:endParaRPr lang="fr-FR" b="1" baseline="-25000" dirty="0">
              <a:cs typeface="Cascadia Code" panose="020B0609020000020004" pitchFamily="49" charset="0"/>
            </a:endParaRPr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C4D105AC-B89C-046B-10AA-82F91D8BBC3E}"/>
              </a:ext>
            </a:extLst>
          </p:cNvPr>
          <p:cNvCxnSpPr>
            <a:cxnSpLocks/>
          </p:cNvCxnSpPr>
          <p:nvPr/>
        </p:nvCxnSpPr>
        <p:spPr>
          <a:xfrm flipH="1">
            <a:off x="7475099" y="2723864"/>
            <a:ext cx="774166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68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0672-9294-3BA4-6937-42ADBD63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E49A6C1D-0E06-F81A-4597-BF9336470399}"/>
              </a:ext>
            </a:extLst>
          </p:cNvPr>
          <p:cNvSpPr/>
          <p:nvPr/>
        </p:nvSpPr>
        <p:spPr>
          <a:xfrm rot="851835">
            <a:off x="1223788" y="1961008"/>
            <a:ext cx="2880852" cy="1779639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114BB71-2283-CA1E-1D57-897E6914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d’obscuration</a:t>
            </a:r>
            <a:br>
              <a:rPr lang="fr-FR" dirty="0"/>
            </a:b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4C0F56D-7545-A838-4DED-7ABB3A05AAE5}"/>
              </a:ext>
            </a:extLst>
          </p:cNvPr>
          <p:cNvSpPr/>
          <p:nvPr/>
        </p:nvSpPr>
        <p:spPr>
          <a:xfrm rot="20017351">
            <a:off x="2366539" y="3918203"/>
            <a:ext cx="2317936" cy="22085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867FC16-5A9E-97CB-7BE1-1494F7E3E9E2}"/>
              </a:ext>
            </a:extLst>
          </p:cNvPr>
          <p:cNvSpPr/>
          <p:nvPr/>
        </p:nvSpPr>
        <p:spPr>
          <a:xfrm rot="3925294">
            <a:off x="3707203" y="2934261"/>
            <a:ext cx="3811777" cy="167663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8CD7DA1-AF4E-C21F-A667-7C7C5AB72164}"/>
              </a:ext>
            </a:extLst>
          </p:cNvPr>
          <p:cNvSpPr/>
          <p:nvPr/>
        </p:nvSpPr>
        <p:spPr>
          <a:xfrm>
            <a:off x="2582402" y="2776161"/>
            <a:ext cx="163624" cy="1636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9E61AC6A-B830-4F22-27FF-58CA1C451CC5}"/>
              </a:ext>
            </a:extLst>
          </p:cNvPr>
          <p:cNvSpPr/>
          <p:nvPr/>
        </p:nvSpPr>
        <p:spPr>
          <a:xfrm>
            <a:off x="5531279" y="3726426"/>
            <a:ext cx="163624" cy="1636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CFCA332-DA57-0214-DD0E-6D8523CD22B5}"/>
              </a:ext>
            </a:extLst>
          </p:cNvPr>
          <p:cNvSpPr/>
          <p:nvPr/>
        </p:nvSpPr>
        <p:spPr>
          <a:xfrm>
            <a:off x="3443695" y="4966584"/>
            <a:ext cx="163624" cy="16362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4E3CADF-4051-38D1-EE88-17651ADA6136}"/>
              </a:ext>
            </a:extLst>
          </p:cNvPr>
          <p:cNvCxnSpPr>
            <a:cxnSpLocks/>
          </p:cNvCxnSpPr>
          <p:nvPr/>
        </p:nvCxnSpPr>
        <p:spPr>
          <a:xfrm>
            <a:off x="2664214" y="2863129"/>
            <a:ext cx="2952873" cy="953921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prstDash val="sys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igne de multiplication 23">
            <a:extLst>
              <a:ext uri="{FF2B5EF4-FFF2-40B4-BE49-F238E27FC236}">
                <a16:creationId xmlns:a16="http://schemas.microsoft.com/office/drawing/2014/main" id="{A0ED5869-F923-4AD8-238C-9D07625F484D}"/>
              </a:ext>
            </a:extLst>
          </p:cNvPr>
          <p:cNvSpPr/>
          <p:nvPr/>
        </p:nvSpPr>
        <p:spPr>
          <a:xfrm>
            <a:off x="5477471" y="4163422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D1827AA1-F77F-174C-B90B-87561FA336A4}"/>
              </a:ext>
            </a:extLst>
          </p:cNvPr>
          <p:cNvSpPr/>
          <p:nvPr/>
        </p:nvSpPr>
        <p:spPr>
          <a:xfrm>
            <a:off x="2528903" y="3215118"/>
            <a:ext cx="237936" cy="237936"/>
          </a:xfrm>
          <a:prstGeom prst="mathMultiply">
            <a:avLst>
              <a:gd name="adj1" fmla="val 1799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415CC28-1C3F-D0BF-7886-E53A3E7E2557}"/>
              </a:ext>
            </a:extLst>
          </p:cNvPr>
          <p:cNvCxnSpPr>
            <a:cxnSpLocks/>
          </p:cNvCxnSpPr>
          <p:nvPr/>
        </p:nvCxnSpPr>
        <p:spPr>
          <a:xfrm>
            <a:off x="2647871" y="3332125"/>
            <a:ext cx="2948877" cy="950265"/>
          </a:xfrm>
          <a:prstGeom prst="straightConnector1">
            <a:avLst/>
          </a:prstGeom>
          <a:ln w="31750">
            <a:solidFill>
              <a:schemeClr val="accent1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B25A2F27-DF7F-BD8C-67D4-1A2292D82EA4}"/>
              </a:ext>
            </a:extLst>
          </p:cNvPr>
          <p:cNvSpPr txBox="1"/>
          <p:nvPr/>
        </p:nvSpPr>
        <p:spPr>
          <a:xfrm>
            <a:off x="3846555" y="3373872"/>
            <a:ext cx="79928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k→i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D67D5CF-E54A-B8DB-69E4-E1D03B0210F9}"/>
              </a:ext>
            </a:extLst>
          </p:cNvPr>
          <p:cNvSpPr txBox="1"/>
          <p:nvPr/>
        </p:nvSpPr>
        <p:spPr>
          <a:xfrm>
            <a:off x="2083335" y="2420797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832E343-2CED-DCEF-F72D-6DD91EC1DB04}"/>
              </a:ext>
            </a:extLst>
          </p:cNvPr>
          <p:cNvSpPr txBox="1"/>
          <p:nvPr/>
        </p:nvSpPr>
        <p:spPr>
          <a:xfrm>
            <a:off x="5403014" y="3415078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E3B8041-29BE-6B9F-B89E-1DEBB3C99446}"/>
              </a:ext>
            </a:extLst>
          </p:cNvPr>
          <p:cNvSpPr txBox="1"/>
          <p:nvPr/>
        </p:nvSpPr>
        <p:spPr>
          <a:xfrm>
            <a:off x="3214881" y="5116060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C4A0A70-DC15-66C4-D690-154E2017552B}"/>
              </a:ext>
            </a:extLst>
          </p:cNvPr>
          <p:cNvSpPr txBox="1"/>
          <p:nvPr/>
        </p:nvSpPr>
        <p:spPr>
          <a:xfrm>
            <a:off x="1967554" y="2997935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Î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0C4D8A20-F79F-14A7-A7B4-F48EF64979EE}"/>
              </a:ext>
            </a:extLst>
          </p:cNvPr>
          <p:cNvSpPr txBox="1"/>
          <p:nvPr/>
        </p:nvSpPr>
        <p:spPr>
          <a:xfrm>
            <a:off x="5403170" y="4295806"/>
            <a:ext cx="79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baseline="-250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  <a:endParaRPr lang="fr-FR" baseline="30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CF497BA-3FCE-0381-C54D-5003EF001EFC}"/>
              </a:ext>
            </a:extLst>
          </p:cNvPr>
          <p:cNvSpPr txBox="1"/>
          <p:nvPr/>
        </p:nvSpPr>
        <p:spPr>
          <a:xfrm>
            <a:off x="759612" y="3531698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Classe i</a:t>
            </a:r>
            <a:endParaRPr lang="fr-FR" baseline="30000" dirty="0">
              <a:solidFill>
                <a:schemeClr val="accent2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A92C6240-0A10-4328-9E26-82A667058679}"/>
              </a:ext>
            </a:extLst>
          </p:cNvPr>
          <p:cNvSpPr txBox="1"/>
          <p:nvPr/>
        </p:nvSpPr>
        <p:spPr>
          <a:xfrm>
            <a:off x="5559771" y="5556166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Classe k</a:t>
            </a:r>
            <a:endParaRPr lang="fr-FR" baseline="30000" dirty="0">
              <a:solidFill>
                <a:schemeClr val="accent6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3D2A3E88-4461-F56D-C75A-DBC0FB0034C4}"/>
              </a:ext>
            </a:extLst>
          </p:cNvPr>
          <p:cNvSpPr txBox="1"/>
          <p:nvPr/>
        </p:nvSpPr>
        <p:spPr>
          <a:xfrm>
            <a:off x="2702191" y="6099001"/>
            <a:ext cx="142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Classe j</a:t>
            </a:r>
            <a:endParaRPr lang="fr-FR" baseline="30000" dirty="0">
              <a:solidFill>
                <a:schemeClr val="accent5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12E44DFD-E9AA-7D6C-99E9-BF94675D6F37}"/>
              </a:ext>
            </a:extLst>
          </p:cNvPr>
          <p:cNvSpPr txBox="1"/>
          <p:nvPr/>
        </p:nvSpPr>
        <p:spPr>
          <a:xfrm>
            <a:off x="7472294" y="2514129"/>
            <a:ext cx="4110983" cy="2605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Formule de la translation inverse (classe </a:t>
            </a:r>
            <a:r>
              <a:rPr lang="fr-FR" sz="2000" b="1" dirty="0">
                <a:solidFill>
                  <a:schemeClr val="accent6"/>
                </a:solidFill>
              </a:rPr>
              <a:t>k</a:t>
            </a:r>
            <a:r>
              <a:rPr lang="fr-FR" sz="2000" dirty="0"/>
              <a:t> vers la classe </a:t>
            </a:r>
            <a:r>
              <a:rPr lang="fr-FR" sz="2000" b="1" dirty="0">
                <a:solidFill>
                  <a:schemeClr val="accent2"/>
                </a:solidFill>
              </a:rPr>
              <a:t>i</a:t>
            </a:r>
            <a:r>
              <a:rPr lang="fr-FR" sz="2000" dirty="0"/>
              <a:t>) :</a:t>
            </a:r>
            <a:endParaRPr lang="fr-FR" sz="2000" b="1" dirty="0"/>
          </a:p>
          <a:p>
            <a:pPr algn="ctr"/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>
                <a:solidFill>
                  <a:schemeClr val="accent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Î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V</a:t>
            </a:r>
            <a:r>
              <a:rPr lang="fr-FR" sz="3200" baseline="-25000" dirty="0">
                <a:solidFill>
                  <a:schemeClr val="accent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</a:t>
            </a:r>
            <a:r>
              <a:rPr lang="fr-FR" sz="3200" dirty="0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fr-FR" sz="3200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r>
              <a:rPr lang="fr-FR" sz="3200" baseline="-25000" dirty="0" err="1">
                <a:solidFill>
                  <a:schemeClr val="accent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k</a:t>
            </a:r>
            <a:r>
              <a:rPr lang="fr-FR" sz="3200" baseline="-25000" dirty="0" err="1">
                <a:solidFill>
                  <a:schemeClr val="accent1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→</a:t>
            </a:r>
            <a:r>
              <a:rPr lang="fr-FR" sz="3200" baseline="-25000" dirty="0" err="1">
                <a:solidFill>
                  <a:schemeClr val="accent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endParaRPr lang="fr-FR" sz="3200" baseline="-25000" dirty="0">
              <a:solidFill>
                <a:schemeClr val="accent2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baseline="-25000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Les classes source et cible sont connues</a:t>
            </a:r>
            <a:endParaRPr lang="fr-FR" dirty="0">
              <a:solidFill>
                <a:schemeClr val="accent1">
                  <a:lumMod val="7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CF8B-8B9C-1C4C-4048-3E2F428F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B81A7F8-10FB-A356-B835-092DBDC51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de l’obscuration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</a:t>
            </a:r>
            <a:endParaRPr lang="fr-FR" dirty="0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04B81478-E626-3497-7765-9779A382A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65" y="2431467"/>
            <a:ext cx="3111202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DB812EC2-0BF1-BD6A-B808-C82C8E797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399" y="2431465"/>
            <a:ext cx="3111202" cy="1817780"/>
          </a:xfrm>
          <a:prstGeom prst="rect">
            <a:avLst/>
          </a:prstGeom>
        </p:spPr>
      </p:pic>
      <p:pic>
        <p:nvPicPr>
          <p:cNvPr id="6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FDD1D612-0C41-8330-FCAC-648C4461E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834" y="2431466"/>
            <a:ext cx="3111202" cy="1817779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4AE38404-302E-E1FF-9E8C-E9D723BDBB20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3448167" y="3340355"/>
            <a:ext cx="1092232" cy="2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97DE6B9-4ED3-1688-034C-F18AC30F3F4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651601" y="3340355"/>
            <a:ext cx="1092233" cy="1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059B107D-2B17-2723-3E19-81F1EBA45244}"/>
              </a:ext>
            </a:extLst>
          </p:cNvPr>
          <p:cNvSpPr/>
          <p:nvPr/>
        </p:nvSpPr>
        <p:spPr>
          <a:xfrm>
            <a:off x="336965" y="4515330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D7449BED-3A17-6CEF-189B-D7A53AAAB75F}"/>
              </a:ext>
            </a:extLst>
          </p:cNvPr>
          <p:cNvSpPr/>
          <p:nvPr/>
        </p:nvSpPr>
        <p:spPr>
          <a:xfrm>
            <a:off x="4540400" y="4515330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3" name="Organigramme : Opération manuelle 22">
            <a:extLst>
              <a:ext uri="{FF2B5EF4-FFF2-40B4-BE49-F238E27FC236}">
                <a16:creationId xmlns:a16="http://schemas.microsoft.com/office/drawing/2014/main" id="{D89C4E99-BE03-F09E-4342-21683CAF3BF3}"/>
              </a:ext>
            </a:extLst>
          </p:cNvPr>
          <p:cNvSpPr/>
          <p:nvPr/>
        </p:nvSpPr>
        <p:spPr>
          <a:xfrm>
            <a:off x="8743835" y="4515330"/>
            <a:ext cx="3111201" cy="53245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38835E8-1BDA-2089-18D4-423ECF7ABBDA}"/>
              </a:ext>
            </a:extLst>
          </p:cNvPr>
          <p:cNvSpPr txBox="1"/>
          <p:nvPr/>
        </p:nvSpPr>
        <p:spPr>
          <a:xfrm>
            <a:off x="509935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678E2F8-D19D-E55E-08FE-69542C25BB1A}"/>
              </a:ext>
            </a:extLst>
          </p:cNvPr>
          <p:cNvSpPr txBox="1"/>
          <p:nvPr/>
        </p:nvSpPr>
        <p:spPr>
          <a:xfrm>
            <a:off x="8916810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D5F7E9D-4FCE-F996-C77B-26A034D44623}"/>
              </a:ext>
            </a:extLst>
          </p:cNvPr>
          <p:cNvSpPr txBox="1"/>
          <p:nvPr/>
        </p:nvSpPr>
        <p:spPr>
          <a:xfrm>
            <a:off x="4713370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4	1	7</a:t>
            </a:r>
            <a:endParaRPr lang="fr-FR" sz="3600" u="sng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077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5A70-F51A-A3DD-806B-C24B5E3C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89C2B19-0189-B16D-9774-E40E408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E65E78-158A-BCDB-F109-B7550E8E1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34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6C49A-C6F9-B677-4832-DC6F1926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4A149B1-B6BD-3636-74DA-07679F15B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Dataset</a:t>
            </a:r>
            <a:endParaRPr lang="fr-FR" dirty="0"/>
          </a:p>
        </p:txBody>
      </p:sp>
      <p:pic>
        <p:nvPicPr>
          <p:cNvPr id="2" name="Picture 2" descr="MNIST database - Wikipedia">
            <a:extLst>
              <a:ext uri="{FF2B5EF4-FFF2-40B4-BE49-F238E27FC236}">
                <a16:creationId xmlns:a16="http://schemas.microsoft.com/office/drawing/2014/main" id="{158A396B-2B90-A0E8-1680-67114EB84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995" y="3645145"/>
            <a:ext cx="5564009" cy="276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4">
            <a:extLst>
              <a:ext uri="{FF2B5EF4-FFF2-40B4-BE49-F238E27FC236}">
                <a16:creationId xmlns:a16="http://schemas.microsoft.com/office/drawing/2014/main" id="{345F4B88-D7F4-DE13-380A-97513DC84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0372"/>
            <a:ext cx="10515600" cy="2857255"/>
          </a:xfrm>
        </p:spPr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d’images dessinées </a:t>
            </a:r>
            <a:r>
              <a:rPr lang="fr-FR" b="1" dirty="0"/>
              <a:t>MNIST</a:t>
            </a:r>
          </a:p>
          <a:p>
            <a:r>
              <a:rPr lang="fr-FR" b="1" dirty="0"/>
              <a:t>60 000</a:t>
            </a:r>
            <a:r>
              <a:rPr lang="fr-FR" dirty="0"/>
              <a:t> images d’entraînement</a:t>
            </a:r>
          </a:p>
          <a:p>
            <a:r>
              <a:rPr lang="fr-FR" b="1" dirty="0"/>
              <a:t>10 000</a:t>
            </a:r>
            <a:r>
              <a:rPr lang="fr-FR" dirty="0"/>
              <a:t> images de test</a:t>
            </a:r>
          </a:p>
        </p:txBody>
      </p:sp>
    </p:spTree>
    <p:extLst>
      <p:ext uri="{BB962C8B-B14F-4D97-AF65-F5344CB8AC3E}">
        <p14:creationId xmlns:p14="http://schemas.microsoft.com/office/powerpoint/2010/main" val="210848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D82E-A0A0-56BC-E9C1-ECEE8BD8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935BD9F-62E9-6D9E-BB8D-11C39B7E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Modèles</a:t>
            </a:r>
            <a:endParaRPr lang="fr-FR" dirty="0"/>
          </a:p>
        </p:txBody>
      </p:sp>
      <p:pic>
        <p:nvPicPr>
          <p:cNvPr id="2050" name="Picture 2" descr="Model Architecture">
            <a:extLst>
              <a:ext uri="{FF2B5EF4-FFF2-40B4-BE49-F238E27FC236}">
                <a16:creationId xmlns:a16="http://schemas.microsoft.com/office/drawing/2014/main" id="{BE8E17DF-7993-DAAB-9953-EB2271341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1731"/>
          <a:stretch/>
        </p:blipFill>
        <p:spPr bwMode="auto">
          <a:xfrm>
            <a:off x="838199" y="2056074"/>
            <a:ext cx="10575403" cy="240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180E98E-E274-C067-DFA3-13D53DE00762}"/>
              </a:ext>
            </a:extLst>
          </p:cNvPr>
          <p:cNvSpPr txBox="1"/>
          <p:nvPr/>
        </p:nvSpPr>
        <p:spPr>
          <a:xfrm>
            <a:off x="838200" y="1655964"/>
            <a:ext cx="2511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VAE</a:t>
            </a:r>
            <a:endParaRPr lang="fr-FR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FAD1C3-24CB-6347-4925-D0285CBA49E7}"/>
              </a:ext>
            </a:extLst>
          </p:cNvPr>
          <p:cNvSpPr txBox="1"/>
          <p:nvPr/>
        </p:nvSpPr>
        <p:spPr>
          <a:xfrm>
            <a:off x="838199" y="4417269"/>
            <a:ext cx="5257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• </a:t>
            </a:r>
            <a:r>
              <a:rPr lang="fr-FR" sz="2000" dirty="0" err="1"/>
              <a:t>Autoencodeur</a:t>
            </a:r>
            <a:r>
              <a:rPr lang="fr-FR" sz="2000" dirty="0"/>
              <a:t> </a:t>
            </a:r>
            <a:r>
              <a:rPr lang="fr-FR" sz="2000" dirty="0" err="1"/>
              <a:t>variationnel</a:t>
            </a:r>
            <a:endParaRPr lang="fr-FR" sz="2000" dirty="0"/>
          </a:p>
          <a:p>
            <a:r>
              <a:rPr lang="fr-FR" sz="2000" dirty="0"/>
              <a:t>• Facteur </a:t>
            </a:r>
            <a:r>
              <a:rPr lang="el-GR" sz="2000" b="1" dirty="0"/>
              <a:t>β</a:t>
            </a:r>
            <a:r>
              <a:rPr lang="fr-FR" sz="2000" dirty="0"/>
              <a:t> de démêlage</a:t>
            </a:r>
          </a:p>
          <a:p>
            <a:r>
              <a:rPr lang="fr-FR" sz="2000" dirty="0"/>
              <a:t>• Vecteur latent de taille </a:t>
            </a:r>
            <a:r>
              <a:rPr lang="fr-FR" sz="2000" b="1" dirty="0"/>
              <a:t>128</a:t>
            </a:r>
          </a:p>
          <a:p>
            <a:endParaRPr lang="fr-FR" sz="2800" b="1" dirty="0"/>
          </a:p>
          <a:p>
            <a:r>
              <a:rPr lang="fr-FR" sz="2000" b="1" dirty="0"/>
              <a:t>Classifieur</a:t>
            </a:r>
            <a:endParaRPr lang="fr-FR" dirty="0"/>
          </a:p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99,29%</a:t>
            </a:r>
            <a:r>
              <a:rPr lang="fr-FR" dirty="0"/>
              <a:t> de précision sur la base MNIST</a:t>
            </a:r>
          </a:p>
        </p:txBody>
      </p:sp>
    </p:spTree>
    <p:extLst>
      <p:ext uri="{BB962C8B-B14F-4D97-AF65-F5344CB8AC3E}">
        <p14:creationId xmlns:p14="http://schemas.microsoft.com/office/powerpoint/2010/main" val="334144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399EF2-D059-023E-EBBE-2BD8FC475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B5F1F5B-14BC-0D66-EA03-29CB4D76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Prototypes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98D2FDD-1F8D-0C5A-0359-2DAE0C7F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3309112"/>
            <a:ext cx="11744960" cy="11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36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9C7D-9190-3285-685A-0835509C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960F337-5026-B9F6-61D5-BAC92D53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Obscuration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FA2147B-AE31-1196-3B23-B52DD6356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999" y="2394625"/>
            <a:ext cx="9291320" cy="382583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D650B05-2A1A-8A31-45AE-27CFDFEE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2397760"/>
            <a:ext cx="1092200" cy="3822702"/>
          </a:xfrm>
          <a:prstGeom prst="rect">
            <a:avLst/>
          </a:prstGeom>
        </p:spPr>
      </p:pic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ABF18754-E165-D053-C710-2A2C1E4DE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466327"/>
              </p:ext>
            </p:extLst>
          </p:nvPr>
        </p:nvGraphicFramePr>
        <p:xfrm>
          <a:off x="2456179" y="2089825"/>
          <a:ext cx="92049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496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88D91B18-71AE-29A2-8517-FADFFC8D126B}"/>
              </a:ext>
            </a:extLst>
          </p:cNvPr>
          <p:cNvSpPr txBox="1"/>
          <p:nvPr/>
        </p:nvSpPr>
        <p:spPr>
          <a:xfrm>
            <a:off x="231142" y="208595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DD54973-248F-FF90-4644-E4951624FAAC}"/>
              </a:ext>
            </a:extLst>
          </p:cNvPr>
          <p:cNvCxnSpPr>
            <a:cxnSpLocks/>
          </p:cNvCxnSpPr>
          <p:nvPr/>
        </p:nvCxnSpPr>
        <p:spPr>
          <a:xfrm>
            <a:off x="1579881" y="2936240"/>
            <a:ext cx="833118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5F3AE38A-D1CA-A67C-5FA3-DE97DFA58747}"/>
              </a:ext>
            </a:extLst>
          </p:cNvPr>
          <p:cNvCxnSpPr>
            <a:cxnSpLocks/>
          </p:cNvCxnSpPr>
          <p:nvPr/>
        </p:nvCxnSpPr>
        <p:spPr>
          <a:xfrm>
            <a:off x="1579881" y="3850640"/>
            <a:ext cx="833118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B437653-FBEA-798E-9BD8-CB0249C23DEA}"/>
              </a:ext>
            </a:extLst>
          </p:cNvPr>
          <p:cNvCxnSpPr>
            <a:cxnSpLocks/>
          </p:cNvCxnSpPr>
          <p:nvPr/>
        </p:nvCxnSpPr>
        <p:spPr>
          <a:xfrm>
            <a:off x="1579881" y="4785360"/>
            <a:ext cx="833118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3AFF2D8B-C1A9-4585-E218-FD64E9E133F9}"/>
              </a:ext>
            </a:extLst>
          </p:cNvPr>
          <p:cNvCxnSpPr>
            <a:cxnSpLocks/>
          </p:cNvCxnSpPr>
          <p:nvPr/>
        </p:nvCxnSpPr>
        <p:spPr>
          <a:xfrm>
            <a:off x="1579881" y="5720080"/>
            <a:ext cx="833118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826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CEF8-91AA-3115-2DD9-E6EFF2B15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2EB8D0D-8F0A-226B-B93B-59329DD2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Translation des chiffres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BEDDF2-6315-BF52-AEB9-25E82C99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1"/>
          <a:stretch/>
        </p:blipFill>
        <p:spPr>
          <a:xfrm>
            <a:off x="6105114" y="1258529"/>
            <a:ext cx="5735527" cy="550490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73CCC65-FC3D-ABA2-6536-8D0542B4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78" y="2070817"/>
            <a:ext cx="4422058" cy="442205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F12AEFE2-2E20-5F32-A36C-BA40FFFB6804}"/>
              </a:ext>
            </a:extLst>
          </p:cNvPr>
          <p:cNvSpPr txBox="1"/>
          <p:nvPr/>
        </p:nvSpPr>
        <p:spPr>
          <a:xfrm>
            <a:off x="1044678" y="157316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35A0EAE-207D-A86D-E9A7-7949E106D63E}"/>
              </a:ext>
            </a:extLst>
          </p:cNvPr>
          <p:cNvSpPr txBox="1"/>
          <p:nvPr/>
        </p:nvSpPr>
        <p:spPr>
          <a:xfrm>
            <a:off x="3689556" y="157807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2479B4"/>
                </a:solidFill>
              </a:rPr>
              <a:t>1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FA8A8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8311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98E93-5541-8F5F-E103-BED0A492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CABA81C7-FD76-4316-5FF0-601EF786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6"/>
          <a:stretch/>
        </p:blipFill>
        <p:spPr>
          <a:xfrm>
            <a:off x="6096394" y="1268361"/>
            <a:ext cx="5744247" cy="5503791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03AEDAB7-6174-ACF9-07F8-7E7BCB7B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Translation des chiffres</a:t>
            </a:r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8152DC6-55B4-8182-973C-C4854FA90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78" y="2070817"/>
            <a:ext cx="4422058" cy="442205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143EEFE-836F-0D95-5B12-76795917225E}"/>
              </a:ext>
            </a:extLst>
          </p:cNvPr>
          <p:cNvSpPr txBox="1"/>
          <p:nvPr/>
        </p:nvSpPr>
        <p:spPr>
          <a:xfrm>
            <a:off x="1044678" y="1573161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F3C31D-EF2A-451B-041F-B61713CFED04}"/>
              </a:ext>
            </a:extLst>
          </p:cNvPr>
          <p:cNvSpPr txBox="1"/>
          <p:nvPr/>
        </p:nvSpPr>
        <p:spPr>
          <a:xfrm>
            <a:off x="3689556" y="1578077"/>
            <a:ext cx="1777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A3D971"/>
                </a:solidFill>
              </a:rPr>
              <a:t>2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chemeClr val="bg2">
                    <a:lumMod val="75000"/>
                  </a:schemeClr>
                </a:solidFill>
              </a:rPr>
              <a:t>→</a:t>
            </a:r>
            <a:r>
              <a:rPr lang="fr-FR" sz="2800" b="1" dirty="0"/>
              <a:t>   </a:t>
            </a:r>
            <a:r>
              <a:rPr lang="fr-FR" sz="2800" b="1" dirty="0">
                <a:solidFill>
                  <a:srgbClr val="B491C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5295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248C-11C1-0274-A565-A72A3CB43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D6BD922-185A-8B1B-45E5-F040C978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de l’obscuration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7145063-CB20-FEA4-0B51-7F0CBF61C6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2"/>
          <a:stretch/>
        </p:blipFill>
        <p:spPr>
          <a:xfrm>
            <a:off x="1291171" y="1690688"/>
            <a:ext cx="6483000" cy="46640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93E8D3C-F51A-723D-B761-1094D79BB0B6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86,77%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94,17%</a:t>
            </a:r>
          </a:p>
        </p:txBody>
      </p:sp>
    </p:spTree>
    <p:extLst>
      <p:ext uri="{BB962C8B-B14F-4D97-AF65-F5344CB8AC3E}">
        <p14:creationId xmlns:p14="http://schemas.microsoft.com/office/powerpoint/2010/main" val="2521462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63686-2578-FF6E-A833-929DB52AE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7187F84-B3E4-E2F6-27D4-2C24AA60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/>
          </a:p>
        </p:txBody>
      </p:sp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6813CDDF-7B9D-4DF2-519D-52B6B9866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52865"/>
              </p:ext>
            </p:extLst>
          </p:nvPr>
        </p:nvGraphicFramePr>
        <p:xfrm>
          <a:off x="2456179" y="2089825"/>
          <a:ext cx="920496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496">
                  <a:extLst>
                    <a:ext uri="{9D8B030D-6E8A-4147-A177-3AD203B41FA5}">
                      <a16:colId xmlns:a16="http://schemas.microsoft.com/office/drawing/2014/main" val="935530518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2647142336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417312338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1091773895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859214736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4270210793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1480388654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2540935260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691370011"/>
                    </a:ext>
                  </a:extLst>
                </a:gridCol>
                <a:gridCol w="920496">
                  <a:extLst>
                    <a:ext uri="{9D8B030D-6E8A-4147-A177-3AD203B41FA5}">
                      <a16:colId xmlns:a16="http://schemas.microsoft.com/office/drawing/2014/main" val="25733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9352"/>
                  </a:ext>
                </a:extLst>
              </a:tr>
            </a:tbl>
          </a:graphicData>
        </a:graphic>
      </p:graphicFrame>
      <p:sp>
        <p:nvSpPr>
          <p:cNvPr id="18" name="ZoneTexte 17">
            <a:extLst>
              <a:ext uri="{FF2B5EF4-FFF2-40B4-BE49-F238E27FC236}">
                <a16:creationId xmlns:a16="http://schemas.microsoft.com/office/drawing/2014/main" id="{AC98F8FA-EEDB-B66E-382A-E2B3B7556DB8}"/>
              </a:ext>
            </a:extLst>
          </p:cNvPr>
          <p:cNvSpPr txBox="1"/>
          <p:nvPr/>
        </p:nvSpPr>
        <p:spPr>
          <a:xfrm>
            <a:off x="231142" y="2085955"/>
            <a:ext cx="1605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accent2"/>
                </a:solidFill>
              </a:rPr>
              <a:t>Source</a:t>
            </a:r>
            <a:endParaRPr lang="fr-FR" sz="2800" b="1" dirty="0">
              <a:solidFill>
                <a:schemeClr val="accent2"/>
              </a:solidFill>
            </a:endParaRP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85A745F-A03A-55B8-85DF-FD1684C4FE60}"/>
              </a:ext>
            </a:extLst>
          </p:cNvPr>
          <p:cNvCxnSpPr>
            <a:cxnSpLocks/>
          </p:cNvCxnSpPr>
          <p:nvPr/>
        </p:nvCxnSpPr>
        <p:spPr>
          <a:xfrm>
            <a:off x="1579881" y="2936240"/>
            <a:ext cx="833118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6617148-AF2D-180F-EA55-49F00F7B1147}"/>
              </a:ext>
            </a:extLst>
          </p:cNvPr>
          <p:cNvCxnSpPr>
            <a:cxnSpLocks/>
          </p:cNvCxnSpPr>
          <p:nvPr/>
        </p:nvCxnSpPr>
        <p:spPr>
          <a:xfrm>
            <a:off x="1579881" y="4978400"/>
            <a:ext cx="833118" cy="0"/>
          </a:xfrm>
          <a:prstGeom prst="straightConnector1">
            <a:avLst/>
          </a:prstGeom>
          <a:ln w="762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9C39D10E-DF4B-766C-1585-3FA8BA31F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999" y="2394625"/>
            <a:ext cx="9291320" cy="185826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367CB35-98EC-F25F-033F-1EE1456B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7" y="2473255"/>
            <a:ext cx="1213368" cy="91002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2A226DD-9D22-AD21-B056-C146197EA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97" y="4523387"/>
            <a:ext cx="1213368" cy="91002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24496F6-DB9E-35FB-946E-EFC6C9F33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2999" y="4504281"/>
            <a:ext cx="9291320" cy="185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00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A4A81-6C7A-42B0-CC0B-C198D0F7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E76CC8D6-0770-BD7F-CD53-09D3F257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71"/>
          <a:stretch/>
        </p:blipFill>
        <p:spPr>
          <a:xfrm>
            <a:off x="1291171" y="1690687"/>
            <a:ext cx="6483000" cy="4664076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A2FE417B-7064-E7A2-0650-D0BBBC88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Classification de la </a:t>
            </a:r>
            <a:r>
              <a:rPr lang="fr-FR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désobscuration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43D2EF-C6AE-9382-9B78-A97745DA2472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96,41%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97,54%</a:t>
            </a:r>
          </a:p>
        </p:txBody>
      </p:sp>
    </p:spTree>
    <p:extLst>
      <p:ext uri="{BB962C8B-B14F-4D97-AF65-F5344CB8AC3E}">
        <p14:creationId xmlns:p14="http://schemas.microsoft.com/office/powerpoint/2010/main" val="1464394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2780-808D-1F11-4E9A-4E8B8CF7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7FA21B2-BB2F-001A-CCD4-D00101E4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Attaque (et défense)</a:t>
            </a:r>
            <a:endParaRPr lang="fr-FR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A1A3114-A231-B01F-EE65-720169F81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1479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8B81-FBFD-731A-5785-186A610DB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899C493-8D1E-EA61-68FB-28DAFFC8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 l’obscuration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Fonctionnement</a:t>
            </a:r>
            <a:endParaRPr lang="fr-FR" dirty="0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EC7F6506-152A-86A4-51F3-670911F1D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431467"/>
            <a:ext cx="3111201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86831B5A-2D32-4CE3-6730-73FBE7859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431465"/>
            <a:ext cx="3111201" cy="181778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6851FFA-02A0-3221-BB11-8C6D06CB9622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589485" y="3340355"/>
            <a:ext cx="1092233" cy="2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83F40CDD-0AAF-D045-EA8E-7E2872883BC8}"/>
              </a:ext>
            </a:extLst>
          </p:cNvPr>
          <p:cNvSpPr/>
          <p:nvPr/>
        </p:nvSpPr>
        <p:spPr>
          <a:xfrm>
            <a:off x="2478283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6C881110-8E58-383B-4B71-4AF03E4350D3}"/>
              </a:ext>
            </a:extLst>
          </p:cNvPr>
          <p:cNvSpPr/>
          <p:nvPr/>
        </p:nvSpPr>
        <p:spPr>
          <a:xfrm>
            <a:off x="6681718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172414B-9B6C-3D04-5934-8D6009D916FE}"/>
              </a:ext>
            </a:extLst>
          </p:cNvPr>
          <p:cNvSpPr txBox="1"/>
          <p:nvPr/>
        </p:nvSpPr>
        <p:spPr>
          <a:xfrm>
            <a:off x="2651253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rgbClr val="C00000"/>
                </a:solidFill>
              </a:rPr>
              <a:t>N	N	N</a:t>
            </a:r>
            <a:endParaRPr lang="fr-FR" sz="3600" u="sng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77F86A3-82D8-FD96-03E1-BB91B3011C35}"/>
              </a:ext>
            </a:extLst>
          </p:cNvPr>
          <p:cNvSpPr txBox="1"/>
          <p:nvPr/>
        </p:nvSpPr>
        <p:spPr>
          <a:xfrm>
            <a:off x="6854688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solidFill>
                  <a:schemeClr val="accent6"/>
                </a:solidFill>
              </a:rPr>
              <a:t>P</a:t>
            </a:r>
            <a:r>
              <a:rPr lang="fr-FR" sz="3600" dirty="0"/>
              <a:t>	</a:t>
            </a:r>
            <a:r>
              <a:rPr lang="fr-FR" sz="3600" dirty="0">
                <a:solidFill>
                  <a:schemeClr val="accent6"/>
                </a:solidFill>
              </a:rPr>
              <a:t>P</a:t>
            </a:r>
            <a:r>
              <a:rPr lang="fr-FR" sz="3600" dirty="0"/>
              <a:t>	</a:t>
            </a:r>
            <a:r>
              <a:rPr lang="fr-FR" sz="3600" dirty="0">
                <a:solidFill>
                  <a:schemeClr val="accent6"/>
                </a:solidFill>
              </a:rPr>
              <a:t>P</a:t>
            </a:r>
            <a:endParaRPr lang="fr-FR" sz="3600" u="sng" dirty="0">
              <a:solidFill>
                <a:schemeClr val="accent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332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3B3A1-5AC0-A98D-7F59-54D0D5D2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5BF223B-7492-009A-8114-E3C9C45B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Détection de l’obscuration</a:t>
            </a:r>
            <a:br>
              <a:rPr lang="fr-FR" sz="2400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Entraînement du classifieur</a:t>
            </a:r>
            <a:endParaRPr lang="fr-FR" sz="24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C4D0502-B93B-E802-80B5-E820D2F6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91" y="3333026"/>
            <a:ext cx="8597818" cy="84417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B32FBEB-C5EC-C496-986A-8CE23F65DA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275"/>
          <a:stretch/>
        </p:blipFill>
        <p:spPr>
          <a:xfrm>
            <a:off x="5677925" y="1937319"/>
            <a:ext cx="836149" cy="844175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8F1E9048-AD73-CFE4-C876-D191FD1B4B54}"/>
              </a:ext>
            </a:extLst>
          </p:cNvPr>
          <p:cNvCxnSpPr>
            <a:stCxn id="3" idx="2"/>
          </p:cNvCxnSpPr>
          <p:nvPr/>
        </p:nvCxnSpPr>
        <p:spPr>
          <a:xfrm flipH="1">
            <a:off x="2233914" y="2781494"/>
            <a:ext cx="386208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ECF1EF0-DAFA-0C11-8FF0-8D29F1565BE2}"/>
              </a:ext>
            </a:extLst>
          </p:cNvPr>
          <p:cNvCxnSpPr>
            <a:cxnSpLocks/>
          </p:cNvCxnSpPr>
          <p:nvPr/>
        </p:nvCxnSpPr>
        <p:spPr>
          <a:xfrm flipH="1">
            <a:off x="3136739" y="2781494"/>
            <a:ext cx="295926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F6FD502-E77F-4C38-E4B1-6AD0EC717642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946967" y="2781494"/>
            <a:ext cx="2149033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5A7FFBD-F338-DEC6-D5EF-9D028856BAC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4803494" y="2781494"/>
            <a:ext cx="129250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763CEE7-E6E0-C70B-D706-E10EC15979C9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5677925" y="2781494"/>
            <a:ext cx="41807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34970016-7684-338D-70A9-59865336689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96000" y="2781494"/>
            <a:ext cx="436823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2E5DCBD-A798-37ED-9BD2-502BD26E4815}"/>
              </a:ext>
            </a:extLst>
          </p:cNvPr>
          <p:cNvCxnSpPr>
            <a:cxnSpLocks/>
          </p:cNvCxnSpPr>
          <p:nvPr/>
        </p:nvCxnSpPr>
        <p:spPr>
          <a:xfrm>
            <a:off x="6096000" y="2781494"/>
            <a:ext cx="1292505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5DC30C4-0F21-BE67-2596-A4FBBC37D93F}"/>
              </a:ext>
            </a:extLst>
          </p:cNvPr>
          <p:cNvCxnSpPr>
            <a:cxnSpLocks/>
          </p:cNvCxnSpPr>
          <p:nvPr/>
        </p:nvCxnSpPr>
        <p:spPr>
          <a:xfrm>
            <a:off x="6073001" y="2781494"/>
            <a:ext cx="2172031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B871B76-4556-8EC5-1964-5F2F9E5EEF66}"/>
              </a:ext>
            </a:extLst>
          </p:cNvPr>
          <p:cNvCxnSpPr>
            <a:cxnSpLocks/>
          </p:cNvCxnSpPr>
          <p:nvPr/>
        </p:nvCxnSpPr>
        <p:spPr>
          <a:xfrm>
            <a:off x="6061924" y="2781494"/>
            <a:ext cx="2993336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1AE6A480-75A6-EBFB-A569-BC8F75698A94}"/>
              </a:ext>
            </a:extLst>
          </p:cNvPr>
          <p:cNvCxnSpPr>
            <a:cxnSpLocks/>
          </p:cNvCxnSpPr>
          <p:nvPr/>
        </p:nvCxnSpPr>
        <p:spPr>
          <a:xfrm>
            <a:off x="6073001" y="2781494"/>
            <a:ext cx="3885084" cy="5515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C46DF36C-2E2B-F1ED-CC14-3AC08FB98242}"/>
              </a:ext>
            </a:extLst>
          </p:cNvPr>
          <p:cNvSpPr txBox="1"/>
          <p:nvPr/>
        </p:nvSpPr>
        <p:spPr>
          <a:xfrm>
            <a:off x="1655180" y="412747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3304240-F461-66F9-BD20-37A7C517DF0F}"/>
              </a:ext>
            </a:extLst>
          </p:cNvPr>
          <p:cNvSpPr txBox="1"/>
          <p:nvPr/>
        </p:nvSpPr>
        <p:spPr>
          <a:xfrm>
            <a:off x="2472160" y="412747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8B3E9F20-9C12-28DF-4720-07973E59477F}"/>
              </a:ext>
            </a:extLst>
          </p:cNvPr>
          <p:cNvSpPr txBox="1"/>
          <p:nvPr/>
        </p:nvSpPr>
        <p:spPr>
          <a:xfrm>
            <a:off x="3368233" y="411776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5FD3604-6234-ECC9-75FF-14067B5DAB75}"/>
              </a:ext>
            </a:extLst>
          </p:cNvPr>
          <p:cNvSpPr txBox="1"/>
          <p:nvPr/>
        </p:nvSpPr>
        <p:spPr>
          <a:xfrm>
            <a:off x="4233319" y="4127472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2DF8842-4F91-B01E-FA8A-C00561C191FA}"/>
              </a:ext>
            </a:extLst>
          </p:cNvPr>
          <p:cNvSpPr txBox="1"/>
          <p:nvPr/>
        </p:nvSpPr>
        <p:spPr>
          <a:xfrm>
            <a:off x="5150613" y="4117765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06B852E-F163-CC2D-499E-93C5ACAA8D4B}"/>
              </a:ext>
            </a:extLst>
          </p:cNvPr>
          <p:cNvSpPr txBox="1"/>
          <p:nvPr/>
        </p:nvSpPr>
        <p:spPr>
          <a:xfrm>
            <a:off x="5990259" y="4131207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6B019A2-D40D-0C32-7967-7D6213F23A8F}"/>
              </a:ext>
            </a:extLst>
          </p:cNvPr>
          <p:cNvSpPr txBox="1"/>
          <p:nvPr/>
        </p:nvSpPr>
        <p:spPr>
          <a:xfrm>
            <a:off x="6858075" y="412336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54612F7-AB0E-B9A5-775D-A3E5DE851CA1}"/>
              </a:ext>
            </a:extLst>
          </p:cNvPr>
          <p:cNvSpPr txBox="1"/>
          <p:nvPr/>
        </p:nvSpPr>
        <p:spPr>
          <a:xfrm>
            <a:off x="7697721" y="413120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A4DC60D-D857-A216-8820-43FB0C83C05A}"/>
              </a:ext>
            </a:extLst>
          </p:cNvPr>
          <p:cNvSpPr txBox="1"/>
          <p:nvPr/>
        </p:nvSpPr>
        <p:spPr>
          <a:xfrm>
            <a:off x="8562372" y="4121500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7ACCCBF-0510-BF5D-C437-808591F92CAA}"/>
              </a:ext>
            </a:extLst>
          </p:cNvPr>
          <p:cNvSpPr txBox="1"/>
          <p:nvPr/>
        </p:nvSpPr>
        <p:spPr>
          <a:xfrm>
            <a:off x="9409326" y="4108058"/>
            <a:ext cx="115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10%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BC43859-9332-C48C-7976-187478E08DC8}"/>
              </a:ext>
            </a:extLst>
          </p:cNvPr>
          <p:cNvSpPr txBox="1"/>
          <p:nvPr/>
        </p:nvSpPr>
        <p:spPr>
          <a:xfrm>
            <a:off x="186641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44B0B78-3B8E-075E-03EA-C1C370501C45}"/>
              </a:ext>
            </a:extLst>
          </p:cNvPr>
          <p:cNvSpPr txBox="1"/>
          <p:nvPr/>
        </p:nvSpPr>
        <p:spPr>
          <a:xfrm>
            <a:off x="268339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2184CE9-7016-C0A1-B05D-178633F04011}"/>
              </a:ext>
            </a:extLst>
          </p:cNvPr>
          <p:cNvSpPr txBox="1"/>
          <p:nvPr/>
        </p:nvSpPr>
        <p:spPr>
          <a:xfrm>
            <a:off x="3579470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6BBFE76-6F0E-C0CB-CA1A-8E9C666D7ABF}"/>
              </a:ext>
            </a:extLst>
          </p:cNvPr>
          <p:cNvSpPr txBox="1"/>
          <p:nvPr/>
        </p:nvSpPr>
        <p:spPr>
          <a:xfrm>
            <a:off x="4435997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FF15760C-96E7-FF9E-30E0-492762209212}"/>
              </a:ext>
            </a:extLst>
          </p:cNvPr>
          <p:cNvSpPr txBox="1"/>
          <p:nvPr/>
        </p:nvSpPr>
        <p:spPr>
          <a:xfrm>
            <a:off x="5338008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B1EA235E-44CA-FF64-AEBD-6CA804E7AB3A}"/>
              </a:ext>
            </a:extLst>
          </p:cNvPr>
          <p:cNvSpPr txBox="1"/>
          <p:nvPr/>
        </p:nvSpPr>
        <p:spPr>
          <a:xfrm>
            <a:off x="6165326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FD3F53B-EBDD-5C93-C50E-A1628160A286}"/>
              </a:ext>
            </a:extLst>
          </p:cNvPr>
          <p:cNvSpPr txBox="1"/>
          <p:nvPr/>
        </p:nvSpPr>
        <p:spPr>
          <a:xfrm>
            <a:off x="7021008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E88DC73-E5B8-5796-A961-E6C2E50FDE66}"/>
              </a:ext>
            </a:extLst>
          </p:cNvPr>
          <p:cNvSpPr txBox="1"/>
          <p:nvPr/>
        </p:nvSpPr>
        <p:spPr>
          <a:xfrm>
            <a:off x="7876690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CEB0440B-CF08-A150-4563-261183974088}"/>
              </a:ext>
            </a:extLst>
          </p:cNvPr>
          <p:cNvSpPr txBox="1"/>
          <p:nvPr/>
        </p:nvSpPr>
        <p:spPr>
          <a:xfrm>
            <a:off x="8754438" y="6022801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CAA27E7-6150-3971-CFF7-E0594DE07A75}"/>
              </a:ext>
            </a:extLst>
          </p:cNvPr>
          <p:cNvSpPr txBox="1"/>
          <p:nvPr/>
        </p:nvSpPr>
        <p:spPr>
          <a:xfrm>
            <a:off x="9610120" y="5994465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6"/>
                </a:solidFill>
              </a:rPr>
              <a:t>1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E73643F2-9295-819C-8446-AADE62E9B33E}"/>
              </a:ext>
            </a:extLst>
          </p:cNvPr>
          <p:cNvCxnSpPr>
            <a:stCxn id="30" idx="2"/>
            <a:endCxn id="42" idx="0"/>
          </p:cNvCxnSpPr>
          <p:nvPr/>
        </p:nvCxnSpPr>
        <p:spPr>
          <a:xfrm>
            <a:off x="2233914" y="4496804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EF93171-DE5C-6277-A34D-2D839079E4D4}"/>
              </a:ext>
            </a:extLst>
          </p:cNvPr>
          <p:cNvCxnSpPr/>
          <p:nvPr/>
        </p:nvCxnSpPr>
        <p:spPr>
          <a:xfrm>
            <a:off x="3034497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21FCC6AF-B2EA-988C-CBE0-6D8EC352126E}"/>
              </a:ext>
            </a:extLst>
          </p:cNvPr>
          <p:cNvCxnSpPr/>
          <p:nvPr/>
        </p:nvCxnSpPr>
        <p:spPr>
          <a:xfrm>
            <a:off x="3946967" y="450798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BF1700C1-FD40-142A-2F9D-2B6C40B8CFCA}"/>
              </a:ext>
            </a:extLst>
          </p:cNvPr>
          <p:cNvCxnSpPr/>
          <p:nvPr/>
        </p:nvCxnSpPr>
        <p:spPr>
          <a:xfrm>
            <a:off x="4803494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0401B290-E847-8E67-B688-CC599D83EC6B}"/>
              </a:ext>
            </a:extLst>
          </p:cNvPr>
          <p:cNvCxnSpPr/>
          <p:nvPr/>
        </p:nvCxnSpPr>
        <p:spPr>
          <a:xfrm>
            <a:off x="5677925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DF75A1D3-0BC4-FDC0-CCF6-1DC839FAFC6D}"/>
              </a:ext>
            </a:extLst>
          </p:cNvPr>
          <p:cNvCxnSpPr/>
          <p:nvPr/>
        </p:nvCxnSpPr>
        <p:spPr>
          <a:xfrm>
            <a:off x="6532823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DA3C8296-DA2D-EF81-DE83-5298AE88E096}"/>
              </a:ext>
            </a:extLst>
          </p:cNvPr>
          <p:cNvCxnSpPr/>
          <p:nvPr/>
        </p:nvCxnSpPr>
        <p:spPr>
          <a:xfrm>
            <a:off x="7388505" y="450798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3F8243C-B9C7-4177-01CD-1E3B15B6AEA3}"/>
              </a:ext>
            </a:extLst>
          </p:cNvPr>
          <p:cNvCxnSpPr/>
          <p:nvPr/>
        </p:nvCxnSpPr>
        <p:spPr>
          <a:xfrm>
            <a:off x="8245032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3E039677-86A5-D29B-A67E-8C1BBAC576BE}"/>
              </a:ext>
            </a:extLst>
          </p:cNvPr>
          <p:cNvCxnSpPr/>
          <p:nvPr/>
        </p:nvCxnSpPr>
        <p:spPr>
          <a:xfrm>
            <a:off x="9138211" y="4507986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BB94454D-68A3-F268-7B55-52593E3A6D13}"/>
              </a:ext>
            </a:extLst>
          </p:cNvPr>
          <p:cNvCxnSpPr/>
          <p:nvPr/>
        </p:nvCxnSpPr>
        <p:spPr>
          <a:xfrm>
            <a:off x="9977374" y="4477390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rganigramme : Opération manuelle 51">
            <a:extLst>
              <a:ext uri="{FF2B5EF4-FFF2-40B4-BE49-F238E27FC236}">
                <a16:creationId xmlns:a16="http://schemas.microsoft.com/office/drawing/2014/main" id="{79AB59C4-7C45-51EA-6D14-FEEA5EB17ED0}"/>
              </a:ext>
            </a:extLst>
          </p:cNvPr>
          <p:cNvSpPr/>
          <p:nvPr/>
        </p:nvSpPr>
        <p:spPr>
          <a:xfrm>
            <a:off x="1866417" y="4847841"/>
            <a:ext cx="852849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4EE0A8A8-C895-3E52-233B-934E1312F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r="7" b="-1"/>
          <a:stretch/>
        </p:blipFill>
        <p:spPr>
          <a:xfrm>
            <a:off x="7337926" y="1937318"/>
            <a:ext cx="836149" cy="844175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B93F3B83-70E3-48A6-31E6-2C8CF7B81A11}"/>
              </a:ext>
            </a:extLst>
          </p:cNvPr>
          <p:cNvSpPr txBox="1"/>
          <p:nvPr/>
        </p:nvSpPr>
        <p:spPr>
          <a:xfrm>
            <a:off x="6386418" y="1800402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69407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FD388-D1AC-01C0-47BF-42C13F1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9859665-9CE0-5B56-A9E3-3FA81685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Reconnaissance de la classe source (traces)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Fonctionnement</a:t>
            </a:r>
            <a:endParaRPr lang="fr-FR" dirty="0"/>
          </a:p>
        </p:txBody>
      </p:sp>
      <p:pic>
        <p:nvPicPr>
          <p:cNvPr id="2" name="Espace réservé du contenu 6" descr="Une image contenant noir, noir et blanc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F3C2298F-FB33-A832-E80A-A876AC504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284" y="2431467"/>
            <a:ext cx="3111201" cy="1817779"/>
          </a:xfrm>
        </p:spPr>
      </p:pic>
      <p:pic>
        <p:nvPicPr>
          <p:cNvPr id="5" name="Image 4" descr="Une image contenant symbole, noir, noir et blanc, obscurité&#10;&#10;Le contenu généré par l’IA peut être incorrect.">
            <a:extLst>
              <a:ext uri="{FF2B5EF4-FFF2-40B4-BE49-F238E27FC236}">
                <a16:creationId xmlns:a16="http://schemas.microsoft.com/office/drawing/2014/main" id="{A19A651F-8DB9-0CE4-2EE9-1A50FCA7A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718" y="2431465"/>
            <a:ext cx="3111201" cy="1817780"/>
          </a:xfrm>
          <a:prstGeom prst="rect">
            <a:avLst/>
          </a:prstGeom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A5DE551-0FCF-D9DB-3738-315869B2A67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589485" y="3340355"/>
            <a:ext cx="1092233" cy="2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58980EDF-053E-A098-10D1-97DDC63BF8C5}"/>
              </a:ext>
            </a:extLst>
          </p:cNvPr>
          <p:cNvSpPr/>
          <p:nvPr/>
        </p:nvSpPr>
        <p:spPr>
          <a:xfrm>
            <a:off x="2478283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19399A36-8FB2-70C8-0496-BA7BD8D1A599}"/>
              </a:ext>
            </a:extLst>
          </p:cNvPr>
          <p:cNvSpPr/>
          <p:nvPr/>
        </p:nvSpPr>
        <p:spPr>
          <a:xfrm>
            <a:off x="6681718" y="4515331"/>
            <a:ext cx="311120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10BDF56-09CA-051A-33A4-368B62C17C4F}"/>
              </a:ext>
            </a:extLst>
          </p:cNvPr>
          <p:cNvSpPr txBox="1"/>
          <p:nvPr/>
        </p:nvSpPr>
        <p:spPr>
          <a:xfrm>
            <a:off x="2651253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7072C15-C84F-CDAF-6370-215D39DE81BC}"/>
              </a:ext>
            </a:extLst>
          </p:cNvPr>
          <p:cNvSpPr txBox="1"/>
          <p:nvPr/>
        </p:nvSpPr>
        <p:spPr>
          <a:xfrm>
            <a:off x="6854688" y="5141289"/>
            <a:ext cx="2765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/>
              <a:t>3	6	2</a:t>
            </a:r>
            <a:endParaRPr lang="fr-FR" sz="3600" u="sng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417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1DE7-1A59-74E9-CEA0-9A45704B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237D654-2A5B-0D39-8DC6-9D4A7671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Reconnaissance de la classe source (traces)</a:t>
            </a:r>
            <a:br>
              <a:rPr lang="fr-FR" sz="2400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Entraînement du classifieur</a:t>
            </a:r>
            <a:endParaRPr lang="fr-FR" sz="2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8BF3C09-6F96-8981-A516-9FAD66F9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275"/>
          <a:stretch/>
        </p:blipFill>
        <p:spPr>
          <a:xfrm>
            <a:off x="4728801" y="1827605"/>
            <a:ext cx="836149" cy="844175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8D22439E-BED2-C348-6C60-41B0A9962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r="7" b="-1"/>
          <a:stretch/>
        </p:blipFill>
        <p:spPr>
          <a:xfrm>
            <a:off x="6388802" y="1827604"/>
            <a:ext cx="836149" cy="844175"/>
          </a:xfrm>
          <a:prstGeom prst="rect">
            <a:avLst/>
          </a:prstGeom>
        </p:spPr>
      </p:pic>
      <p:sp>
        <p:nvSpPr>
          <p:cNvPr id="65" name="ZoneTexte 64">
            <a:extLst>
              <a:ext uri="{FF2B5EF4-FFF2-40B4-BE49-F238E27FC236}">
                <a16:creationId xmlns:a16="http://schemas.microsoft.com/office/drawing/2014/main" id="{13B1D176-D176-8D25-1438-4D85788E82F3}"/>
              </a:ext>
            </a:extLst>
          </p:cNvPr>
          <p:cNvSpPr txBox="1"/>
          <p:nvPr/>
        </p:nvSpPr>
        <p:spPr>
          <a:xfrm>
            <a:off x="5437294" y="1690688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7E7A7C-43E3-FE36-BB64-0392F08CAA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275"/>
          <a:stretch/>
        </p:blipFill>
        <p:spPr>
          <a:xfrm>
            <a:off x="2232651" y="3429001"/>
            <a:ext cx="836149" cy="84417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370016C-6414-F631-9C9B-8376FCE5BD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r="7" b="-1"/>
          <a:stretch/>
        </p:blipFill>
        <p:spPr>
          <a:xfrm>
            <a:off x="3892652" y="3429000"/>
            <a:ext cx="836149" cy="84417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46154B5-F395-2317-D78C-1ABE6B105EAC}"/>
              </a:ext>
            </a:extLst>
          </p:cNvPr>
          <p:cNvSpPr txBox="1"/>
          <p:nvPr/>
        </p:nvSpPr>
        <p:spPr>
          <a:xfrm>
            <a:off x="2941144" y="3292084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83D710A-2A37-3A41-0440-60A5C14C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275"/>
          <a:stretch/>
        </p:blipFill>
        <p:spPr>
          <a:xfrm>
            <a:off x="7224951" y="3429000"/>
            <a:ext cx="836149" cy="84417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794FC37-3BDA-36B6-70F3-FAD83EBF80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8" r="7" b="-1"/>
          <a:stretch/>
        </p:blipFill>
        <p:spPr>
          <a:xfrm>
            <a:off x="8884952" y="3428999"/>
            <a:ext cx="836149" cy="84417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E3DFD00-FA80-037E-C471-BEAB45010FC7}"/>
              </a:ext>
            </a:extLst>
          </p:cNvPr>
          <p:cNvSpPr txBox="1"/>
          <p:nvPr/>
        </p:nvSpPr>
        <p:spPr>
          <a:xfrm>
            <a:off x="7933444" y="3292083"/>
            <a:ext cx="111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C0D14780-2469-D713-FF96-BA8881B7521F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2650726" y="2671780"/>
            <a:ext cx="2496150" cy="757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E9D0B71-2516-4F7F-C3EF-70C3BAD63739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flipH="1">
            <a:off x="4310727" y="2671780"/>
            <a:ext cx="836149" cy="75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74D2D05B-A24B-B161-7623-27085553224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819173" y="2658601"/>
            <a:ext cx="823853" cy="770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FEC80921-839A-3332-52F7-BDCDBABF9C77}"/>
              </a:ext>
            </a:extLst>
          </p:cNvPr>
          <p:cNvCxnSpPr>
            <a:cxnSpLocks/>
            <a:stCxn id="64" idx="2"/>
            <a:endCxn id="12" idx="0"/>
          </p:cNvCxnSpPr>
          <p:nvPr/>
        </p:nvCxnSpPr>
        <p:spPr>
          <a:xfrm>
            <a:off x="6806877" y="2671779"/>
            <a:ext cx="2496150" cy="75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rganigramme : Opération manuelle 52">
            <a:extLst>
              <a:ext uri="{FF2B5EF4-FFF2-40B4-BE49-F238E27FC236}">
                <a16:creationId xmlns:a16="http://schemas.microsoft.com/office/drawing/2014/main" id="{8495F66E-259C-02C8-E868-589514E7CF24}"/>
              </a:ext>
            </a:extLst>
          </p:cNvPr>
          <p:cNvSpPr/>
          <p:nvPr/>
        </p:nvSpPr>
        <p:spPr>
          <a:xfrm>
            <a:off x="2232650" y="4847841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66" name="Organigramme : Opération manuelle 65">
            <a:extLst>
              <a:ext uri="{FF2B5EF4-FFF2-40B4-BE49-F238E27FC236}">
                <a16:creationId xmlns:a16="http://schemas.microsoft.com/office/drawing/2014/main" id="{3E415B51-9A33-F199-F8F1-84E064974FCB}"/>
              </a:ext>
            </a:extLst>
          </p:cNvPr>
          <p:cNvSpPr/>
          <p:nvPr/>
        </p:nvSpPr>
        <p:spPr>
          <a:xfrm>
            <a:off x="7241978" y="4847841"/>
            <a:ext cx="2496151" cy="532449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Classifieur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CBD773E3-4459-CAA5-0387-970D8C528C2E}"/>
              </a:ext>
            </a:extLst>
          </p:cNvPr>
          <p:cNvSpPr txBox="1"/>
          <p:nvPr/>
        </p:nvSpPr>
        <p:spPr>
          <a:xfrm>
            <a:off x="2290525" y="5734603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35B0E362-C395-6090-666D-23B5D88CFD1C}"/>
              </a:ext>
            </a:extLst>
          </p:cNvPr>
          <p:cNvSpPr txBox="1"/>
          <p:nvPr/>
        </p:nvSpPr>
        <p:spPr>
          <a:xfrm>
            <a:off x="4001104" y="5738831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0CA21A84-29AB-E882-7F40-6E4DC5B788EF}"/>
              </a:ext>
            </a:extLst>
          </p:cNvPr>
          <p:cNvSpPr txBox="1"/>
          <p:nvPr/>
        </p:nvSpPr>
        <p:spPr>
          <a:xfrm>
            <a:off x="7275530" y="5734603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9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2C22206-4A5E-39A6-74A6-0E3AFE639E03}"/>
              </a:ext>
            </a:extLst>
          </p:cNvPr>
          <p:cNvSpPr txBox="1"/>
          <p:nvPr/>
        </p:nvSpPr>
        <p:spPr>
          <a:xfrm>
            <a:off x="8927208" y="5750253"/>
            <a:ext cx="734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9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C84C8896-FB4D-E93F-E005-1D33309699E4}"/>
              </a:ext>
            </a:extLst>
          </p:cNvPr>
          <p:cNvCxnSpPr>
            <a:cxnSpLocks/>
          </p:cNvCxnSpPr>
          <p:nvPr/>
        </p:nvCxnSpPr>
        <p:spPr>
          <a:xfrm>
            <a:off x="2650726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F6F35E19-8CE9-79C8-0824-3BDF25B305B6}"/>
              </a:ext>
            </a:extLst>
          </p:cNvPr>
          <p:cNvCxnSpPr/>
          <p:nvPr/>
        </p:nvCxnSpPr>
        <p:spPr>
          <a:xfrm>
            <a:off x="4347504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A9E0C565-53F0-6F5C-BE67-4D1960705522}"/>
              </a:ext>
            </a:extLst>
          </p:cNvPr>
          <p:cNvCxnSpPr/>
          <p:nvPr/>
        </p:nvCxnSpPr>
        <p:spPr>
          <a:xfrm>
            <a:off x="7643026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9E2D0394-7BF6-BECA-2572-7906F2506C12}"/>
              </a:ext>
            </a:extLst>
          </p:cNvPr>
          <p:cNvCxnSpPr/>
          <p:nvPr/>
        </p:nvCxnSpPr>
        <p:spPr>
          <a:xfrm>
            <a:off x="9303027" y="4241007"/>
            <a:ext cx="0" cy="149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35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B1C2-639D-3C8E-D1A8-3F79E589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E698441-28D0-7C64-AC4E-698BA9CC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8FC807-E4D0-96C1-F7FF-208BF7FA5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953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BDBAB-62CB-ADDE-B367-B33CD6A9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FF67BD4-42EA-747B-887D-0C3E5F7C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Détection de l’obscuration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877EA23-23EB-9C5C-FBA6-204ADC9CEA40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99,84%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99,95%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C8A22B-BC78-C56B-EFE6-090057B4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5"/>
          <a:stretch/>
        </p:blipFill>
        <p:spPr>
          <a:xfrm>
            <a:off x="1291172" y="1683789"/>
            <a:ext cx="6433002" cy="466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54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0519-89CF-2A63-08B2-3CF4BFF0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5D7D21-B7C0-694F-27EF-9558414B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72"/>
          <a:stretch/>
        </p:blipFill>
        <p:spPr>
          <a:xfrm>
            <a:off x="1291172" y="1690685"/>
            <a:ext cx="6433002" cy="4664077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384E1C6D-BB91-AA02-88A8-09AB8E40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expérimentaux</a:t>
            </a:r>
            <a:br>
              <a:rPr lang="fr-FR" dirty="0"/>
            </a:br>
            <a:r>
              <a:rPr 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Reconnaissance de la classe source dans la translation (traces)</a:t>
            </a: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826281-E4E6-C814-5A67-627BA15DEFFA}"/>
              </a:ext>
            </a:extLst>
          </p:cNvPr>
          <p:cNvSpPr txBox="1"/>
          <p:nvPr/>
        </p:nvSpPr>
        <p:spPr>
          <a:xfrm>
            <a:off x="7774171" y="3429000"/>
            <a:ext cx="41109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Précision : 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</a:rPr>
              <a:t>71,75%</a:t>
            </a:r>
          </a:p>
          <a:p>
            <a:r>
              <a:rPr lang="fr-FR" sz="2800" dirty="0"/>
              <a:t>Certitude : 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87,24%</a:t>
            </a:r>
          </a:p>
        </p:txBody>
      </p:sp>
    </p:spTree>
    <p:extLst>
      <p:ext uri="{BB962C8B-B14F-4D97-AF65-F5344CB8AC3E}">
        <p14:creationId xmlns:p14="http://schemas.microsoft.com/office/powerpoint/2010/main" val="1394352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B0FF0-D8F9-C769-7A64-6AD0A50C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1C0F03A-00C9-4C00-9802-C712BFF0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01E1E70-ED43-E257-2C1B-B976A0D0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u="sng" dirty="0"/>
              <a:t>Efficace :</a:t>
            </a:r>
          </a:p>
          <a:p>
            <a:r>
              <a:rPr lang="fr-FR" b="1" dirty="0"/>
              <a:t>Confidentialité</a:t>
            </a:r>
          </a:p>
          <a:p>
            <a:r>
              <a:rPr lang="fr-FR" b="1" dirty="0"/>
              <a:t>Invisible</a:t>
            </a:r>
            <a:r>
              <a:rPr lang="fr-FR" dirty="0"/>
              <a:t> (~86%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r>
              <a:rPr lang="fr-FR" b="1" dirty="0"/>
              <a:t>Réversible</a:t>
            </a:r>
            <a:r>
              <a:rPr lang="fr-FR" dirty="0"/>
              <a:t> (~94% de </a:t>
            </a:r>
            <a:r>
              <a:rPr lang="fr-FR" dirty="0" err="1"/>
              <a:t>classif</a:t>
            </a:r>
            <a:r>
              <a:rPr lang="fr-FR" dirty="0"/>
              <a:t>.)</a:t>
            </a: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u="sng" dirty="0"/>
              <a:t>Attaquable (analyse des traces) :</a:t>
            </a:r>
          </a:p>
          <a:p>
            <a:r>
              <a:rPr lang="fr-FR" b="1" dirty="0"/>
              <a:t>Forte reconnaissance</a:t>
            </a:r>
            <a:r>
              <a:rPr lang="fr-FR" dirty="0"/>
              <a:t> des traces de la classe source (~72%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r>
              <a:rPr lang="fr-FR" b="1" dirty="0"/>
              <a:t>Détectable</a:t>
            </a:r>
            <a:r>
              <a:rPr lang="fr-FR" dirty="0"/>
              <a:t> (~100%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u="sng" dirty="0"/>
              <a:t>Perspectives</a:t>
            </a:r>
          </a:p>
          <a:p>
            <a:r>
              <a:rPr lang="fr-FR" b="1" dirty="0"/>
              <a:t>Méthode de chiffrement</a:t>
            </a:r>
            <a:r>
              <a:rPr lang="fr-FR" dirty="0"/>
              <a:t> : intégration d’une clé</a:t>
            </a:r>
          </a:p>
          <a:p>
            <a:r>
              <a:rPr lang="fr-FR" b="1" dirty="0"/>
              <a:t>Défense</a:t>
            </a:r>
            <a:r>
              <a:rPr lang="fr-FR" dirty="0"/>
              <a:t> : suppression des traces</a:t>
            </a:r>
          </a:p>
        </p:txBody>
      </p:sp>
    </p:spTree>
    <p:extLst>
      <p:ext uri="{BB962C8B-B14F-4D97-AF65-F5344CB8AC3E}">
        <p14:creationId xmlns:p14="http://schemas.microsoft.com/office/powerpoint/2010/main" val="2394037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6A9B-2B84-9CDA-00E9-20C8BA10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C1BD28E-9D7E-1FCB-4245-90586D1D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B4916D8-9635-8B96-7A98-53852CFA9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u="sng" dirty="0"/>
              <a:t>Efficace :</a:t>
            </a:r>
          </a:p>
          <a:p>
            <a:r>
              <a:rPr lang="fr-FR" b="1" dirty="0"/>
              <a:t>Confidentialité</a:t>
            </a:r>
          </a:p>
          <a:p>
            <a:r>
              <a:rPr lang="fr-FR" b="1" dirty="0"/>
              <a:t>Invisible</a:t>
            </a:r>
            <a:r>
              <a:rPr lang="fr-FR" dirty="0"/>
              <a:t> (~86%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r>
              <a:rPr lang="fr-FR" b="1" dirty="0"/>
              <a:t>Réversible</a:t>
            </a:r>
            <a:r>
              <a:rPr lang="fr-FR" dirty="0"/>
              <a:t> (~94% de </a:t>
            </a:r>
            <a:r>
              <a:rPr lang="fr-FR" dirty="0" err="1"/>
              <a:t>classif</a:t>
            </a:r>
            <a:r>
              <a:rPr lang="fr-FR" dirty="0"/>
              <a:t>.)</a:t>
            </a:r>
            <a:endParaRPr lang="fr-FR" b="1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u="sng" dirty="0"/>
              <a:t>Attaquable (analyse des traces) :</a:t>
            </a:r>
          </a:p>
          <a:p>
            <a:r>
              <a:rPr lang="fr-FR" b="1" dirty="0"/>
              <a:t>Forte reconnaissance</a:t>
            </a:r>
            <a:r>
              <a:rPr lang="fr-FR" dirty="0"/>
              <a:t> des traces de la classe source (~72%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r>
              <a:rPr lang="fr-FR" b="1" dirty="0"/>
              <a:t>Détectable</a:t>
            </a:r>
            <a:r>
              <a:rPr lang="fr-FR" dirty="0"/>
              <a:t> (~100% de </a:t>
            </a:r>
            <a:r>
              <a:rPr lang="fr-FR" dirty="0" err="1"/>
              <a:t>classif</a:t>
            </a:r>
            <a:r>
              <a:rPr lang="fr-FR" dirty="0"/>
              <a:t>.)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u="sng" dirty="0"/>
              <a:t>Perspectives</a:t>
            </a:r>
          </a:p>
          <a:p>
            <a:r>
              <a:rPr lang="fr-FR" b="1" dirty="0"/>
              <a:t>Méthode de chiffrement</a:t>
            </a:r>
            <a:r>
              <a:rPr lang="fr-FR" dirty="0"/>
              <a:t> : intégration d’une clé</a:t>
            </a:r>
          </a:p>
          <a:p>
            <a:r>
              <a:rPr lang="fr-FR" b="1" dirty="0"/>
              <a:t>Défense</a:t>
            </a:r>
            <a:r>
              <a:rPr lang="fr-FR" dirty="0"/>
              <a:t> : suppression des traces</a:t>
            </a:r>
          </a:p>
        </p:txBody>
      </p:sp>
    </p:spTree>
    <p:extLst>
      <p:ext uri="{BB962C8B-B14F-4D97-AF65-F5344CB8AC3E}">
        <p14:creationId xmlns:p14="http://schemas.microsoft.com/office/powerpoint/2010/main" val="36307215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671</Words>
  <Application>Microsoft Office PowerPoint</Application>
  <PresentationFormat>Grand écran</PresentationFormat>
  <Paragraphs>229</Paragraphs>
  <Slides>30</Slides>
  <Notes>2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Cascadia Code</vt:lpstr>
      <vt:lpstr>Thème Office</vt:lpstr>
      <vt:lpstr>Obscuration d’une image contenant des chiffres</vt:lpstr>
      <vt:lpstr>Contexte</vt:lpstr>
      <vt:lpstr>Solution</vt:lpstr>
      <vt:lpstr>Méthode d’obscuration</vt:lpstr>
      <vt:lpstr>Méthode d’obscuration Calcul des vecteurs de translation</vt:lpstr>
      <vt:lpstr>Méthode d’obscuration Obscuration</vt:lpstr>
      <vt:lpstr>Méthode d’obscuration Étape d’obscuration</vt:lpstr>
      <vt:lpstr>Méthode d’obscuration Étape de désobscuration</vt:lpstr>
      <vt:lpstr>Méthode d’obscuration Désobscuration</vt:lpstr>
      <vt:lpstr>Évaluation de l’obscuration Classification</vt:lpstr>
      <vt:lpstr>Résultats expérimentaux</vt:lpstr>
      <vt:lpstr>Résultats expérimentaux Dataset</vt:lpstr>
      <vt:lpstr>Résultats expérimentaux Modèles</vt:lpstr>
      <vt:lpstr>Résultats expérimentaux Prototypes</vt:lpstr>
      <vt:lpstr>Résultats expérimentaux Obscuration</vt:lpstr>
      <vt:lpstr>Résultats expérimentaux Translation des chiffres</vt:lpstr>
      <vt:lpstr>Résultats expérimentaux Translation des chiffres</vt:lpstr>
      <vt:lpstr>Résultats expérimentaux Classification de l’obscuration</vt:lpstr>
      <vt:lpstr>Résultats expérimentaux Désobscuration</vt:lpstr>
      <vt:lpstr>Résultats expérimentaux Classification de la désobscuration</vt:lpstr>
      <vt:lpstr>Attaque (et défense)</vt:lpstr>
      <vt:lpstr>Détection de l’obscuration Fonctionnement</vt:lpstr>
      <vt:lpstr>Détection de l’obscuration Entraînement du classifieur</vt:lpstr>
      <vt:lpstr>Reconnaissance de la classe source (traces) Fonctionnement</vt:lpstr>
      <vt:lpstr>Reconnaissance de la classe source (traces) Entraînement du classifieur</vt:lpstr>
      <vt:lpstr>Résultats expérimentaux</vt:lpstr>
      <vt:lpstr>Résultats expérimentaux Détection de l’obscuration</vt:lpstr>
      <vt:lpstr>Résultats expérimentaux Reconnaissance de la classe source dans la translation (traces)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 Noye</dc:creator>
  <cp:lastModifiedBy>Valentin Noye</cp:lastModifiedBy>
  <cp:revision>478</cp:revision>
  <dcterms:created xsi:type="dcterms:W3CDTF">2025-02-28T08:29:14Z</dcterms:created>
  <dcterms:modified xsi:type="dcterms:W3CDTF">2025-03-05T16:08:06Z</dcterms:modified>
</cp:coreProperties>
</file>